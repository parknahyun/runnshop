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왜 기존 방식이 안 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587777"/>
              </p:ext>
            </p:extLst>
          </p:nvPr>
        </p:nvGraphicFramePr>
        <p:xfrm>
          <a:off x="457200" y="1280160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영향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요구사항 변경 시 산출물 유지비용 폭증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문서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재작업에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개발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시간의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30~40%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소모</a:t>
                      </a:r>
                      <a:endParaRPr sz="13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핵심 인력 의존도 높음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1명 이탈 시 해당 도메인 전체 지연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AI 협업 구조 부재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555555"/>
                          </a:solidFill>
                          <a:latin typeface="맑은 고딕"/>
                        </a:rPr>
                        <a:t>AI 도구를 도입해도 "사람이 다 쓰는" 구조 — 생산성 개선 제한적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B57"/>
                          </a:solidFill>
                          <a:latin typeface="맑은 고딕"/>
                        </a:rPr>
                        <a:t>프로젝트 종료 후 지식 소멸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다음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프로젝트에서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처음부터</a:t>
                      </a:r>
                      <a:r>
                        <a:rPr sz="13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반복</a:t>
                      </a:r>
                      <a:endParaRPr sz="13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11274552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Ins="203200" rtlCol="0" anchor="ctr"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핵심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: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AI를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"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도구"로만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쓰면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효과가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제한적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AI가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조직의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자산을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이해하고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산출물을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직접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생성하는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구조가</a:t>
            </a:r>
            <a:r>
              <a:rPr sz="16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B4F78"/>
                </a:solidFill>
                <a:latin typeface="맑은 고딕"/>
              </a:rPr>
              <a:t>필요</a:t>
            </a:r>
            <a:endParaRPr sz="1600" b="1" i="0" dirty="0">
              <a:solidFill>
                <a:srgbClr val="1B4F7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2. 해결 방향 &amp; 핵심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AI가 자산을 활용해 산출물을 만들고, 사람은 검토·의사결정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6000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해결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방향</a:t>
            </a:r>
            <a:endParaRPr sz="1400" b="1" i="0" dirty="0">
              <a:solidFill>
                <a:srgbClr val="1F3B57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536192"/>
            <a:ext cx="5486400" cy="77724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한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줄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요약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: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AI가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자산을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활용해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산출물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초안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생성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→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사람은</a:t>
            </a:r>
            <a:r>
              <a:rPr sz="12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250" b="1" i="0" dirty="0" err="1">
                <a:solidFill>
                  <a:srgbClr val="1B4F78"/>
                </a:solidFill>
                <a:latin typeface="맑은 고딕"/>
              </a:rPr>
              <a:t>검토·확정</a:t>
            </a:r>
            <a:endParaRPr sz="1250" b="1" i="0" dirty="0">
              <a:solidFill>
                <a:srgbClr val="1B4F78"/>
              </a:solidFill>
              <a:latin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20751"/>
              </p:ext>
            </p:extLst>
          </p:nvPr>
        </p:nvGraphicFramePr>
        <p:xfrm>
          <a:off x="457200" y="242316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기존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AI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활용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방법론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사람이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문서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작성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→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AI가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보조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AI가 초안 생성 → 사람이 검토·확정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프로젝트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끝나면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지식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소멸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산출물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→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자산으로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축적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→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다음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AI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입력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인력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교체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시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다시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처음부터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자산이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남아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신규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인력도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즉시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생산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160009"/>
            <a:ext cx="5559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B57"/>
                </a:solidFill>
                <a:latin typeface="맑은 고딕"/>
              </a:rPr>
              <a:t>핵심 구조 — 자산 선순환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2606040" cy="914400"/>
          </a:xfrm>
          <a:prstGeom prst="roundRect">
            <a:avLst/>
          </a:prstGeom>
          <a:solidFill>
            <a:srgbClr val="6EA8D8"/>
          </a:solidFill>
          <a:ln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>
              <a:lnSpc>
                <a:spcPct val="15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① 축적된 자산
(정책서·설계서·코드)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554480"/>
            <a:ext cx="2606040" cy="914400"/>
          </a:xfrm>
          <a:prstGeom prst="roundRect">
            <a:avLst/>
          </a:prstGeom>
          <a:solidFill>
            <a:srgbClr val="5CA877"/>
          </a:solidFill>
          <a:ln>
            <a:solidFill>
              <a:srgbClr val="5CA8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>
              <a:lnSpc>
                <a:spcPct val="15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② AI가 자산 활용
→ 산출물 초안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24912"/>
            <a:ext cx="2606040" cy="914400"/>
          </a:xfrm>
          <a:prstGeom prst="roundRect">
            <a:avLst/>
          </a:prstGeom>
          <a:solidFill>
            <a:srgbClr val="B05C8A"/>
          </a:solidFill>
          <a:ln>
            <a:solidFill>
              <a:srgbClr val="B0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>
              <a:lnSpc>
                <a:spcPct val="15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④ 재사용 가치 있으면
→ 자산으로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724912"/>
            <a:ext cx="2606040" cy="914400"/>
          </a:xfrm>
          <a:prstGeom prst="roundRect">
            <a:avLst/>
          </a:prstGeom>
          <a:solidFill>
            <a:srgbClr val="C9A03C"/>
          </a:solidFill>
          <a:ln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>
              <a:lnSpc>
                <a:spcPct val="15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③ 사람이 검토·확정
→ 공식 산출물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0"/>
            <a:ext cx="256032" cy="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468880"/>
            <a:ext cx="0" cy="256032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778240" y="0"/>
            <a:ext cx="256032" cy="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0" y="2468880"/>
            <a:ext cx="0" cy="256032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72200" y="3917889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반복될수록 자산 증가 → AI 품질·생산성 향상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1274552" cy="141732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27000" rIns="177800" rtlCol="0" anchor="ctr"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sz="1400" b="1" i="0" dirty="0">
                <a:solidFill>
                  <a:srgbClr val="1B4F78"/>
                </a:solidFill>
                <a:latin typeface="맑은 고딕"/>
              </a:rPr>
              <a:t>7개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공정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: 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Proposal → Spec → Design → Tasks → Code →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통합테스트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안정화</a:t>
            </a:r>
            <a:endParaRPr sz="1400" b="0" i="0" dirty="0">
              <a:solidFill>
                <a:srgbClr val="555555"/>
              </a:solidFill>
              <a:latin typeface="맑은 고딕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Proposal~Tasks는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산출물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중심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AI가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문서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생성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),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Code~안정화는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활동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중심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AI가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실행·검증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참여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sz="1400" b="1" i="0" dirty="0">
                <a:solidFill>
                  <a:srgbClr val="1B4F78"/>
                </a:solidFill>
                <a:latin typeface="맑은 고딕"/>
              </a:rPr>
              <a:t>40종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표준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산출물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: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공정마다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무엇을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만들지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정의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AI가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이해하고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생성</a:t>
            </a:r>
            <a:r>
              <a:rPr sz="14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555555"/>
                </a:solidFill>
                <a:latin typeface="맑은 고딕"/>
              </a:rPr>
              <a:t>가능</a:t>
            </a:r>
            <a:endParaRPr sz="1400" b="0" i="0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3. 핵심 —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65659"/>
              </p:ext>
            </p:extLst>
          </p:nvPr>
        </p:nvGraphicFramePr>
        <p:xfrm>
          <a:off x="457200" y="128016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기존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</a:rPr>
                        <a:t>AI 활용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개선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효과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산출물</a:t>
                      </a:r>
                      <a:r>
                        <a:rPr sz="12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작성</a:t>
                      </a:r>
                      <a:endParaRPr sz="12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사람이 직접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AI 초안 + 사람 검토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50~70% 시간 단축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인력</a:t>
                      </a:r>
                      <a:r>
                        <a:rPr sz="12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의존</a:t>
                      </a:r>
                      <a:endParaRPr sz="12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핵심인력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부재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전체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지연</a:t>
                      </a:r>
                      <a:endParaRPr sz="12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자산 기반 → 누구든 AI와 작업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인력 리스크 해소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B57"/>
                          </a:solidFill>
                          <a:latin typeface="맑은 고딕"/>
                        </a:rPr>
                        <a:t>품질 검증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수동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리뷰만</a:t>
                      </a:r>
                      <a:endParaRPr sz="12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AI 자동검증 + 사람 판단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반복 검증 비용 절감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B57"/>
                          </a:solidFill>
                          <a:latin typeface="맑은 고딕"/>
                        </a:rPr>
                        <a:t>지식 축적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종료 후 소멸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자산으로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영구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축적</a:t>
                      </a:r>
                      <a:endParaRPr sz="12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반복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시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점진</a:t>
                      </a:r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향상</a:t>
                      </a:r>
                      <a:endParaRPr sz="12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B57"/>
                          </a:solidFill>
                          <a:latin typeface="맑은 고딕"/>
                        </a:rPr>
                        <a:t>비용(목표)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기준 대비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555555"/>
                          </a:solidFill>
                          <a:latin typeface="맑은 고딕"/>
                        </a:rPr>
                        <a:t>AI 협업 적용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30% </a:t>
                      </a:r>
                      <a:r>
                        <a:rPr sz="12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절감</a:t>
                      </a:r>
                      <a:endParaRPr sz="12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2600" b="1" i="0" dirty="0">
                <a:solidFill>
                  <a:srgbClr val="1B4F78"/>
                </a:solidFill>
                <a:latin typeface="맑은 고딕"/>
              </a:rPr>
              <a:t>50~70%</a:t>
            </a:r>
          </a:p>
          <a:p>
            <a:pPr algn="ctr">
              <a:lnSpc>
                <a:spcPct val="200000"/>
              </a:lnSpc>
            </a:pP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산출물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작성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시간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단축</a:t>
            </a:r>
            <a:endParaRPr sz="11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9000" y="4343400"/>
            <a:ext cx="2697480" cy="1554480"/>
          </a:xfrm>
          <a:prstGeom prst="roundRect">
            <a:avLst/>
          </a:prstGeom>
          <a:solidFill>
            <a:srgbClr val="EAF5EC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200000"/>
              </a:lnSpc>
            </a:pPr>
            <a:r>
              <a:rPr sz="2600" b="1" i="0" dirty="0">
                <a:solidFill>
                  <a:srgbClr val="2E7D4F"/>
                </a:solidFill>
                <a:latin typeface="맑은 고딕"/>
              </a:rPr>
              <a:t>30%</a:t>
            </a:r>
          </a:p>
          <a:p>
            <a:pPr algn="ctr">
              <a:lnSpc>
                <a:spcPct val="200000"/>
              </a:lnSpc>
            </a:pP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목표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비용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절감</a:t>
            </a:r>
            <a:endParaRPr sz="11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200000"/>
              </a:lnSpc>
            </a:pPr>
            <a:r>
              <a:rPr sz="2600" b="1" i="0" dirty="0">
                <a:solidFill>
                  <a:srgbClr val="1B4F78"/>
                </a:solidFill>
                <a:latin typeface="맑은 고딕"/>
              </a:rPr>
              <a:t>0</a:t>
            </a:r>
          </a:p>
          <a:p>
            <a:pPr algn="ctr">
              <a:lnSpc>
                <a:spcPct val="200000"/>
              </a:lnSpc>
            </a:pP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인력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교체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시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지식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손실</a:t>
            </a:r>
            <a:endParaRPr sz="11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372600" y="4343400"/>
            <a:ext cx="2697480" cy="15544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200000"/>
              </a:lnSpc>
            </a:pPr>
            <a:r>
              <a:rPr sz="2600" b="1" i="0" dirty="0">
                <a:solidFill>
                  <a:srgbClr val="1B4F78"/>
                </a:solidFill>
                <a:latin typeface="맑은 고딕"/>
              </a:rPr>
              <a:t>↑</a:t>
            </a:r>
          </a:p>
          <a:p>
            <a:pPr algn="ctr">
              <a:lnSpc>
                <a:spcPct val="200000"/>
              </a:lnSpc>
            </a:pP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프로젝트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반복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시</a:t>
            </a:r>
            <a:r>
              <a:rPr sz="11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555555"/>
                </a:solidFill>
                <a:latin typeface="맑은 고딕"/>
              </a:rPr>
              <a:t>생산성</a:t>
            </a:r>
            <a:endParaRPr sz="1100" b="0" i="0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4. 파일럿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적용 계획과 성공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795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적용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프로젝트</a:t>
            </a:r>
            <a:endParaRPr sz="1400" b="1" i="0" dirty="0">
              <a:solidFill>
                <a:srgbClr val="1F3B57"/>
              </a:solidFill>
              <a:latin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7307"/>
              </p:ext>
            </p:extLst>
          </p:nvPr>
        </p:nvGraphicFramePr>
        <p:xfrm>
          <a:off x="457200" y="1359688"/>
          <a:ext cx="548639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적용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프로젝트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runNshop (B2C 커머스, 12개 도메인)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총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기간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12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주</a:t>
                      </a:r>
                      <a:r>
                        <a:rPr lang="en-US"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(26</a:t>
                      </a:r>
                      <a:r>
                        <a:rPr lang="ko-KR" altLang="en-US"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주</a:t>
                      </a:r>
                      <a:r>
                        <a:rPr lang="en-US" altLang="ko-KR"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)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인력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4개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파트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, 16명(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개발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14명)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작업 단위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72개 Bolt(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각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2일)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007959"/>
            <a:ext cx="5559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B57"/>
                </a:solidFill>
                <a:latin typeface="맑은 고딕"/>
              </a:rPr>
              <a:t>단계별 기간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084276"/>
              </p:ext>
            </p:extLst>
          </p:nvPr>
        </p:nvGraphicFramePr>
        <p:xfrm>
          <a:off x="6172200" y="1359688"/>
          <a:ext cx="555955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Proposal~Design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1회성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Bolt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반복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(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핵심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구현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10주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주당 8~10개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버퍼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3주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리스크 대응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통합테스트+안정화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8주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Go/No-Go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포함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129157"/>
            <a:ext cx="11274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프로젝트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성공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 (</a:t>
            </a:r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오픈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F3B57"/>
                </a:solidFill>
                <a:latin typeface="맑은 고딕"/>
              </a:rPr>
              <a:t>판단</a:t>
            </a:r>
            <a:r>
              <a:rPr sz="1400" b="1" i="0" dirty="0">
                <a:solidFill>
                  <a:srgbClr val="1F3B57"/>
                </a:solidFill>
                <a:latin typeface="맑은 고딕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35376"/>
            <a:ext cx="3657600" cy="685800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150000"/>
              </a:lnSpc>
            </a:pPr>
            <a:r>
              <a:rPr sz="1300" b="1" i="0" dirty="0">
                <a:solidFill>
                  <a:srgbClr val="2E7D4F"/>
                </a:solidFill>
                <a:latin typeface="맑은 고딕"/>
              </a:rPr>
              <a:t>Go</a:t>
            </a:r>
          </a:p>
          <a:p>
            <a:pPr algn="ctr">
              <a:lnSpc>
                <a:spcPct val="150000"/>
              </a:lnSpc>
            </a:pPr>
            <a:r>
              <a:rPr sz="1050" b="0" i="0" dirty="0">
                <a:solidFill>
                  <a:srgbClr val="555555"/>
                </a:solidFill>
                <a:latin typeface="맑은 고딕"/>
              </a:rPr>
              <a:t>Critical 0 + Major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3435376"/>
            <a:ext cx="3657600" cy="685800"/>
          </a:xfrm>
          <a:prstGeom prst="roundRect">
            <a:avLst/>
          </a:prstGeom>
          <a:solidFill>
            <a:srgbClr val="FBF2E3"/>
          </a:solidFill>
          <a:ln w="12700">
            <a:solidFill>
              <a:srgbClr val="B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150000"/>
              </a:lnSpc>
            </a:pPr>
            <a:r>
              <a:rPr sz="1300" b="1" i="0" dirty="0" err="1">
                <a:solidFill>
                  <a:srgbClr val="B87A1E"/>
                </a:solidFill>
                <a:latin typeface="맑은 고딕"/>
              </a:rPr>
              <a:t>조건부</a:t>
            </a:r>
            <a:r>
              <a:rPr sz="1300" b="1" i="0" dirty="0">
                <a:solidFill>
                  <a:srgbClr val="B87A1E"/>
                </a:solidFill>
                <a:latin typeface="맑은 고딕"/>
              </a:rPr>
              <a:t> Go</a:t>
            </a:r>
          </a:p>
          <a:p>
            <a:pPr algn="ctr">
              <a:lnSpc>
                <a:spcPct val="150000"/>
              </a:lnSpc>
            </a:pPr>
            <a:r>
              <a:rPr sz="1050" b="0" i="0" dirty="0">
                <a:solidFill>
                  <a:srgbClr val="555555"/>
                </a:solidFill>
                <a:latin typeface="맑은 고딕"/>
              </a:rPr>
              <a:t>Critical 0 + Major ≤3 (</a:t>
            </a:r>
            <a:r>
              <a:rPr sz="1050" b="0" i="0" dirty="0" err="1">
                <a:solidFill>
                  <a:srgbClr val="555555"/>
                </a:solidFill>
                <a:latin typeface="맑은 고딕"/>
              </a:rPr>
              <a:t>우회방안</a:t>
            </a:r>
            <a:r>
              <a:rPr sz="105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0" dirty="0" err="1">
                <a:solidFill>
                  <a:srgbClr val="555555"/>
                </a:solidFill>
                <a:latin typeface="맑은 고딕"/>
              </a:rPr>
              <a:t>有</a:t>
            </a:r>
            <a:r>
              <a:rPr sz="1050" b="0" i="0" dirty="0">
                <a:solidFill>
                  <a:srgbClr val="555555"/>
                </a:solidFill>
                <a:latin typeface="맑은 고딕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3435376"/>
            <a:ext cx="3657600" cy="685800"/>
          </a:xfrm>
          <a:prstGeom prst="roundRect">
            <a:avLst/>
          </a:prstGeom>
          <a:solidFill>
            <a:srgbClr val="FBE9E9"/>
          </a:solidFill>
          <a:ln w="12700">
            <a:solidFill>
              <a:srgbClr val="B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lnSpc>
                <a:spcPct val="150000"/>
              </a:lnSpc>
            </a:pPr>
            <a:r>
              <a:rPr sz="1300" b="1" i="0" dirty="0">
                <a:solidFill>
                  <a:srgbClr val="B03030"/>
                </a:solidFill>
                <a:latin typeface="맑은 고딕"/>
              </a:rPr>
              <a:t>No-Go</a:t>
            </a:r>
          </a:p>
          <a:p>
            <a:pPr algn="ctr">
              <a:lnSpc>
                <a:spcPct val="150000"/>
              </a:lnSpc>
            </a:pPr>
            <a:r>
              <a:rPr sz="1050" b="0" i="0" dirty="0">
                <a:solidFill>
                  <a:srgbClr val="555555"/>
                </a:solidFill>
                <a:latin typeface="맑은 고딕"/>
              </a:rPr>
              <a:t>Critical ≥1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18992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F3B57"/>
                </a:solidFill>
                <a:latin typeface="맑은 고딕"/>
              </a:rPr>
              <a:t>방법론</a:t>
            </a:r>
            <a:r>
              <a:rPr sz="16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F3B57"/>
                </a:solidFill>
                <a:latin typeface="맑은 고딕"/>
              </a:rPr>
              <a:t>성공</a:t>
            </a:r>
            <a:r>
              <a:rPr sz="1600" b="1" i="0" dirty="0">
                <a:solidFill>
                  <a:srgbClr val="1F3B57"/>
                </a:solidFill>
                <a:latin typeface="맑은 고딕"/>
              </a:rPr>
              <a:t> (</a:t>
            </a:r>
            <a:r>
              <a:rPr sz="1600" b="1" i="0" dirty="0" err="1">
                <a:solidFill>
                  <a:srgbClr val="1F3B57"/>
                </a:solidFill>
                <a:latin typeface="맑은 고딕"/>
              </a:rPr>
              <a:t>확산</a:t>
            </a:r>
            <a:r>
              <a:rPr sz="1600" b="1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600" b="1" i="0" dirty="0" err="1">
                <a:solidFill>
                  <a:srgbClr val="1F3B57"/>
                </a:solidFill>
                <a:latin typeface="맑은 고딕"/>
              </a:rPr>
              <a:t>판단</a:t>
            </a:r>
            <a:r>
              <a:rPr sz="1600" b="1" i="0" dirty="0">
                <a:solidFill>
                  <a:srgbClr val="1F3B57"/>
                </a:solidFill>
                <a:latin typeface="맑은 고딕"/>
              </a:rPr>
              <a:t> — 5개 </a:t>
            </a:r>
            <a:r>
              <a:rPr sz="1600" b="1" i="0" dirty="0" err="1">
                <a:solidFill>
                  <a:srgbClr val="1F3B57"/>
                </a:solidFill>
                <a:latin typeface="맑은 고딕"/>
              </a:rPr>
              <a:t>지표</a:t>
            </a:r>
            <a:r>
              <a:rPr sz="1600" b="1" i="0" dirty="0">
                <a:solidFill>
                  <a:srgbClr val="1F3B57"/>
                </a:solidFill>
                <a:latin typeface="맑은 고딕"/>
              </a:rPr>
              <a:t>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610623"/>
              </p:ext>
            </p:extLst>
          </p:nvPr>
        </p:nvGraphicFramePr>
        <p:xfrm>
          <a:off x="457200" y="4560088"/>
          <a:ext cx="1127455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판단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측정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생산성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동일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규모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기존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프로젝트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대비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비용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비교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30% 절감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자산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재활용률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40종 산출물 중 자기완결성 검증 통과 비율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80% 이상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인력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의존도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핵심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인력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교체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후에도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자산+AI로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작업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가능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여부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정성 확인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산정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정확도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Bolt별 예측 공수 vs 실측 공수 오차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±30%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이내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반복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시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개선</a:t>
                      </a:r>
                      <a:endParaRPr sz="1100" b="1" i="0" dirty="0">
                        <a:solidFill>
                          <a:srgbClr val="1F3B57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2번째 도메인 적용 시 1번째 대비 소요 감소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20%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이상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07176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두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기준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모두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충족하면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조직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확산으로</a:t>
            </a:r>
            <a:r>
              <a:rPr sz="1050" b="0" i="1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0" i="1" dirty="0" err="1">
                <a:solidFill>
                  <a:srgbClr val="555555"/>
                </a:solidFill>
                <a:latin typeface="맑은 고딕"/>
              </a:rPr>
              <a:t>진행</a:t>
            </a:r>
            <a:endParaRPr sz="1050" b="0" i="1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>
                <a:solidFill>
                  <a:srgbClr val="2E75B6"/>
                </a:solidFill>
                <a:latin typeface="맑은 고딕"/>
              </a:rPr>
              <a:t>5. 조직 확산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1F3B57"/>
                </a:solidFill>
                <a:latin typeface="맑은 고딕"/>
              </a:rPr>
              <a:t>성공 후 로드맵 — 1·2단계 병행 진행 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49240" cy="182880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rtlCol="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1400" b="1" i="0" dirty="0">
                <a:solidFill>
                  <a:srgbClr val="1B4F78"/>
                </a:solidFill>
                <a:latin typeface="맑은 고딕"/>
              </a:rPr>
              <a:t>1단계: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파일럿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실증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 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[</a:t>
            </a:r>
            <a:r>
              <a:rPr sz="1100" b="1" i="0" dirty="0" err="1">
                <a:solidFill>
                  <a:srgbClr val="2E7D4F"/>
                </a:solidFill>
                <a:latin typeface="맑은 고딕"/>
              </a:rPr>
              <a:t>진행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2E7D4F"/>
                </a:solidFill>
                <a:latin typeface="맑은 고딕"/>
              </a:rPr>
              <a:t>중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0" i="0" dirty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주문·결제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거래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)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모듈을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대상으로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실제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진행</a:t>
            </a:r>
            <a:endParaRPr sz="1200" b="0" i="0" dirty="0">
              <a:solidFill>
                <a:srgbClr val="555555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0" i="0" dirty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진행하며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드러나는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gap을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방법론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지침서·표준양식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)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에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실시간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보완</a:t>
            </a:r>
            <a:endParaRPr sz="12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82512" y="1280160"/>
            <a:ext cx="5349240" cy="182880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52400" rtlCol="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1400" b="1" i="0" dirty="0">
                <a:solidFill>
                  <a:srgbClr val="1B4F78"/>
                </a:solidFill>
                <a:latin typeface="맑은 고딕"/>
              </a:rPr>
              <a:t>2단계: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자산화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기반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400" b="1" i="0" dirty="0" err="1">
                <a:solidFill>
                  <a:srgbClr val="1B4F78"/>
                </a:solidFill>
                <a:latin typeface="맑은 고딕"/>
              </a:rPr>
              <a:t>마련</a:t>
            </a:r>
            <a:r>
              <a:rPr sz="1400" b="1" i="0" dirty="0">
                <a:solidFill>
                  <a:srgbClr val="1B4F78"/>
                </a:solidFill>
                <a:latin typeface="맑은 고딕"/>
              </a:rPr>
              <a:t>  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[</a:t>
            </a:r>
            <a:r>
              <a:rPr lang="ko-KR" altLang="en-US" sz="1100" b="1" i="0" dirty="0">
                <a:solidFill>
                  <a:srgbClr val="2E7D4F"/>
                </a:solidFill>
                <a:latin typeface="맑은 고딕"/>
              </a:rPr>
              <a:t>검토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 </a:t>
            </a:r>
            <a:r>
              <a:rPr sz="1100" b="1" i="0" dirty="0" err="1">
                <a:solidFill>
                  <a:srgbClr val="2E7D4F"/>
                </a:solidFill>
                <a:latin typeface="맑은 고딕"/>
              </a:rPr>
              <a:t>중</a:t>
            </a:r>
            <a:r>
              <a:rPr sz="1100" b="1" i="0" dirty="0">
                <a:solidFill>
                  <a:srgbClr val="2E7D4F"/>
                </a:solidFill>
                <a:latin typeface="맑은 고딕"/>
              </a:rPr>
              <a:t>]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0" i="0" dirty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전체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12개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도메인으로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확장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—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참고자료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도메인기능표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)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정리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완료</a:t>
            </a:r>
            <a:endParaRPr sz="1200" b="0" i="0" dirty="0">
              <a:solidFill>
                <a:srgbClr val="555555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0" i="0" dirty="0">
                <a:solidFill>
                  <a:srgbClr val="555555"/>
                </a:solidFill>
                <a:latin typeface="맑은 고딕"/>
              </a:rPr>
              <a:t>• 40종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산출물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표준양식를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전체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도메인에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적용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가능하도록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정비</a:t>
            </a:r>
            <a:endParaRPr sz="1200" b="0" i="0" dirty="0">
              <a:solidFill>
                <a:srgbClr val="555555"/>
              </a:solidFill>
              <a:latin typeface="맑은 고딕"/>
            </a:endParaRPr>
          </a:p>
        </p:txBody>
      </p:sp>
      <p:sp>
        <p:nvSpPr>
          <p:cNvPr id="7" name="Oval 6"/>
          <p:cNvSpPr/>
          <p:nvPr/>
        </p:nvSpPr>
        <p:spPr>
          <a:xfrm>
            <a:off x="5774436" y="1938528"/>
            <a:ext cx="640080" cy="512064"/>
          </a:xfrm>
          <a:prstGeom prst="ellipse">
            <a:avLst/>
          </a:prstGeom>
          <a:solidFill>
            <a:srgbClr val="1B4F78"/>
          </a:solidFill>
          <a:ln w="9525">
            <a:solidFill>
              <a:srgbClr val="1B4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맑은 고딕"/>
              </a:rPr>
              <a:t>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3108960"/>
            <a:ext cx="0" cy="32004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89904" y="3108960"/>
            <a:ext cx="0" cy="320040"/>
          </a:xfrm>
          <a:prstGeom prst="line">
            <a:avLst/>
          </a:prstGeom>
          <a:ln w="1905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474720"/>
            <a:ext cx="7616952" cy="105156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52400" rtlCol="0" anchor="ctr"/>
          <a:lstStyle/>
          <a:p>
            <a:pPr algn="ctr">
              <a:lnSpc>
                <a:spcPct val="150000"/>
              </a:lnSpc>
              <a:spcAft>
                <a:spcPts val="400"/>
              </a:spcAft>
            </a:pPr>
            <a:r>
              <a:rPr sz="1350" b="1" i="0" dirty="0">
                <a:solidFill>
                  <a:srgbClr val="1B4F78"/>
                </a:solidFill>
                <a:latin typeface="맑은 고딕"/>
              </a:rPr>
              <a:t>3단계: </a:t>
            </a:r>
            <a:r>
              <a:rPr sz="1350" b="1" i="0" dirty="0" err="1">
                <a:solidFill>
                  <a:srgbClr val="1B4F78"/>
                </a:solidFill>
                <a:latin typeface="맑은 고딕"/>
              </a:rPr>
              <a:t>조직</a:t>
            </a:r>
            <a:r>
              <a:rPr sz="135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350" b="1" i="0" dirty="0" err="1">
                <a:solidFill>
                  <a:srgbClr val="1B4F78"/>
                </a:solidFill>
                <a:latin typeface="맑은 고딕"/>
              </a:rPr>
              <a:t>확산</a:t>
            </a:r>
            <a:r>
              <a:rPr sz="1350" b="1" i="0" dirty="0">
                <a:solidFill>
                  <a:srgbClr val="1B4F78"/>
                </a:solidFill>
                <a:latin typeface="맑은 고딕"/>
              </a:rPr>
              <a:t>  </a:t>
            </a:r>
            <a:r>
              <a:rPr sz="1050" b="1" i="0" dirty="0">
                <a:solidFill>
                  <a:srgbClr val="555555"/>
                </a:solidFill>
                <a:latin typeface="맑은 고딕"/>
              </a:rPr>
              <a:t>[1·2단계 </a:t>
            </a:r>
            <a:r>
              <a:rPr sz="1050" b="1" i="0" dirty="0" err="1">
                <a:solidFill>
                  <a:srgbClr val="555555"/>
                </a:solidFill>
                <a:latin typeface="맑은 고딕"/>
              </a:rPr>
              <a:t>완료</a:t>
            </a:r>
            <a:r>
              <a:rPr sz="1050" b="1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1" i="0" dirty="0" err="1">
                <a:solidFill>
                  <a:srgbClr val="555555"/>
                </a:solidFill>
                <a:latin typeface="맑은 고딕"/>
              </a:rPr>
              <a:t>후</a:t>
            </a:r>
            <a:r>
              <a:rPr sz="1050" b="1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050" b="1" i="0" dirty="0" err="1">
                <a:solidFill>
                  <a:srgbClr val="555555"/>
                </a:solidFill>
                <a:latin typeface="맑은 고딕"/>
              </a:rPr>
              <a:t>착수</a:t>
            </a:r>
            <a:r>
              <a:rPr sz="1050" b="1" i="0" dirty="0">
                <a:solidFill>
                  <a:srgbClr val="555555"/>
                </a:solidFill>
                <a:latin typeface="맑은 고딕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다음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프로젝트에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축적된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자산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+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검증된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방법론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적용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반복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시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생산성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점진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향상</a:t>
            </a:r>
            <a:r>
              <a:rPr sz="12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200" b="0" i="0" dirty="0" err="1">
                <a:solidFill>
                  <a:srgbClr val="555555"/>
                </a:solidFill>
                <a:latin typeface="맑은 고딕"/>
              </a:rPr>
              <a:t>실증</a:t>
            </a:r>
            <a:endParaRPr sz="1200" b="0" i="0" dirty="0">
              <a:solidFill>
                <a:srgbClr val="555555"/>
              </a:solidFill>
              <a:latin typeface="맑은 고딕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7019"/>
              </p:ext>
            </p:extLst>
          </p:nvPr>
        </p:nvGraphicFramePr>
        <p:xfrm>
          <a:off x="457200" y="4709160"/>
          <a:ext cx="11274552" cy="178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835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성공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  <a:endParaRPr sz="1200" b="1" i="0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파일럿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(1단계)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주문·결제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모듈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실제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진행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+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방법론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보완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Critical 0건, Major ≤3건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1F3B57"/>
                          </a:solidFill>
                          <a:latin typeface="맑은 고딕"/>
                        </a:rPr>
                        <a:t>자산화</a:t>
                      </a:r>
                      <a:r>
                        <a:rPr sz="1100" b="1" i="0" dirty="0">
                          <a:solidFill>
                            <a:srgbClr val="1F3B57"/>
                          </a:solidFill>
                          <a:latin typeface="맑은 고딕"/>
                        </a:rPr>
                        <a:t>(2단계)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검토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중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전체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12개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도메인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확장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자산화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기반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마련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40종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산출물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자기완결성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검증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통과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확산(3단계)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다음 프로젝트 적용 시 효율 측정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동일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규모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대비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비용</a:t>
                      </a:r>
                      <a:r>
                        <a:rPr sz="1100" b="0" i="0" dirty="0">
                          <a:solidFill>
                            <a:srgbClr val="555555"/>
                          </a:solidFill>
                          <a:latin typeface="맑은 고딕"/>
                        </a:rPr>
                        <a:t> 30% </a:t>
                      </a:r>
                      <a:r>
                        <a:rPr sz="1100" b="0" i="0" dirty="0" err="1">
                          <a:solidFill>
                            <a:srgbClr val="555555"/>
                          </a:solidFill>
                          <a:latin typeface="맑은 고딕"/>
                        </a:rPr>
                        <a:t>절감</a:t>
                      </a:r>
                      <a:endParaRPr sz="1100" b="0" i="0" dirty="0">
                        <a:solidFill>
                          <a:srgbClr val="555555"/>
                        </a:solidFill>
                        <a:latin typeface="맑은 고딕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i="0" dirty="0" err="1">
                <a:solidFill>
                  <a:srgbClr val="2E75B6"/>
                </a:solidFill>
                <a:latin typeface="맑은 고딕"/>
              </a:rPr>
              <a:t>요약</a:t>
            </a:r>
            <a:endParaRPr sz="1050" b="1" i="0" dirty="0">
              <a:solidFill>
                <a:srgbClr val="2E75B6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451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1F3B57"/>
                </a:solidFill>
                <a:latin typeface="맑은 고딕"/>
              </a:rPr>
              <a:t>Q&amp;A</a:t>
            </a:r>
            <a:endParaRPr sz="2200" b="1" i="0" dirty="0">
              <a:solidFill>
                <a:srgbClr val="1F3B57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74552" cy="338328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lnSpc>
                <a:spcPct val="130000"/>
              </a:lnSpc>
              <a:spcAft>
                <a:spcPts val="1800"/>
              </a:spcAft>
            </a:pP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AI가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조직의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자산을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학습하고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산출물을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직접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만드는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구조를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정립하면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,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인력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의존도를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낮추고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,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프로젝트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반복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시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점진적으로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생산성이</a:t>
            </a:r>
            <a:r>
              <a:rPr sz="1800" b="1" i="0" dirty="0">
                <a:solidFill>
                  <a:srgbClr val="1B4F78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1B4F78"/>
                </a:solidFill>
                <a:latin typeface="맑은 고딕"/>
              </a:rPr>
              <a:t>향상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되며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, </a:t>
            </a:r>
            <a:r>
              <a:rPr sz="1800" b="1" i="0" dirty="0" err="1">
                <a:solidFill>
                  <a:srgbClr val="2E7D4F"/>
                </a:solidFill>
                <a:latin typeface="맑은 고딕"/>
              </a:rPr>
              <a:t>비용</a:t>
            </a:r>
            <a:r>
              <a:rPr sz="1800" b="1" i="0" dirty="0">
                <a:solidFill>
                  <a:srgbClr val="2E7D4F"/>
                </a:solidFill>
                <a:latin typeface="맑은 고딕"/>
              </a:rPr>
              <a:t> 30% </a:t>
            </a:r>
            <a:r>
              <a:rPr sz="1800" b="1" i="0" dirty="0" err="1">
                <a:solidFill>
                  <a:srgbClr val="2E7D4F"/>
                </a:solidFill>
                <a:latin typeface="맑은 고딕"/>
              </a:rPr>
              <a:t>절감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을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현실적으로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달성할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수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 </a:t>
            </a:r>
            <a:r>
              <a:rPr sz="1800" b="0" i="0" dirty="0" err="1">
                <a:solidFill>
                  <a:srgbClr val="1F3B57"/>
                </a:solidFill>
                <a:latin typeface="맑은 고딕"/>
              </a:rPr>
              <a:t>있습니다</a:t>
            </a:r>
            <a:r>
              <a:rPr sz="1800" b="0" i="0" dirty="0">
                <a:solidFill>
                  <a:srgbClr val="1F3B57"/>
                </a:solidFill>
                <a:latin typeface="맑은 고딕"/>
              </a:rPr>
              <a:t>.</a:t>
            </a:r>
          </a:p>
          <a:p>
            <a:pPr algn="ctr">
              <a:lnSpc>
                <a:spcPct val="130000"/>
              </a:lnSpc>
            </a:pP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runNshop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프로젝트로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먼저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실증한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뒤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,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검증된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방법론과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자산을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조직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전체로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555555"/>
                </a:solidFill>
                <a:latin typeface="맑은 고딕"/>
              </a:rPr>
              <a:t>확산합니다</a:t>
            </a:r>
            <a:r>
              <a:rPr sz="1600" b="0" i="0" dirty="0">
                <a:solidFill>
                  <a:srgbClr val="555555"/>
                </a:solidFill>
                <a:latin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맑은 고딕"/>
              </a:rPr>
              <a:t>상세 규칙·RACI·산출물 40종 전체 목록은 원본(AI활용_개발공정_지침서_v2.2)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832</Words>
  <Application>Microsoft Macintosh PowerPoint</Application>
  <PresentationFormat>와이드스크린</PresentationFormat>
  <Paragraphs>157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4</cp:revision>
  <dcterms:created xsi:type="dcterms:W3CDTF">2013-01-27T09:14:16Z</dcterms:created>
  <dcterms:modified xsi:type="dcterms:W3CDTF">2026-08-02T23:39:19Z</dcterms:modified>
  <cp:category/>
</cp:coreProperties>
</file>