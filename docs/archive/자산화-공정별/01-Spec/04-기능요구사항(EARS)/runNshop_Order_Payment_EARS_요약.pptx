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E75B6"/>
                </a:solidFill>
                <a:latin typeface="맑은 고딕"/>
              </a:rPr>
              <a:t>01-Spec · 04-기능요구사항(EARS)  ·  1차 파트(거래)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F3B57"/>
                </a:solidFill>
                <a:latin typeface="맑은 고딕"/>
              </a:rPr>
              <a:t>Order · Payment 기능요구사항(EARS)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맑은 고딕"/>
              </a:rPr>
              <a:t>Order 4개 파일(장바구니·주문결제·배송·클레임) 100건  +  Payment 1개 파일 33건  =  총 133건 · 2026-07-30 기준(Human Review 전 항목 해결)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파일별 구성 (우선순위)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4864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965960"/>
                <a:gridCol w="777240"/>
                <a:gridCol w="594360"/>
                <a:gridCol w="594360"/>
                <a:gridCol w="594360"/>
              </a:tblGrid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도메인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REQ수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P1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P2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P3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장바구니·주문서 (Cart)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주문결제·연동 (OrderPayment)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배송관리 (Delivery)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클레임처리 (Claim)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 소계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53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결제처리·조회·PG·모니터링·이상거래방지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5개 파일 · 133건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133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57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T="25400" marB="25400" marL="76200" marR="762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37160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핵심 P1 플로우 하이라이트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532120" cy="278892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524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결제 요청 → 재고선점(비동기)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TEMP→PROCESSING 전환과 동시에 재고선점 이벤트 발행, 3분 타임아웃 시 자동 실패·재고 복원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PG 승인 → 결제완료 → 구매확정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결제완료 이벤트 수신 시 PAYMENT_COMPLETED 전환, 배송완료(D+7) 자동구매확정·정산대상 포함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취소·환불은 항상 이벤트 발행 방식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Order는 직접 환불하지 않고 Payment에 취소/승인취소/부분환불 요청 이벤트만 발행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PG는 토스페이먼츠 단일 연동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콜백 서명검증 + 멱등처리 필수, 동일카드 3회 연속실패 시 당일 결제 제한(FDS)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주문 상태 흐름 (Order Lifecycle)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TEMP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4644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52088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PAYMENT_
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9532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PREPARING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6976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IN_
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94420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41864" y="4983480"/>
            <a:ext cx="1389888" cy="566928"/>
          </a:xfrm>
          <a:prstGeom prst="roundRect">
            <a:avLst/>
          </a:prstGeom>
          <a:solidFill>
            <a:srgbClr val="2E7D4F"/>
          </a:solidFill>
          <a:ln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CONFIRMED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47088" y="5266944.0"/>
            <a:ext cx="257556.0" cy="0.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94532.0" y="5266944.0"/>
            <a:ext cx="257556.0" cy="0.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41976.0" y="5266944.0"/>
            <a:ext cx="257556.0" cy="0.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89420.0" y="5266944.0"/>
            <a:ext cx="257556.0" cy="0.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36864.0" y="5266944.0"/>
            <a:ext cx="257556.0" cy="0.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84308.0" y="5266944.0"/>
            <a:ext cx="257556.0" cy="0.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5806440"/>
            <a:ext cx="11274552" cy="777240"/>
          </a:xfrm>
          <a:prstGeom prst="roundRect">
            <a:avLst/>
          </a:prstGeom>
          <a:solidFill>
            <a:srgbClr val="FCF2F2"/>
          </a:solidFill>
          <a:ln w="9525">
            <a:solidFill>
              <a:srgbClr val="E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76200"/>
          <a:lstStyle/>
          <a:p>
            <a:pPr algn="ctr"/>
            <a:r>
              <a:rPr sz="1050" b="1" i="0">
                <a:solidFill>
                  <a:srgbClr val="B03030"/>
                </a:solidFill>
                <a:latin typeface="맑은 고딕"/>
              </a:rPr>
              <a:t>분기 처리</a:t>
            </a:r>
          </a:p>
          <a:p>
            <a:r>
              <a:rPr sz="1000" b="0" i="0">
                <a:solidFill>
                  <a:srgbClr val="555555"/>
                </a:solidFill>
                <a:latin typeface="맑은 고딕"/>
              </a:rPr>
              <a:t>PROCESSING/PAYMENT_COMPLETED → CANCELLED (결제실패·타임아웃·고객 단순취소·CS 예외취소, 전체취소 후 재주문만 허용)   ·   DELIVERED → 클레임 접수(반품/교환, 배송완료 후 10일 이내)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E75B6"/>
                </a:solidFill>
                <a:latin typeface="맑은 고딕"/>
              </a:rPr>
              <a:t>01-Spec · 04-기능요구사항(EARS)  ·  1차 파트(거래)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F3B57"/>
                </a:solidFill>
                <a:latin typeface="맑은 고딕"/>
              </a:rPr>
              <a:t>도메인 간 이벤트 연동 &amp; 핵심 정책 하이라이트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맑은 고딕"/>
              </a:rPr>
              <a:t>Order ↔ Payment ↔ Catalog ↔ Notification 이벤트 계약, 그리고 각 도메인의 핵심 운영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도메인 간 이벤트 연동 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7455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1737360"/>
                <a:gridCol w="2743200"/>
                <a:gridCol w="2770632"/>
              </a:tblGrid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발행 도메인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이벤트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구독 도메인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Order 측 REQ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Payment 측 REQ</a:t>
                      </a:r>
                    </a:p>
                  </a:txBody>
                  <a:tcPr marT="38100" marB="38100" marL="76200" marR="76200" anchor="ctr">
                    <a:solidFill>
                      <a:srgbClr val="1B4F78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결제요청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REQ-ORD-001, 093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REQ-PAY-001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결제완료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REQ-ORD-055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REQ-PAY-002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결제실패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REQ-ORD-095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REQ-PAY-003, 005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결제취소요청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REQ-ORD-006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REQ-PAY-011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승인취소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REQ-ORD-096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REQ-PAY-036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부분반품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REQ-ORD-092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REQ-PAY-012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추가배송비결제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REQ-ORD-052, 098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REQ-PAY-015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재고선점요청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Catalog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REQ-ORD-057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Catalog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재고선점실패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REQ-ORD-058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25354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알림발송요청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Notification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REQ-ORD-067, 079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T="25400" marB="25400" marL="76200" marR="76200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Order 핵심 정책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Payment 핵심 정책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26280"/>
            <a:ext cx="5486400" cy="178308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 rIns="127000" bIns="5080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재고선점은 비동기 이벤트 — 3분 타임아웃 초과 시 자동 실패·재고 복원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취소·반품·교환은 서로 다른 상태머신(플랫폼자동 / 수거→재고복구 / 재고확인→교환출고)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클레임기한 10일 vs 자동구매확정 7일 — 중첩구간(D+8~10)은 Settlement가 정산보류 처리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도서산간 배송 1단계 전면 차단, 배송상태는 배치로 10분마다 자동 갱신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26280"/>
            <a:ext cx="5559552" cy="178308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 rIns="127000" bIns="5080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PG는 토스페이먼츠 단일연동(1단계 신용카드→2단계 간편결제), 계좌이체 등은 범위 밖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PG 콜백 서명검증 필수 + 중복수신 멱등 처리(최초 1회만 반영)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카드번호 등 원본정보 미저장 — PG 토큰만 저장(PII 마스킹)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동일카드 3회 연속실패 시 당일 결제 제한(FDS), 익일 00시 자동 해제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55555"/>
                </a:solidFill>
                <a:latin typeface="맑은 고딕"/>
              </a:rPr>
              <a:t>잔여 이슈: REQ-ORD-078 타임아웃(3분) 적정성 NFR 확인 필요  ·  상태: Order DRAFT-v2 / Payment DRAFT-v1.3, Human Review 전 항목 해결(2026-07-30)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