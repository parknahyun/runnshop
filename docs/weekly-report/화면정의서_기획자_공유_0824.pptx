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FC2DE"/>
                </a:solidFill>
                <a:latin typeface="Malgun Gothic"/>
              </a:rPr>
              <a:t>기획자 공유용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Malgun Gothic"/>
              </a:rPr>
              <a:t>화면정의서 전환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D6E2"/>
                </a:solidFill>
                <a:latin typeface="Malgun Gothic"/>
              </a:rPr>
              <a:t>1. 방법론 설명   2. 대응체계   3. 작성주체·참여방식   4. 샘플 캡처본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E93A8"/>
                </a:solidFill>
                <a:latin typeface="Malgun Gothic"/>
              </a:rPr>
              <a:t>docs/주간보고 · 2026-08-24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2179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E93A8"/>
                </a:solidFill>
                <a:latin typeface="Malgun Gothic"/>
              </a:rPr>
              <a:t>runNshop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1장 · 방법론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산출물 작성 순서 다이어그램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097280"/>
            <a:ext cx="128016" cy="841248"/>
          </a:xfrm>
          <a:prstGeom prst="rect">
            <a:avLst/>
          </a:prstGeom>
          <a:solidFill>
            <a:srgbClr val="1F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170432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3E5C"/>
                </a:solidFill>
                <a:latin typeface="Malgun Gothic"/>
              </a:rPr>
              <a:t>① 착수 + 범위정의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463040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문제정의서 → 목표KPI → 이해관계자맵 → 범위 → 대안비교 → 리스크가정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46504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D7 제약사항 → D8 NFR → D9 컴포넌트 → DA 시스템구성도 → DB 도메인정의서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03620.0" y="1938528"/>
            <a:ext cx="0.0" cy="146304"/>
          </a:xfrm>
          <a:prstGeom prst="line">
            <a:avLst/>
          </a:prstGeom>
          <a:ln w="25400">
            <a:solidFill>
              <a:srgbClr val="4A5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2084832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084832"/>
            <a:ext cx="128016" cy="841248"/>
          </a:xfrm>
          <a:prstGeom prst="rect">
            <a:avLst/>
          </a:prstGeom>
          <a:solidFill>
            <a:srgbClr val="2E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157984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8B86"/>
                </a:solidFill>
                <a:latin typeface="Malgun Gothic"/>
              </a:rPr>
              <a:t>② 구조설계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450592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24A"/>
                </a:solidFill>
                <a:latin typeface="Malgun Gothic"/>
              </a:rPr>
              <a:t>DC 상위UC → DD 메뉴구조도 → DE EARS → DF ERD → DG 상태머신 → DH 프로세스 → DI 이벤트플로우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734056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24A"/>
                </a:solidFill>
                <a:latin typeface="Malgun Gothic"/>
              </a:rPr>
              <a:t>▼ Bolt 분할 + Tasks (WBS·RACI·의존성맵·리스크대응·DoD체크리스트)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03620.0" y="2926080"/>
            <a:ext cx="0.0" cy="146304"/>
          </a:xfrm>
          <a:prstGeom prst="line">
            <a:avLst/>
          </a:prstGeom>
          <a:ln w="25400">
            <a:solidFill>
              <a:srgbClr val="4A5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3072384"/>
            <a:ext cx="10652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D97C2B"/>
                </a:solidFill>
                <a:latin typeface="Malgun Gothic"/>
              </a:rPr>
              <a:t>🔁  Bolt마다 반복  —  다음 Bolt? 예 → 반복 · 아니오 → ④로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46704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46704"/>
            <a:ext cx="128016" cy="841248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3419856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③ 상세설계 + 구현  [Bolt 반복]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712464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24A"/>
                </a:solidFill>
                <a:latin typeface="Malgun Gothic"/>
              </a:rPr>
              <a:t>DJ GWT → DK 세부UC → DL 인터페이스 → DM 시퀀스 → DN 화면 → DO ADR → DP 클래스 → DQ 프로그램목록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3995928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24A"/>
                </a:solidFill>
                <a:latin typeface="Malgun Gothic"/>
              </a:rPr>
              <a:t>코드 구현 · 자동검증 · 단위테스트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" y="3291840"/>
            <a:ext cx="10762488" cy="950976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D97C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103620.0" y="4187952"/>
            <a:ext cx="0.0" cy="146304"/>
          </a:xfrm>
          <a:prstGeom prst="line">
            <a:avLst/>
          </a:prstGeom>
          <a:ln w="25400">
            <a:solidFill>
              <a:srgbClr val="4A5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4334256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334256"/>
            <a:ext cx="128016" cy="841248"/>
          </a:xfrm>
          <a:prstGeom prst="rect">
            <a:avLst/>
          </a:prstGeom>
          <a:solidFill>
            <a:srgbClr val="1F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4407408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3E5C"/>
                </a:solidFill>
                <a:latin typeface="Malgun Gothic"/>
              </a:rPr>
              <a:t>④ 테스트 + 안정화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4700016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통합테스트 · E2E · Go/No-Go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4983480"/>
            <a:ext cx="1014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운영매뉴얼 · NFR검증 · Go-Live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21808"/>
            <a:ext cx="10652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A5663"/>
                </a:solidFill>
                <a:latin typeface="Malgun Gothic"/>
              </a:rPr>
              <a:t>출처: AI활용_개발방법론_산출물_흐름.md “산출물 작성 순서 (7단계)” (PlantUML 원문 구조)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화면정의서 전환 안내 · 기획자 공유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1장 · 방법론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컨벤션 산출물 (축 2) — 수평 참조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688896.8" y="1874520"/>
            <a:ext cx="0.0" cy="1828800"/>
          </a:xfrm>
          <a:prstGeom prst="line">
            <a:avLst/>
          </a:prstGeom>
          <a:ln w="15875">
            <a:solidFill>
              <a:srgbClr val="B89A2E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96258.4000000004" y="1874520"/>
            <a:ext cx="0.0" cy="1828800"/>
          </a:xfrm>
          <a:prstGeom prst="line">
            <a:avLst/>
          </a:prstGeom>
          <a:ln w="15875">
            <a:solidFill>
              <a:srgbClr val="B89A2E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103620.0" y="1874520"/>
            <a:ext cx="0.0" cy="1828800"/>
          </a:xfrm>
          <a:prstGeom prst="line">
            <a:avLst/>
          </a:prstGeom>
          <a:ln w="15875">
            <a:solidFill>
              <a:srgbClr val="B89A2E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10981.600000001" y="1874520"/>
            <a:ext cx="0.0" cy="1828800"/>
          </a:xfrm>
          <a:prstGeom prst="line">
            <a:avLst/>
          </a:prstGeom>
          <a:ln w="15875">
            <a:solidFill>
              <a:srgbClr val="B89A2E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8343.200000001" y="1874520"/>
            <a:ext cx="0.0" cy="1828800"/>
          </a:xfrm>
          <a:prstGeom prst="line">
            <a:avLst/>
          </a:prstGeom>
          <a:ln w="15875">
            <a:solidFill>
              <a:srgbClr val="B89A2E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1097280"/>
            <a:ext cx="2097633" cy="777240"/>
          </a:xfrm>
          <a:prstGeom prst="roundRect">
            <a:avLst>
              <a:gd name="adj" fmla="val 5000"/>
            </a:avLst>
          </a:prstGeom>
          <a:solidFill>
            <a:srgbClr val="FFF9C4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097280"/>
            <a:ext cx="2097633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C1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보안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47441" y="1097280"/>
            <a:ext cx="2097633" cy="777240"/>
          </a:xfrm>
          <a:prstGeom prst="roundRect">
            <a:avLst>
              <a:gd name="adj" fmla="val 5000"/>
            </a:avLst>
          </a:prstGeom>
          <a:solidFill>
            <a:srgbClr val="FFF9C4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7441" y="1097280"/>
            <a:ext cx="2097633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C2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용어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4803" y="1097280"/>
            <a:ext cx="2097633" cy="777240"/>
          </a:xfrm>
          <a:prstGeom prst="roundRect">
            <a:avLst>
              <a:gd name="adj" fmla="val 5000"/>
            </a:avLst>
          </a:prstGeom>
          <a:solidFill>
            <a:srgbClr val="FFF9C4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4803" y="1097280"/>
            <a:ext cx="2097633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C3 아키텍처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C4 데이터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C5 이벤트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2164" y="1097280"/>
            <a:ext cx="2097633" cy="777240"/>
          </a:xfrm>
          <a:prstGeom prst="roundRect">
            <a:avLst>
              <a:gd name="adj" fmla="val 5000"/>
            </a:avLst>
          </a:prstGeom>
          <a:solidFill>
            <a:srgbClr val="FFF9C4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2164" y="1097280"/>
            <a:ext cx="2097633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C6 API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C7 디자인시스템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C8 UX Writing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C9 코딩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9526" y="1097280"/>
            <a:ext cx="2097633" cy="777240"/>
          </a:xfrm>
          <a:prstGeom prst="roundRect">
            <a:avLst>
              <a:gd name="adj" fmla="val 5000"/>
            </a:avLst>
          </a:prstGeom>
          <a:solidFill>
            <a:srgbClr val="FFF9C4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9526" y="1097280"/>
            <a:ext cx="2097633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CA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7A6010"/>
                </a:solidFill>
                <a:latin typeface="Malgun Gothic"/>
              </a:rPr>
              <a:t>테스트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606040"/>
            <a:ext cx="2097633" cy="4572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06040"/>
            <a:ext cx="2097633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E6B2E"/>
                </a:solidFill>
                <a:latin typeface="Malgun Gothic"/>
              </a:rPr>
              <a:t>S0 착수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37713.6" y="2834640.0"/>
            <a:ext cx="109728.0" cy="0.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847441" y="2606040"/>
            <a:ext cx="2097633" cy="4572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47441" y="2606040"/>
            <a:ext cx="2097633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E6B2E"/>
                </a:solidFill>
                <a:latin typeface="Malgun Gothic"/>
              </a:rPr>
              <a:t>S1 요구정의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45075.2" y="2834640.0"/>
            <a:ext cx="109728.0" cy="0.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54803" y="2606040"/>
            <a:ext cx="2097633" cy="4572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4803" y="2606040"/>
            <a:ext cx="2097633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E6B2E"/>
                </a:solidFill>
                <a:latin typeface="Malgun Gothic"/>
              </a:rPr>
              <a:t>S2 구조설계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52436.800000001" y="2834640.0"/>
            <a:ext cx="109728.0" cy="0.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62164" y="2606040"/>
            <a:ext cx="2097633" cy="4572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2164" y="2606040"/>
            <a:ext cx="2097633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E6B2E"/>
                </a:solidFill>
                <a:latin typeface="Malgun Gothic"/>
              </a:rPr>
              <a:t>S3 상세설계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59798.4" y="2834640.0"/>
            <a:ext cx="109728.0" cy="0.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69526" y="2606040"/>
            <a:ext cx="2097633" cy="4572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9526" y="2606040"/>
            <a:ext cx="2097633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E6B2E"/>
                </a:solidFill>
                <a:latin typeface="Malgun Gothic"/>
              </a:rPr>
              <a:t>S4 구현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703320"/>
            <a:ext cx="2097633" cy="1234440"/>
          </a:xfrm>
          <a:prstGeom prst="roundRect">
            <a:avLst>
              <a:gd name="adj" fmla="val 5000"/>
            </a:avLst>
          </a:prstGeom>
          <a:solidFill>
            <a:srgbClr val="BBDEFB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703320"/>
            <a:ext cx="2097633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D8 NFR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47441" y="3703320"/>
            <a:ext cx="2097633" cy="1234440"/>
          </a:xfrm>
          <a:prstGeom prst="roundRect">
            <a:avLst>
              <a:gd name="adj" fmla="val 5000"/>
            </a:avLst>
          </a:prstGeom>
          <a:solidFill>
            <a:srgbClr val="BBDEFB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7441" y="3703320"/>
            <a:ext cx="2097633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D9 컴포넌트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DB 도메인정의서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54803" y="3703320"/>
            <a:ext cx="2097633" cy="1234440"/>
          </a:xfrm>
          <a:prstGeom prst="roundRect">
            <a:avLst>
              <a:gd name="adj" fmla="val 5000"/>
            </a:avLst>
          </a:prstGeom>
          <a:solidFill>
            <a:srgbClr val="BBDEFB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4803" y="3703320"/>
            <a:ext cx="2097633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DF ERD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DG 상태머신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DI 이벤트플로우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2164" y="3703320"/>
            <a:ext cx="2097633" cy="1234440"/>
          </a:xfrm>
          <a:prstGeom prst="roundRect">
            <a:avLst>
              <a:gd name="adj" fmla="val 5000"/>
            </a:avLst>
          </a:prstGeom>
          <a:solidFill>
            <a:srgbClr val="BBDEFB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2164" y="3703320"/>
            <a:ext cx="2097633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DL 인터페이스명세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DM 시퀀스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DN 화면레이아웃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DP 클래스설계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DQ 프로그램목록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69526" y="3703320"/>
            <a:ext cx="2097633" cy="1234440"/>
          </a:xfrm>
          <a:prstGeom prst="roundRect">
            <a:avLst>
              <a:gd name="adj" fmla="val 5000"/>
            </a:avLst>
          </a:prstGeom>
          <a:solidFill>
            <a:srgbClr val="BBDEFB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9526" y="3703320"/>
            <a:ext cx="2097633" cy="12344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코드구현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142B45"/>
                </a:solidFill>
                <a:latin typeface="Malgun Gothic"/>
              </a:rPr>
              <a:t>단위테스트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7804" y="5010912"/>
            <a:ext cx="32863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4A5663"/>
                </a:solidFill>
                <a:latin typeface="Malgun Gothic"/>
              </a:rPr>
              <a:t>컨벤션 미비 시: 현업 즉시 판단 → 진행 · 프로젝트 종료 시 역축적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806440"/>
            <a:ext cx="201168" cy="201168"/>
          </a:xfrm>
          <a:prstGeom prst="rect">
            <a:avLst/>
          </a:prstGeom>
          <a:solidFill>
            <a:srgbClr val="E8F5E9"/>
          </a:solidFill>
          <a:ln w="6350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788152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24A"/>
                </a:solidFill>
                <a:latin typeface="Malgun Gothic"/>
              </a:rPr>
              <a:t>단계 (수직 흐름)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5806440"/>
            <a:ext cx="201168" cy="201168"/>
          </a:xfrm>
          <a:prstGeom prst="rect">
            <a:avLst/>
          </a:prstGeom>
          <a:solidFill>
            <a:srgbClr val="BBDEFB"/>
          </a:solidFill>
          <a:ln w="6350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5788152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24A"/>
                </a:solidFill>
                <a:latin typeface="Malgun Gothic"/>
              </a:rPr>
              <a:t>설계 산출물 (축 1)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5806440"/>
            <a:ext cx="201168" cy="201168"/>
          </a:xfrm>
          <a:prstGeom prst="rect">
            <a:avLst/>
          </a:prstGeom>
          <a:solidFill>
            <a:srgbClr val="FFF9C4"/>
          </a:solidFill>
          <a:ln w="6350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5788152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24A"/>
                </a:solidFill>
                <a:latin typeface="Malgun Gothic"/>
              </a:rPr>
              <a:t>컨벤션 산출물 (축 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5788152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9A2E"/>
                </a:solidFill>
                <a:latin typeface="Malgun Gothic"/>
              </a:rPr>
              <a:t>‑ ‑ ‑ ▶  참고 (비강제)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172200"/>
            <a:ext cx="1092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A5663"/>
                </a:solidFill>
                <a:latin typeface="Malgun Gothic"/>
              </a:rPr>
              <a:t>출처: AI활용_개발방법론_산출물_흐름.md “컨벤션 산출물 (축 2 — 수평 참고)”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화면정의서 전환 안내 · 기획자 공유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2장 · 기존 화면정의서와 방법론 대응체계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화면정의서 8대 구성요소 ↔ 대응 문서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11475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920240"/>
                <a:gridCol w="3337560"/>
                <a:gridCol w="5760720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anchor="ctr" marL="76200" marR="76200" marT="38100" marB="38100">
                    <a:solidFill>
                      <a:srgbClr val="14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76200" marR="76200" marT="38100" marB="38100">
                    <a:solidFill>
                      <a:srgbClr val="14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기존 화면정의서 설명</a:t>
                      </a:r>
                    </a:p>
                  </a:txBody>
                  <a:tcPr anchor="ctr" marL="76200" marR="76200" marT="38100" marB="38100">
                    <a:solidFill>
                      <a:srgbClr val="14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runNshop 대응 문서</a:t>
                      </a:r>
                    </a:p>
                  </a:txBody>
                  <a:tcPr anchor="ctr" marL="76200" marR="76200" marT="38100" marB="38100">
                    <a:solidFill>
                      <a:srgbClr val="142B4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 식별 정보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화면ID, 화면명, 메뉴경로,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접근권한, 관련화면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DD 메뉴구조도(IA) + DN §0 메타블록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(화면ID·앱·접근권한·화면전환)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와이어프레임/목업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 레이아웃 이미지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DN 화면레이아웃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UI 요소 정의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번호매칭 + 타입/기본값/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필수여부/노출조건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DN “화면 구성” 표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이벤트/기능 정의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클릭·입력 시 동작,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 전환 규칙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DK 세부유스케이스(행위흐름) +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DN 메타블록 “화면 전환”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데이터 정의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항목↔필드 매핑,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정렬/필터/페이징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DN “데이터 소스(API)” 컬럼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유효성 검증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필수값·형식·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에러 메시지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DJ GWT + DL 인터페이스명세 에러응답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(DN은 링크만 보유)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예외/에러 처리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데이터없음·로딩실패·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권한없음 상태 화면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DN “상태별 UI” 표 + DJ GWT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비고/정책 설명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기획 의도,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정책서 참조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DK/DN 본문 REQ-ID 참조, 정책서 원본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806440"/>
            <a:ext cx="11475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1">
                <a:solidFill>
                  <a:srgbClr val="4A5663"/>
                </a:solidFill>
                <a:latin typeface="Malgun Gothic"/>
              </a:rPr>
              <a:t>강조 포인트 — 항목 1·4는 최근 DN에 “화면정의서 메타블록”을 신설하면서 한 곳에 모였습니다. 다만 항목 6(유효성 검증)은</a:t>
            </a:r>
          </a:p>
          <a:p>
            <a:pPr algn="l">
              <a:lnSpc>
                <a:spcPct val="120000"/>
              </a:lnSpc>
            </a:pPr>
            <a:r>
              <a:rPr sz="1030" b="0" i="1">
                <a:solidFill>
                  <a:srgbClr val="4A5663"/>
                </a:solidFill>
                <a:latin typeface="Malgun Gothic"/>
              </a:rPr>
              <a:t>의도적으로 DN에 옮기지 않고 DJ/DL 링크로만 연결 — 검증 규칙이 바뀌어도 DN을 다시 손댈 필요가 없도록 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화면정의서 전환 안내 · 기획자 공유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3장 · 대응체계 문서와 기획자 참여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문서별 작성주체 · 기획자 참여방식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1147572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80360"/>
                <a:gridCol w="2834640"/>
                <a:gridCol w="3657600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산출물</a:t>
                      </a:r>
                    </a:p>
                  </a:txBody>
                  <a:tcPr anchor="ctr" marL="76200" marR="76200" marT="38100" marB="38100">
                    <a:solidFill>
                      <a:srgbClr val="14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anchor="ctr" marL="76200" marR="76200" marT="38100" marB="38100">
                    <a:solidFill>
                      <a:srgbClr val="14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작성주체</a:t>
                      </a:r>
                    </a:p>
                  </a:txBody>
                  <a:tcPr anchor="ctr" marL="76200" marR="76200" marT="38100" marB="38100">
                    <a:solidFill>
                      <a:srgbClr val="142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기획자 참여방식</a:t>
                      </a:r>
                    </a:p>
                  </a:txBody>
                  <a:tcPr anchor="ctr" marL="76200" marR="76200" marT="38100" marB="38100">
                    <a:solidFill>
                      <a:srgbClr val="142B45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DC 상위유스케이스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도메인별 액터·업무 나열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시니어개발자+AI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→ 기획자·현업 검토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리뷰어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(업무 흐름 확인)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DD 메뉴구조도(IA)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앱별 GNB/LNB 내비게이션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구조 확정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기획자 + 개발자 협업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공동 저자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(유일한 협업 구조설계 산출물)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DK 세부유스케이스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버튼·화면 단위 행위 분해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기획자 + 개발자 협업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주도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(화면 프로토타입을 입력으로 사용)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DL 인터페이스명세 /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DM 시퀀스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API 계약 확정 /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호출순서·트랜잭션 경계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시니어개발자+AI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→ 기획자·현업 검토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리뷰어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(DK 요구사항 반영 확인)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DN 화면레이아웃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API 응답을 화면에 매핑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(§0 메타블록으로 식별정보 흡수)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시니어개발자+AI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→ 기획자·현업 검토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공동 확인/보완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(전환·권한이 기획의도와 일치하는지)</a:t>
                      </a:r>
                    </a:p>
                  </a:txBody>
                  <a:tcPr anchor="ctr" marL="76200" marR="76200" marT="38100" marB="3810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709160"/>
            <a:ext cx="11475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D97C2B"/>
                </a:solidFill>
                <a:latin typeface="Malgun Gothic"/>
              </a:rPr>
              <a:t>기획자 실무 동선은 아래 세 지점에 집중됩니다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6767" y="507492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2E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DD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공동저자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04207.5" y="5463540.0"/>
            <a:ext cx="502920.0" cy="0.0"/>
          </a:xfrm>
          <a:prstGeom prst="line">
            <a:avLst/>
          </a:prstGeom>
          <a:ln w="28575">
            <a:solidFill>
              <a:srgbClr val="4A5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07127" y="507492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DK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주도 작성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84567.5" y="5463540.0"/>
            <a:ext cx="502920.0" cy="0.0"/>
          </a:xfrm>
          <a:prstGeom prst="line">
            <a:avLst/>
          </a:prstGeom>
          <a:ln w="28575">
            <a:solidFill>
              <a:srgbClr val="4A5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87487" y="507492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2E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DN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공동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989320"/>
            <a:ext cx="11475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4A5663"/>
                </a:solidFill>
                <a:latin typeface="Malgun Gothic"/>
              </a:rPr>
              <a:t>(DC·DL·DM은 리뷰 중심 — 결과물이 DK 요구사항과 맞는지 확인)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화면정의서 전환 안내 · 기획자 공유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4장 · 샘플 캡처본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DN 화면레이아웃 샘플 — 장바구니(CartPage)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120640" cy="155448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121158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21158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21158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097280"/>
            <a:ext cx="4389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메타블록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481328"/>
            <a:ext cx="47914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항목          | 내용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──────────────┼───────────────────────────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화면 ID       | SCR-M-001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앱            | mobile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접근 권한     | 로그인 회원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관련 세부UC   | UC-1, UC-2, UC-23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호출 API      | API-001~005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5120640" cy="96012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" y="290322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290322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" y="290322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788920"/>
            <a:ext cx="4389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화면 전환 · 유효성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172968"/>
            <a:ext cx="47914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2A3038"/>
                </a:solidFill>
                <a:latin typeface="Consolas"/>
              </a:rPr>
              <a:t>[선택상품 주문하기] 클릭 → SCR-M-002 (주문서)</a:t>
            </a:r>
          </a:p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2A3038"/>
                </a:solidFill>
                <a:latin typeface="Consolas"/>
              </a:rPr>
              <a:t>쿠폰/옵션변경 클릭 → 레이어 팝업 (화면 전환 아님)</a:t>
            </a:r>
          </a:p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2A3038"/>
                </a:solidFill>
                <a:latin typeface="Consolas"/>
              </a:rPr>
              <a:t>유효성 검증: GWT §1 장바구니 Bolt · 에러코드는 DL 참조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86200"/>
            <a:ext cx="5120640" cy="237744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928" y="400050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232" y="400050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" y="400050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886200"/>
            <a:ext cx="4389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화면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270248"/>
            <a:ext cx="479145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2A3038"/>
                </a:solidFill>
                <a:latin typeface="Consolas"/>
              </a:rPr>
              <a:t>영역           | 데이터 소스(API)        | 표시 내용</a:t>
            </a:r>
          </a:p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2A3038"/>
                </a:solidFill>
                <a:latin typeface="Consolas"/>
              </a:rPr>
              <a:t>───────────────┼─────────────────────────┼──────────────</a:t>
            </a:r>
          </a:p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2A3038"/>
                </a:solidFill>
                <a:latin typeface="Consolas"/>
              </a:rPr>
              <a:t>Header         | —                       | 장바구니 타이틀+수량</a:t>
            </a:r>
          </a:p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2A3038"/>
                </a:solidFill>
                <a:latin typeface="Consolas"/>
              </a:rPr>
              <a:t>상품 카드      | GET /cart→vendors[].    | 상품명·옵션·가격·</a:t>
            </a:r>
          </a:p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2A3038"/>
                </a:solidFill>
                <a:latin typeface="Consolas"/>
              </a:rPr>
              <a:t>               |   items[]               | 수량(+/-)·삭제</a:t>
            </a:r>
          </a:p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2A3038"/>
                </a:solidFill>
                <a:latin typeface="Consolas"/>
              </a:rPr>
              <a:t>혜택 안내      | GET /cart→summary       | 쿠폰수·포인트잔액</a:t>
            </a:r>
          </a:p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2A3038"/>
                </a:solidFill>
                <a:latin typeface="Consolas"/>
              </a:rPr>
              <a:t>금액 요약      | GET /cart→summary       | 상품금액·할인·</a:t>
            </a:r>
          </a:p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2A3038"/>
                </a:solidFill>
                <a:latin typeface="Consolas"/>
              </a:rPr>
              <a:t>               |                         | 총 결제예상금액</a:t>
            </a:r>
          </a:p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2A3038"/>
                </a:solidFill>
                <a:latin typeface="Consolas"/>
              </a:rPr>
              <a:t>옵션 변경      | PUT /cart/items/{id}/   | 레이어팝업(색상/</a:t>
            </a:r>
          </a:p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2A3038"/>
                </a:solidFill>
                <a:latin typeface="Consolas"/>
              </a:rPr>
              <a:t>               |   option                | 사이즈), 품절판정</a:t>
            </a:r>
          </a:p>
          <a:p>
            <a:pPr algn="l">
              <a:lnSpc>
                <a:spcPct val="122000"/>
              </a:lnSpc>
            </a:pPr>
            <a:r>
              <a:rPr sz="860" b="0" i="0">
                <a:solidFill>
                  <a:srgbClr val="2A3038"/>
                </a:solidFill>
                <a:latin typeface="Consolas"/>
              </a:rPr>
              <a:t>CTA            | —                       | "선택상품 주문하기"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097280"/>
            <a:ext cx="5989320" cy="516636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1097280"/>
            <a:ext cx="598932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70448" y="121158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16752" y="121158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63056" y="121158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097280"/>
            <a:ext cx="5257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와이어프레임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1481328"/>
            <a:ext cx="5660136" cy="470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┌───────────────────────────────┐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장바구니  3              🔍 🛒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├───────────────────────────────┤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■ 나이키코리아    배송비 무료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┌──┐ 나이키 페가수스 41      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│img│ 블랙/265      [옵션변경]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└──┘ 179,000원→152,000원    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      [-] 1 [+]        [삭제]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├───────────────────────────────┤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💡 사용 가능 쿠폰 2장 [&gt;]    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├───────────────────────────────┤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┌ 결제 예상 금액 ────────────┐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상품 금액      469,000원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상품 할인      -48,000원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장바구니 할인   -3,000원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배송비              무료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│──────────────────────────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총 결제예상금액 418,000원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└────────────────────────────┘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├═══════════════════════════════┤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[ 선택상품 주문하기·418,000원 ]│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└───────────────────────────────┘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화면정의서 전환 안내 · 기획자 공유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4장 · 샘플 캡처본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C7 디자인시스템 컨벤션 구조 × mobile 장바구니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92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4A5663"/>
                </a:solidFill>
                <a:latin typeface="Malgun Gothic"/>
              </a:rPr>
              <a:t>C7-디자인시스템/mobile.md의 문서 구조(★=장바구니 화면에서 실제 사용되는 항목)와 CartPage 실제 화면을 대조한 예시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120640" cy="484632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153162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53162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53162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417320"/>
            <a:ext cx="4389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C7-디자인시스템/mobile.md · 문서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801368"/>
            <a:ext cx="4791456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1. Foundation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Color · Typography · Spacing ★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Border &amp; Radius ★ · Elevation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2. Component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Button ★ · Badge ★ · Input · Card ★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Section (폼 섹션 카드)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Toast · LayerPopup ★ · Skeleton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3. Layout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L-MAIN · L-DETAIL · L-FORM ★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(장바구니 = L-FORM: BackHeader+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 Content+StickyBottom CTA)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4. Template → Page 매핑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T-HOME · T-CART ★ · T-ORDER · T-MY …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(T-CART → /cart, Layout=L-FORM)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★ = 장바구니(CartPage)에서 실제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417320"/>
            <a:ext cx="5989320" cy="484632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417320"/>
            <a:ext cx="598932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70448" y="153162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16752" y="153162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63056" y="153162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417320"/>
            <a:ext cx="5257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 §1 · 실제 렌더링 대응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1801368"/>
            <a:ext cx="5660136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┌───────────────────────────────┐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│ 장바구니  3              🔍 🛒 │  ← Layout: L-FORM Header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├───────────────────────────────┤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│ ■ 나이키코리아    배송비 무료  │  ← Component: Card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│ ┌──┐ 나이키 페가수스 41        │     (VendorGroup)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│ │img│ 블랙/265      [옵션변경] │  ← Component: Card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│ └──┘ 179,000원→152,000원      │     (CartItem) + Button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│       [-] 1 [+]        [삭제] │     (Text, primary색)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│                    ↑ Input:Stepper│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├───────────────────────────────┤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│ ┌ 결제 예상 금액 ────────────┐ │  ← Foundation: Color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│ │ 총 결제예상금액 418,000원  │ │     (gray-400 취소선 →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│ └────────────────────────────┘ │      secondary 판매가)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├═══════════════════════════════┤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│ [ 선택상품 주문하기·418,000원 ]│  ← Component: Button</a:t>
            </a:r>
          </a:p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└───────────────────────────────┘     (Primary, StickyCTA)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화면정의서 전환 안내 · 기획자 공유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