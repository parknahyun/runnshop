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958"/>
    <p:restoredTop sz="92000"/>
  </p:normalViewPr>
  <p:slideViewPr>
    <p:cSldViewPr snapToGrid="0" snapToObjects="1">
      <p:cViewPr varScale="1">
        <p:scale>
          <a:sx n="104" d="100"/>
          <a:sy n="104" d="100"/>
        </p:scale>
        <p:origin x="232" y="3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6C7117-BF16-ED4A-8CFF-FA8CEBB72AB4}" type="datetimeFigureOut">
              <a:rPr kumimoji="1" lang="ko-KR" altLang="en-US" smtClean="0"/>
              <a:t>2026. 9. 1.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4A1D10-2926-5847-B414-144D72BCAC6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43792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995C1143-EC6C-8085-29F0-1E839129A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D3C89540-4D48-49C4-D6AB-7B1446200A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7D5F2A63-A3BA-CAD2-8A4F-8218A9BA4D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811283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11274552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E75B6"/>
                </a:solidFill>
                <a:latin typeface="Paperlogy 4 Regular"/>
              </a:rPr>
              <a:t>3TOP · AI활용 방법론 부록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650000"/>
            <a:ext cx="112745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dirty="0" err="1">
                <a:solidFill>
                  <a:srgbClr val="1F3B57"/>
                </a:solidFill>
                <a:latin typeface="Paperlogy 4 Regular"/>
              </a:rPr>
              <a:t>산출물</a:t>
            </a:r>
            <a:r>
              <a:rPr lang="ko-KR" altLang="en-US" sz="3200" b="1" dirty="0">
                <a:solidFill>
                  <a:srgbClr val="1F3B57"/>
                </a:solidFill>
                <a:latin typeface="Paperlogy 4 Regular"/>
              </a:rPr>
              <a:t> 작성 타임라인</a:t>
            </a:r>
            <a:endParaRPr sz="3200" b="1" dirty="0">
              <a:solidFill>
                <a:srgbClr val="1F3B57"/>
              </a:solidFill>
              <a:latin typeface="Paperlogy 4 Regula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250000"/>
            <a:ext cx="4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Paperlogy 4 Regular"/>
              </a:rPr>
              <a:t>2026. 09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Connector 13"/>
          <p:cNvCxnSpPr>
            <a:cxnSpLocks/>
            <a:stCxn id="10" idx="2"/>
            <a:endCxn id="12" idx="0"/>
          </p:cNvCxnSpPr>
          <p:nvPr/>
        </p:nvCxnSpPr>
        <p:spPr>
          <a:xfrm>
            <a:off x="2728418" y="2605423"/>
            <a:ext cx="0" cy="1149613"/>
          </a:xfrm>
          <a:prstGeom prst="line">
            <a:avLst/>
          </a:prstGeom>
          <a:ln w="13970">
            <a:solidFill>
              <a:srgbClr val="C9A03C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>
            <a:cxnSpLocks/>
            <a:stCxn id="17" idx="2"/>
            <a:endCxn id="19" idx="0"/>
          </p:cNvCxnSpPr>
          <p:nvPr/>
        </p:nvCxnSpPr>
        <p:spPr>
          <a:xfrm>
            <a:off x="4349300" y="2605423"/>
            <a:ext cx="0" cy="1149613"/>
          </a:xfrm>
          <a:prstGeom prst="line">
            <a:avLst/>
          </a:prstGeom>
          <a:ln w="13970">
            <a:solidFill>
              <a:srgbClr val="C9A03C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>
            <a:cxnSpLocks/>
            <a:stCxn id="24" idx="2"/>
            <a:endCxn id="26" idx="0"/>
          </p:cNvCxnSpPr>
          <p:nvPr/>
        </p:nvCxnSpPr>
        <p:spPr>
          <a:xfrm>
            <a:off x="5970182" y="2605423"/>
            <a:ext cx="0" cy="1149613"/>
          </a:xfrm>
          <a:prstGeom prst="line">
            <a:avLst/>
          </a:prstGeom>
          <a:ln w="13970">
            <a:solidFill>
              <a:srgbClr val="C9A03C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>
            <a:cxnSpLocks/>
            <a:stCxn id="31" idx="2"/>
            <a:endCxn id="33" idx="0"/>
          </p:cNvCxnSpPr>
          <p:nvPr/>
        </p:nvCxnSpPr>
        <p:spPr>
          <a:xfrm>
            <a:off x="7591064" y="2605423"/>
            <a:ext cx="0" cy="1149613"/>
          </a:xfrm>
          <a:prstGeom prst="line">
            <a:avLst/>
          </a:prstGeom>
          <a:ln w="13970">
            <a:solidFill>
              <a:srgbClr val="C9A03C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>
            <a:cxnSpLocks/>
            <a:stCxn id="38" idx="2"/>
          </p:cNvCxnSpPr>
          <p:nvPr/>
        </p:nvCxnSpPr>
        <p:spPr>
          <a:xfrm flipH="1">
            <a:off x="9201193" y="2605423"/>
            <a:ext cx="10753" cy="1264828"/>
          </a:xfrm>
          <a:prstGeom prst="line">
            <a:avLst/>
          </a:prstGeom>
          <a:ln w="13970">
            <a:solidFill>
              <a:srgbClr val="C9A03C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57200" y="137160"/>
            <a:ext cx="11247120" cy="3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 err="1">
                <a:solidFill>
                  <a:srgbClr val="2E75B6"/>
                </a:solidFill>
                <a:latin typeface="Paperlogy 4 Regular"/>
              </a:rPr>
              <a:t>산출물_흐름</a:t>
            </a:r>
            <a:r>
              <a:rPr sz="1400" b="1" dirty="0">
                <a:solidFill>
                  <a:srgbClr val="2E75B6"/>
                </a:solidFill>
                <a:latin typeface="Paperlogy 4 Regular"/>
              </a:rPr>
              <a:t> </a:t>
            </a:r>
            <a:r>
              <a:rPr sz="1400" b="1" dirty="0" err="1">
                <a:solidFill>
                  <a:srgbClr val="2E75B6"/>
                </a:solidFill>
                <a:latin typeface="Paperlogy 4 Regular"/>
              </a:rPr>
              <a:t>부록</a:t>
            </a:r>
            <a:r>
              <a:rPr sz="1400" b="1" dirty="0">
                <a:solidFill>
                  <a:srgbClr val="2E75B6"/>
                </a:solidFill>
                <a:latin typeface="Paperlogy 4 Regular"/>
              </a:rPr>
              <a:t> · </a:t>
            </a:r>
            <a:r>
              <a:rPr sz="1400" b="1" dirty="0" err="1">
                <a:solidFill>
                  <a:srgbClr val="2E75B6"/>
                </a:solidFill>
                <a:latin typeface="Paperlogy 4 Regular"/>
              </a:rPr>
              <a:t>방법론</a:t>
            </a:r>
            <a:r>
              <a:rPr sz="1400" b="1" dirty="0">
                <a:solidFill>
                  <a:srgbClr val="2E75B6"/>
                </a:solidFill>
                <a:latin typeface="Paperlogy 4 Regular"/>
              </a:rPr>
              <a:t> 3.3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199" y="914399"/>
            <a:ext cx="11025957" cy="45719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233381"/>
            <a:ext cx="1300671" cy="1372042"/>
          </a:xfrm>
          <a:prstGeom prst="roundRect">
            <a:avLst/>
          </a:prstGeom>
          <a:solidFill>
            <a:srgbClr val="ECECEC"/>
          </a:solidFill>
          <a:ln w="9525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150000"/>
              </a:lnSpc>
            </a:pPr>
            <a:r>
              <a:rPr sz="900" b="0">
                <a:solidFill>
                  <a:srgbClr val="999999"/>
                </a:solidFill>
                <a:latin typeface="Paperlogy 4 Regular"/>
              </a:rPr>
              <a:t>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9293" y="2900485"/>
            <a:ext cx="936484" cy="400000"/>
          </a:xfrm>
          <a:prstGeom prst="roundRect">
            <a:avLst/>
          </a:prstGeom>
          <a:solidFill>
            <a:srgbClr val="1B4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" tIns="18288" rIns="13716" bIns="18288" rtlCol="0" anchor="ctr"/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Paperlogy 4 Regular"/>
              </a:rPr>
              <a:t>착수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755036"/>
            <a:ext cx="1300671" cy="1980000"/>
          </a:xfrm>
          <a:prstGeom prst="roundRect">
            <a:avLst/>
          </a:prstGeom>
          <a:solidFill>
            <a:srgbClr val="EAF1F8"/>
          </a:solidFill>
          <a:ln w="9525">
            <a:solidFill>
              <a:srgbClr val="CC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150000"/>
              </a:lnSpc>
            </a:pPr>
            <a:r>
              <a:rPr sz="900" b="0" dirty="0" err="1">
                <a:solidFill>
                  <a:srgbClr val="1B4F78"/>
                </a:solidFill>
                <a:latin typeface="Paperlogy 4 Regular"/>
              </a:rPr>
              <a:t>문제정의서</a:t>
            </a:r>
            <a:endParaRPr sz="900" b="0" dirty="0">
              <a:solidFill>
                <a:srgbClr val="1B4F78"/>
              </a:solidFill>
              <a:latin typeface="Paperlogy 4 Regular"/>
            </a:endParaRPr>
          </a:p>
          <a:p>
            <a:pPr algn="ctr">
              <a:lnSpc>
                <a:spcPct val="150000"/>
              </a:lnSpc>
            </a:pPr>
            <a:r>
              <a:rPr sz="900" b="0" dirty="0" err="1">
                <a:solidFill>
                  <a:srgbClr val="1B4F78"/>
                </a:solidFill>
                <a:latin typeface="Paperlogy 4 Regular"/>
              </a:rPr>
              <a:t>목표·KPI</a:t>
            </a:r>
            <a:endParaRPr sz="900" b="0" dirty="0">
              <a:solidFill>
                <a:srgbClr val="1B4F78"/>
              </a:solidFill>
              <a:latin typeface="Paperlogy 4 Regular"/>
            </a:endParaRPr>
          </a:p>
          <a:p>
            <a:pPr algn="ctr">
              <a:lnSpc>
                <a:spcPct val="150000"/>
              </a:lnSpc>
            </a:pPr>
            <a:r>
              <a:rPr sz="900" b="0" dirty="0" err="1">
                <a:solidFill>
                  <a:srgbClr val="1B4F78"/>
                </a:solidFill>
                <a:latin typeface="Paperlogy 4 Regular"/>
              </a:rPr>
              <a:t>이해관계자맵</a:t>
            </a:r>
            <a:endParaRPr sz="900" b="0" dirty="0">
              <a:solidFill>
                <a:srgbClr val="1B4F78"/>
              </a:solidFill>
              <a:latin typeface="Paperlogy 4 Regular"/>
            </a:endParaRPr>
          </a:p>
          <a:p>
            <a:pPr algn="ctr">
              <a:lnSpc>
                <a:spcPct val="150000"/>
              </a:lnSpc>
            </a:pPr>
            <a:r>
              <a:rPr sz="900" b="0" dirty="0" err="1">
                <a:solidFill>
                  <a:srgbClr val="1B4F78"/>
                </a:solidFill>
                <a:latin typeface="Paperlogy 4 Regular"/>
              </a:rPr>
              <a:t>범위</a:t>
            </a:r>
            <a:endParaRPr sz="900" b="0" dirty="0">
              <a:solidFill>
                <a:srgbClr val="1B4F78"/>
              </a:solidFill>
              <a:latin typeface="Paperlogy 4 Regular"/>
            </a:endParaRPr>
          </a:p>
          <a:p>
            <a:pPr algn="ctr">
              <a:lnSpc>
                <a:spcPct val="150000"/>
              </a:lnSpc>
            </a:pPr>
            <a:r>
              <a:rPr sz="900" b="0" dirty="0" err="1">
                <a:solidFill>
                  <a:srgbClr val="1B4F78"/>
                </a:solidFill>
                <a:latin typeface="Paperlogy 4 Regular"/>
              </a:rPr>
              <a:t>대안비교</a:t>
            </a:r>
            <a:endParaRPr sz="900" b="0" dirty="0">
              <a:solidFill>
                <a:srgbClr val="1B4F78"/>
              </a:solidFill>
              <a:latin typeface="Paperlogy 4 Regular"/>
            </a:endParaRPr>
          </a:p>
          <a:p>
            <a:pPr algn="ctr">
              <a:lnSpc>
                <a:spcPct val="150000"/>
              </a:lnSpc>
            </a:pPr>
            <a:r>
              <a:rPr sz="900" b="0" dirty="0" err="1">
                <a:solidFill>
                  <a:srgbClr val="1B4F78"/>
                </a:solidFill>
                <a:latin typeface="Paperlogy 4 Regular"/>
              </a:rPr>
              <a:t>리스크·가정</a:t>
            </a:r>
            <a:endParaRPr sz="900" b="0" dirty="0">
              <a:solidFill>
                <a:srgbClr val="1B4F78"/>
              </a:solidFill>
              <a:latin typeface="Paperlogy 4 Regular"/>
            </a:endParaRPr>
          </a:p>
        </p:txBody>
      </p:sp>
      <p:cxnSp>
        <p:nvCxnSpPr>
          <p:cNvPr id="9" name="Connector 8"/>
          <p:cNvCxnSpPr>
            <a:cxnSpLocks/>
          </p:cNvCxnSpPr>
          <p:nvPr/>
        </p:nvCxnSpPr>
        <p:spPr>
          <a:xfrm>
            <a:off x="1742380" y="3100485"/>
            <a:ext cx="421650" cy="0"/>
          </a:xfrm>
          <a:prstGeom prst="line">
            <a:avLst/>
          </a:prstGeom>
          <a:ln w="15875">
            <a:solidFill>
              <a:srgbClr val="2E75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078082" y="1233381"/>
            <a:ext cx="1300671" cy="1372042"/>
          </a:xfrm>
          <a:prstGeom prst="roundRect">
            <a:avLst/>
          </a:prstGeom>
          <a:solidFill>
            <a:srgbClr val="FDF1C7"/>
          </a:solidFill>
          <a:ln w="9525">
            <a:solidFill>
              <a:srgbClr val="E3C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150000"/>
              </a:lnSpc>
            </a:pPr>
            <a:r>
              <a:rPr sz="900" b="1" dirty="0">
                <a:solidFill>
                  <a:srgbClr val="7A5C00"/>
                </a:solidFill>
                <a:latin typeface="Paperlogy 4 Regular"/>
              </a:rPr>
              <a:t>C1 </a:t>
            </a:r>
            <a:r>
              <a:rPr sz="900" b="1" dirty="0" err="1">
                <a:solidFill>
                  <a:srgbClr val="7A5C00"/>
                </a:solidFill>
                <a:latin typeface="Paperlogy 4 Regular"/>
              </a:rPr>
              <a:t>보안</a:t>
            </a:r>
            <a:endParaRPr sz="900" b="1" dirty="0">
              <a:solidFill>
                <a:srgbClr val="7A5C00"/>
              </a:solidFill>
              <a:latin typeface="Paperlogy 4 Regular"/>
            </a:endParaRPr>
          </a:p>
          <a:p>
            <a:pPr algn="ctr">
              <a:lnSpc>
                <a:spcPct val="150000"/>
              </a:lnSpc>
            </a:pPr>
            <a:r>
              <a:rPr sz="900" b="1" dirty="0">
                <a:solidFill>
                  <a:srgbClr val="7A5C00"/>
                </a:solidFill>
                <a:latin typeface="Paperlogy 4 Regular"/>
              </a:rPr>
              <a:t>C2 </a:t>
            </a:r>
            <a:r>
              <a:rPr sz="900" b="1" dirty="0" err="1">
                <a:solidFill>
                  <a:srgbClr val="7A5C00"/>
                </a:solidFill>
                <a:latin typeface="Paperlogy 4 Regular"/>
              </a:rPr>
              <a:t>용어</a:t>
            </a:r>
            <a:endParaRPr sz="900" b="1" dirty="0">
              <a:solidFill>
                <a:srgbClr val="7A5C00"/>
              </a:solidFill>
              <a:latin typeface="Paperlogy 4 Regular"/>
            </a:endParaRPr>
          </a:p>
          <a:p>
            <a:pPr algn="ctr">
              <a:lnSpc>
                <a:spcPct val="150000"/>
              </a:lnSpc>
            </a:pPr>
            <a:r>
              <a:rPr sz="900" b="1" dirty="0">
                <a:solidFill>
                  <a:srgbClr val="7A5C00"/>
                </a:solidFill>
                <a:latin typeface="Paperlogy 4 Regular"/>
              </a:rPr>
              <a:t>C3 </a:t>
            </a:r>
            <a:r>
              <a:rPr sz="900" b="1" dirty="0" err="1">
                <a:solidFill>
                  <a:srgbClr val="7A5C00"/>
                </a:solidFill>
                <a:latin typeface="Paperlogy 4 Regular"/>
              </a:rPr>
              <a:t>아키텍처</a:t>
            </a:r>
            <a:endParaRPr sz="900" b="1" dirty="0">
              <a:solidFill>
                <a:srgbClr val="7A5C00"/>
              </a:solidFill>
              <a:latin typeface="Paperlogy 4 Regular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078082" y="3755036"/>
            <a:ext cx="1300671" cy="1980000"/>
          </a:xfrm>
          <a:prstGeom prst="roundRect">
            <a:avLst/>
          </a:prstGeom>
          <a:solidFill>
            <a:srgbClr val="EAF1F8"/>
          </a:solidFill>
          <a:ln w="9525">
            <a:solidFill>
              <a:srgbClr val="CC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150000"/>
              </a:lnSpc>
            </a:pPr>
            <a:r>
              <a:rPr sz="900" b="0" dirty="0" err="1">
                <a:solidFill>
                  <a:srgbClr val="1B4F78"/>
                </a:solidFill>
                <a:latin typeface="Paperlogy 4 Regular"/>
              </a:rPr>
              <a:t>제약사항</a:t>
            </a:r>
            <a:endParaRPr sz="900" b="0" dirty="0">
              <a:solidFill>
                <a:srgbClr val="1B4F78"/>
              </a:solidFill>
              <a:latin typeface="Paperlogy 4 Regular"/>
            </a:endParaRPr>
          </a:p>
          <a:p>
            <a:pPr algn="ctr">
              <a:lnSpc>
                <a:spcPct val="150000"/>
              </a:lnSpc>
            </a:pPr>
            <a:r>
              <a:rPr sz="900" b="0" dirty="0">
                <a:solidFill>
                  <a:srgbClr val="1B4F78"/>
                </a:solidFill>
                <a:latin typeface="Paperlogy 4 Regular"/>
              </a:rPr>
              <a:t>NFR</a:t>
            </a:r>
          </a:p>
          <a:p>
            <a:pPr algn="ctr">
              <a:lnSpc>
                <a:spcPct val="150000"/>
              </a:lnSpc>
            </a:pPr>
            <a:r>
              <a:rPr sz="900" b="0" dirty="0" err="1">
                <a:solidFill>
                  <a:srgbClr val="1B4F78"/>
                </a:solidFill>
                <a:latin typeface="Paperlogy 4 Regular"/>
              </a:rPr>
              <a:t>컴포넌트</a:t>
            </a:r>
            <a:endParaRPr sz="900" b="0" dirty="0">
              <a:solidFill>
                <a:srgbClr val="1B4F78"/>
              </a:solidFill>
              <a:latin typeface="Paperlogy 4 Regular"/>
            </a:endParaRPr>
          </a:p>
          <a:p>
            <a:pPr algn="ctr">
              <a:lnSpc>
                <a:spcPct val="150000"/>
              </a:lnSpc>
            </a:pPr>
            <a:r>
              <a:rPr sz="900" b="0" dirty="0" err="1">
                <a:solidFill>
                  <a:srgbClr val="1B4F78"/>
                </a:solidFill>
                <a:latin typeface="Paperlogy 4 Regular"/>
              </a:rPr>
              <a:t>시스템구성도</a:t>
            </a:r>
            <a:endParaRPr sz="900" b="0" dirty="0">
              <a:solidFill>
                <a:srgbClr val="1B4F78"/>
              </a:solidFill>
              <a:latin typeface="Paperlogy 4 Regular"/>
            </a:endParaRPr>
          </a:p>
          <a:p>
            <a:pPr algn="ctr">
              <a:lnSpc>
                <a:spcPct val="150000"/>
              </a:lnSpc>
            </a:pPr>
            <a:r>
              <a:rPr sz="900" b="0" dirty="0" err="1">
                <a:solidFill>
                  <a:srgbClr val="00B050"/>
                </a:solidFill>
                <a:latin typeface="Paperlogy 4 Regular"/>
              </a:rPr>
              <a:t>도메인정의서</a:t>
            </a:r>
            <a:endParaRPr sz="900" b="0" dirty="0">
              <a:solidFill>
                <a:srgbClr val="00B050"/>
              </a:solidFill>
              <a:latin typeface="Paperlogy 4 Regular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772933" y="2699093"/>
            <a:ext cx="251369" cy="1077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sz="700" b="1">
                <a:solidFill>
                  <a:srgbClr val="C9A03C"/>
                </a:solidFill>
                <a:latin typeface="Paperlogy 4 Regular"/>
              </a:rPr>
              <a:t>참고</a:t>
            </a:r>
          </a:p>
        </p:txBody>
      </p:sp>
      <p:cxnSp>
        <p:nvCxnSpPr>
          <p:cNvPr id="16" name="Connector 15"/>
          <p:cNvCxnSpPr>
            <a:cxnSpLocks/>
          </p:cNvCxnSpPr>
          <p:nvPr/>
        </p:nvCxnSpPr>
        <p:spPr>
          <a:xfrm>
            <a:off x="3363262" y="3100485"/>
            <a:ext cx="421650" cy="0"/>
          </a:xfrm>
          <a:prstGeom prst="line">
            <a:avLst/>
          </a:prstGeom>
          <a:ln w="15875">
            <a:solidFill>
              <a:srgbClr val="2E75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698964" y="1233381"/>
            <a:ext cx="1300671" cy="1372042"/>
          </a:xfrm>
          <a:prstGeom prst="roundRect">
            <a:avLst/>
          </a:prstGeom>
          <a:solidFill>
            <a:srgbClr val="FDF1C7"/>
          </a:solidFill>
          <a:ln w="9525">
            <a:solidFill>
              <a:srgbClr val="E3C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150000"/>
              </a:lnSpc>
            </a:pPr>
            <a:r>
              <a:rPr sz="900" b="1">
                <a:solidFill>
                  <a:srgbClr val="7A5C00"/>
                </a:solidFill>
                <a:latin typeface="Paperlogy 4 Regular"/>
              </a:rPr>
              <a:t>C2 용어</a:t>
            </a:r>
          </a:p>
          <a:p>
            <a:pPr algn="ctr">
              <a:lnSpc>
                <a:spcPct val="150000"/>
              </a:lnSpc>
            </a:pPr>
            <a:r>
              <a:rPr sz="900" b="1">
                <a:solidFill>
                  <a:srgbClr val="7A5C00"/>
                </a:solidFill>
                <a:latin typeface="Paperlogy 4 Regular"/>
              </a:rPr>
              <a:t>C3 아키텍처</a:t>
            </a:r>
          </a:p>
          <a:p>
            <a:pPr algn="ctr">
              <a:lnSpc>
                <a:spcPct val="150000"/>
              </a:lnSpc>
            </a:pPr>
            <a:r>
              <a:rPr sz="900" b="1">
                <a:solidFill>
                  <a:srgbClr val="7A5C00"/>
                </a:solidFill>
                <a:latin typeface="Paperlogy 4 Regular"/>
              </a:rPr>
              <a:t>C4 데이터</a:t>
            </a:r>
          </a:p>
          <a:p>
            <a:pPr algn="ctr">
              <a:lnSpc>
                <a:spcPct val="150000"/>
              </a:lnSpc>
            </a:pPr>
            <a:r>
              <a:rPr sz="900" b="1">
                <a:solidFill>
                  <a:srgbClr val="7A5C00"/>
                </a:solidFill>
                <a:latin typeface="Paperlogy 4 Regular"/>
              </a:rPr>
              <a:t>C5 이벤트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1057" y="2900485"/>
            <a:ext cx="936484" cy="400000"/>
          </a:xfrm>
          <a:prstGeom prst="roundRect">
            <a:avLst/>
          </a:prstGeom>
          <a:solidFill>
            <a:srgbClr val="1B4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" tIns="18288" rIns="13716" bIns="18288" rtlCol="0" anchor="ctr"/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Paperlogy 4 Regular"/>
              </a:rPr>
              <a:t>구조설계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98964" y="3755036"/>
            <a:ext cx="1300671" cy="1980000"/>
          </a:xfrm>
          <a:prstGeom prst="roundRect">
            <a:avLst/>
          </a:prstGeom>
          <a:solidFill>
            <a:srgbClr val="EAF1F8"/>
          </a:solidFill>
          <a:ln w="9525">
            <a:solidFill>
              <a:srgbClr val="CC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150000"/>
              </a:lnSpc>
            </a:pPr>
            <a:r>
              <a:rPr sz="900" b="0" dirty="0" err="1">
                <a:solidFill>
                  <a:srgbClr val="00B050"/>
                </a:solidFill>
                <a:latin typeface="Paperlogy 4 Regular"/>
              </a:rPr>
              <a:t>상위UC</a:t>
            </a:r>
            <a:endParaRPr sz="900" b="0" dirty="0">
              <a:solidFill>
                <a:srgbClr val="00B050"/>
              </a:solidFill>
              <a:latin typeface="Paperlogy 4 Regular"/>
            </a:endParaRPr>
          </a:p>
          <a:p>
            <a:pPr algn="ctr">
              <a:lnSpc>
                <a:spcPct val="150000"/>
              </a:lnSpc>
            </a:pPr>
            <a:r>
              <a:rPr sz="900" b="0" dirty="0" err="1">
                <a:solidFill>
                  <a:srgbClr val="FF0000"/>
                </a:solidFill>
                <a:latin typeface="Paperlogy 4 Regular"/>
              </a:rPr>
              <a:t>메뉴구조도</a:t>
            </a:r>
            <a:endParaRPr sz="900" b="0" dirty="0">
              <a:solidFill>
                <a:srgbClr val="FF0000"/>
              </a:solidFill>
              <a:latin typeface="Paperlogy 4 Regular"/>
            </a:endParaRPr>
          </a:p>
          <a:p>
            <a:pPr algn="ctr">
              <a:lnSpc>
                <a:spcPct val="150000"/>
              </a:lnSpc>
            </a:pPr>
            <a:r>
              <a:rPr sz="900" b="0" dirty="0">
                <a:solidFill>
                  <a:srgbClr val="00B050"/>
                </a:solidFill>
                <a:latin typeface="Paperlogy 4 Regular"/>
              </a:rPr>
              <a:t>EARS</a:t>
            </a:r>
          </a:p>
          <a:p>
            <a:pPr algn="ctr">
              <a:lnSpc>
                <a:spcPct val="150000"/>
              </a:lnSpc>
            </a:pPr>
            <a:r>
              <a:rPr sz="900" b="0" dirty="0">
                <a:solidFill>
                  <a:srgbClr val="1B4F78"/>
                </a:solidFill>
                <a:latin typeface="Paperlogy 4 Regular"/>
              </a:rPr>
              <a:t>ERD</a:t>
            </a:r>
          </a:p>
          <a:p>
            <a:pPr algn="ctr">
              <a:lnSpc>
                <a:spcPct val="150000"/>
              </a:lnSpc>
            </a:pPr>
            <a:r>
              <a:rPr sz="900" b="0" dirty="0" err="1">
                <a:solidFill>
                  <a:srgbClr val="1B4F78"/>
                </a:solidFill>
                <a:latin typeface="Paperlogy 4 Regular"/>
              </a:rPr>
              <a:t>상태머신</a:t>
            </a:r>
            <a:endParaRPr sz="900" b="0" dirty="0">
              <a:solidFill>
                <a:srgbClr val="1B4F78"/>
              </a:solidFill>
              <a:latin typeface="Paperlogy 4 Regular"/>
            </a:endParaRPr>
          </a:p>
          <a:p>
            <a:pPr algn="ctr">
              <a:lnSpc>
                <a:spcPct val="150000"/>
              </a:lnSpc>
            </a:pPr>
            <a:r>
              <a:rPr sz="900" b="0" dirty="0" err="1">
                <a:solidFill>
                  <a:srgbClr val="1B4F78"/>
                </a:solidFill>
                <a:latin typeface="Paperlogy 4 Regular"/>
              </a:rPr>
              <a:t>비즈니스프로세스</a:t>
            </a:r>
            <a:endParaRPr sz="900" b="0" dirty="0">
              <a:solidFill>
                <a:srgbClr val="1B4F78"/>
              </a:solidFill>
              <a:latin typeface="Paperlogy 4 Regular"/>
            </a:endParaRPr>
          </a:p>
          <a:p>
            <a:pPr algn="ctr">
              <a:lnSpc>
                <a:spcPct val="150000"/>
              </a:lnSpc>
            </a:pPr>
            <a:r>
              <a:rPr sz="900" b="0" dirty="0" err="1">
                <a:solidFill>
                  <a:srgbClr val="1B4F78"/>
                </a:solidFill>
                <a:latin typeface="Paperlogy 4 Regular"/>
              </a:rPr>
              <a:t>이벤트플로우</a:t>
            </a:r>
            <a:endParaRPr sz="900" b="0" dirty="0">
              <a:solidFill>
                <a:srgbClr val="1B4F78"/>
              </a:solidFill>
              <a:latin typeface="Paperlogy 4 Regular"/>
            </a:endParaRPr>
          </a:p>
        </p:txBody>
      </p:sp>
      <p:cxnSp>
        <p:nvCxnSpPr>
          <p:cNvPr id="23" name="Connector 22"/>
          <p:cNvCxnSpPr>
            <a:cxnSpLocks/>
          </p:cNvCxnSpPr>
          <p:nvPr/>
        </p:nvCxnSpPr>
        <p:spPr>
          <a:xfrm>
            <a:off x="4984144" y="3100485"/>
            <a:ext cx="421650" cy="0"/>
          </a:xfrm>
          <a:prstGeom prst="line">
            <a:avLst/>
          </a:prstGeom>
          <a:ln w="15875">
            <a:solidFill>
              <a:srgbClr val="2E75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319846" y="1233381"/>
            <a:ext cx="1300671" cy="1372042"/>
          </a:xfrm>
          <a:prstGeom prst="roundRect">
            <a:avLst/>
          </a:prstGeom>
          <a:solidFill>
            <a:srgbClr val="FDF1C7"/>
          </a:solidFill>
          <a:ln w="9525">
            <a:solidFill>
              <a:srgbClr val="E3C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150000"/>
              </a:lnSpc>
            </a:pPr>
            <a:r>
              <a:rPr sz="900" b="1" dirty="0">
                <a:solidFill>
                  <a:srgbClr val="7A5C00"/>
                </a:solidFill>
                <a:latin typeface="Paperlogy 4 Regular"/>
              </a:rPr>
              <a:t>C3 </a:t>
            </a:r>
            <a:r>
              <a:rPr sz="900" b="1" dirty="0" err="1">
                <a:solidFill>
                  <a:srgbClr val="7A5C00"/>
                </a:solidFill>
                <a:latin typeface="Paperlogy 4 Regular"/>
              </a:rPr>
              <a:t>아키텍처</a:t>
            </a:r>
            <a:endParaRPr sz="900" b="1" dirty="0">
              <a:solidFill>
                <a:srgbClr val="7A5C00"/>
              </a:solidFill>
              <a:latin typeface="Paperlogy 4 Regular"/>
            </a:endParaRPr>
          </a:p>
          <a:p>
            <a:pPr algn="ctr">
              <a:lnSpc>
                <a:spcPct val="150000"/>
              </a:lnSpc>
            </a:pPr>
            <a:r>
              <a:rPr sz="900" b="1" dirty="0">
                <a:solidFill>
                  <a:srgbClr val="7A5C00"/>
                </a:solidFill>
                <a:latin typeface="Paperlogy 4 Regular"/>
              </a:rPr>
              <a:t>C5 </a:t>
            </a:r>
            <a:r>
              <a:rPr sz="900" b="1" dirty="0" err="1">
                <a:solidFill>
                  <a:srgbClr val="7A5C00"/>
                </a:solidFill>
                <a:latin typeface="Paperlogy 4 Regular"/>
              </a:rPr>
              <a:t>이벤트</a:t>
            </a:r>
            <a:endParaRPr sz="900" b="1" dirty="0">
              <a:solidFill>
                <a:srgbClr val="7A5C00"/>
              </a:solidFill>
              <a:latin typeface="Paperlogy 4 Regular"/>
            </a:endParaRPr>
          </a:p>
          <a:p>
            <a:pPr algn="ctr">
              <a:lnSpc>
                <a:spcPct val="150000"/>
              </a:lnSpc>
            </a:pPr>
            <a:r>
              <a:rPr sz="900" b="1" dirty="0">
                <a:solidFill>
                  <a:srgbClr val="7A5C00"/>
                </a:solidFill>
                <a:latin typeface="Paperlogy 4 Regular"/>
              </a:rPr>
              <a:t>C6 API</a:t>
            </a:r>
          </a:p>
          <a:p>
            <a:pPr algn="ctr">
              <a:lnSpc>
                <a:spcPct val="150000"/>
              </a:lnSpc>
            </a:pPr>
            <a:r>
              <a:rPr sz="900" b="1" dirty="0">
                <a:solidFill>
                  <a:srgbClr val="FF0000"/>
                </a:solidFill>
                <a:latin typeface="Paperlogy 4 Regular"/>
              </a:rPr>
              <a:t>C7 </a:t>
            </a:r>
            <a:r>
              <a:rPr sz="900" b="1" dirty="0" err="1">
                <a:solidFill>
                  <a:srgbClr val="FF0000"/>
                </a:solidFill>
                <a:latin typeface="Paperlogy 4 Regular"/>
              </a:rPr>
              <a:t>디자인시스템</a:t>
            </a:r>
            <a:endParaRPr sz="900" b="1" dirty="0">
              <a:solidFill>
                <a:srgbClr val="FF0000"/>
              </a:solidFill>
              <a:latin typeface="Paperlogy 4 Regular"/>
            </a:endParaRPr>
          </a:p>
          <a:p>
            <a:pPr algn="ctr">
              <a:lnSpc>
                <a:spcPct val="150000"/>
              </a:lnSpc>
            </a:pPr>
            <a:r>
              <a:rPr sz="900" b="1" dirty="0">
                <a:solidFill>
                  <a:srgbClr val="FF0000"/>
                </a:solidFill>
                <a:latin typeface="Paperlogy 4 Regular"/>
              </a:rPr>
              <a:t>C8 UX Writing</a:t>
            </a:r>
          </a:p>
          <a:p>
            <a:pPr algn="ctr">
              <a:lnSpc>
                <a:spcPct val="150000"/>
              </a:lnSpc>
            </a:pPr>
            <a:r>
              <a:rPr sz="900" b="1" dirty="0">
                <a:solidFill>
                  <a:srgbClr val="7A5C00"/>
                </a:solidFill>
                <a:latin typeface="Paperlogy 4 Regular"/>
              </a:rPr>
              <a:t>C9 </a:t>
            </a:r>
            <a:r>
              <a:rPr sz="900" b="1" dirty="0" err="1">
                <a:solidFill>
                  <a:srgbClr val="7A5C00"/>
                </a:solidFill>
                <a:latin typeface="Paperlogy 4 Regular"/>
              </a:rPr>
              <a:t>코딩</a:t>
            </a:r>
            <a:endParaRPr sz="900" b="1" dirty="0">
              <a:solidFill>
                <a:srgbClr val="7A5C00"/>
              </a:solidFill>
              <a:latin typeface="Paperlogy 4 Regular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501939" y="2900485"/>
            <a:ext cx="936484" cy="400000"/>
          </a:xfrm>
          <a:prstGeom prst="roundRect">
            <a:avLst/>
          </a:prstGeom>
          <a:solidFill>
            <a:srgbClr val="1B4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" tIns="18288" rIns="13716" bIns="18288" rtlCol="0" anchor="ctr"/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Paperlogy 4 Regular"/>
              </a:rPr>
              <a:t>상세설계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19846" y="3755036"/>
            <a:ext cx="1300671" cy="1980000"/>
          </a:xfrm>
          <a:prstGeom prst="roundRect">
            <a:avLst/>
          </a:prstGeom>
          <a:solidFill>
            <a:srgbClr val="EAF1F8"/>
          </a:solidFill>
          <a:ln w="9525">
            <a:solidFill>
              <a:srgbClr val="CC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150000"/>
              </a:lnSpc>
            </a:pPr>
            <a:r>
              <a:rPr sz="900" b="0" dirty="0">
                <a:solidFill>
                  <a:srgbClr val="1B4F78"/>
                </a:solidFill>
                <a:latin typeface="Paperlogy 4 Regular"/>
              </a:rPr>
              <a:t>GWT</a:t>
            </a:r>
          </a:p>
          <a:p>
            <a:pPr algn="ctr">
              <a:lnSpc>
                <a:spcPct val="150000"/>
              </a:lnSpc>
            </a:pPr>
            <a:r>
              <a:rPr sz="900" b="0" dirty="0" err="1">
                <a:solidFill>
                  <a:srgbClr val="FF0000"/>
                </a:solidFill>
                <a:latin typeface="Paperlogy 4 Regular"/>
              </a:rPr>
              <a:t>세부UC</a:t>
            </a:r>
            <a:endParaRPr sz="900" b="0" dirty="0">
              <a:solidFill>
                <a:srgbClr val="FF0000"/>
              </a:solidFill>
              <a:latin typeface="Paperlogy 4 Regular"/>
            </a:endParaRPr>
          </a:p>
          <a:p>
            <a:pPr algn="ctr">
              <a:lnSpc>
                <a:spcPct val="150000"/>
              </a:lnSpc>
            </a:pPr>
            <a:r>
              <a:rPr sz="900" b="0" dirty="0" err="1">
                <a:solidFill>
                  <a:srgbClr val="1B4F78"/>
                </a:solidFill>
                <a:latin typeface="Paperlogy 4 Regular"/>
              </a:rPr>
              <a:t>인터페이스명세</a:t>
            </a:r>
            <a:endParaRPr sz="900" b="0" dirty="0">
              <a:solidFill>
                <a:srgbClr val="1B4F78"/>
              </a:solidFill>
              <a:latin typeface="Paperlogy 4 Regular"/>
            </a:endParaRPr>
          </a:p>
          <a:p>
            <a:pPr algn="ctr">
              <a:lnSpc>
                <a:spcPct val="150000"/>
              </a:lnSpc>
            </a:pPr>
            <a:r>
              <a:rPr sz="900" b="0" dirty="0" err="1">
                <a:solidFill>
                  <a:srgbClr val="1B4F78"/>
                </a:solidFill>
                <a:latin typeface="Paperlogy 4 Regular"/>
              </a:rPr>
              <a:t>시퀀스</a:t>
            </a:r>
            <a:endParaRPr sz="900" b="0" dirty="0">
              <a:solidFill>
                <a:srgbClr val="1B4F78"/>
              </a:solidFill>
              <a:latin typeface="Paperlogy 4 Regular"/>
            </a:endParaRPr>
          </a:p>
          <a:p>
            <a:pPr algn="ctr">
              <a:lnSpc>
                <a:spcPct val="150000"/>
              </a:lnSpc>
            </a:pPr>
            <a:r>
              <a:rPr sz="900" b="0" dirty="0" err="1">
                <a:solidFill>
                  <a:srgbClr val="FF0000"/>
                </a:solidFill>
                <a:latin typeface="Paperlogy 4 Regular"/>
              </a:rPr>
              <a:t>화면레이아웃</a:t>
            </a:r>
            <a:endParaRPr sz="900" b="0" dirty="0">
              <a:solidFill>
                <a:srgbClr val="FF0000"/>
              </a:solidFill>
              <a:latin typeface="Paperlogy 4 Regular"/>
            </a:endParaRPr>
          </a:p>
          <a:p>
            <a:pPr algn="ctr">
              <a:lnSpc>
                <a:spcPct val="150000"/>
              </a:lnSpc>
            </a:pPr>
            <a:r>
              <a:rPr sz="900" b="0" dirty="0">
                <a:solidFill>
                  <a:srgbClr val="1B4F78"/>
                </a:solidFill>
                <a:latin typeface="Paperlogy 4 Regular"/>
              </a:rPr>
              <a:t>ADR</a:t>
            </a:r>
          </a:p>
          <a:p>
            <a:pPr algn="ctr">
              <a:lnSpc>
                <a:spcPct val="150000"/>
              </a:lnSpc>
            </a:pPr>
            <a:r>
              <a:rPr sz="900" b="0" dirty="0" err="1">
                <a:solidFill>
                  <a:srgbClr val="1B4F78"/>
                </a:solidFill>
                <a:latin typeface="Paperlogy 4 Regular"/>
              </a:rPr>
              <a:t>클래스설계</a:t>
            </a:r>
            <a:endParaRPr sz="900" b="0" dirty="0">
              <a:solidFill>
                <a:srgbClr val="1B4F78"/>
              </a:solidFill>
              <a:latin typeface="Paperlogy 4 Regular"/>
            </a:endParaRPr>
          </a:p>
          <a:p>
            <a:pPr algn="ctr">
              <a:lnSpc>
                <a:spcPct val="150000"/>
              </a:lnSpc>
            </a:pPr>
            <a:r>
              <a:rPr sz="900" b="0" dirty="0" err="1">
                <a:solidFill>
                  <a:srgbClr val="1B4F78"/>
                </a:solidFill>
                <a:latin typeface="Paperlogy 4 Regular"/>
              </a:rPr>
              <a:t>프로그램목록</a:t>
            </a:r>
            <a:endParaRPr sz="900" b="0" dirty="0">
              <a:solidFill>
                <a:srgbClr val="1B4F78"/>
              </a:solidFill>
              <a:latin typeface="Paperlogy 4 Regular"/>
            </a:endParaRPr>
          </a:p>
        </p:txBody>
      </p:sp>
      <p:cxnSp>
        <p:nvCxnSpPr>
          <p:cNvPr id="30" name="Connector 29"/>
          <p:cNvCxnSpPr>
            <a:cxnSpLocks/>
          </p:cNvCxnSpPr>
          <p:nvPr/>
        </p:nvCxnSpPr>
        <p:spPr>
          <a:xfrm>
            <a:off x="6605026" y="3100485"/>
            <a:ext cx="421650" cy="0"/>
          </a:xfrm>
          <a:prstGeom prst="line">
            <a:avLst/>
          </a:prstGeom>
          <a:ln w="15875">
            <a:solidFill>
              <a:srgbClr val="2E75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940728" y="1233381"/>
            <a:ext cx="1300671" cy="1372042"/>
          </a:xfrm>
          <a:prstGeom prst="roundRect">
            <a:avLst/>
          </a:prstGeom>
          <a:solidFill>
            <a:srgbClr val="FDF1C7"/>
          </a:solidFill>
          <a:ln w="9525">
            <a:solidFill>
              <a:srgbClr val="E3C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150000"/>
              </a:lnSpc>
            </a:pPr>
            <a:r>
              <a:rPr sz="900" b="1" dirty="0">
                <a:solidFill>
                  <a:srgbClr val="7A5C00"/>
                </a:solidFill>
                <a:latin typeface="Paperlogy 4 Regular"/>
              </a:rPr>
              <a:t>C7 </a:t>
            </a:r>
            <a:r>
              <a:rPr sz="900" b="1" dirty="0" err="1">
                <a:solidFill>
                  <a:srgbClr val="7A5C00"/>
                </a:solidFill>
                <a:latin typeface="Paperlogy 4 Regular"/>
              </a:rPr>
              <a:t>디자인시스템</a:t>
            </a:r>
            <a:endParaRPr sz="900" b="1" dirty="0">
              <a:solidFill>
                <a:srgbClr val="7A5C00"/>
              </a:solidFill>
              <a:latin typeface="Paperlogy 4 Regular"/>
            </a:endParaRPr>
          </a:p>
          <a:p>
            <a:pPr algn="ctr">
              <a:lnSpc>
                <a:spcPct val="150000"/>
              </a:lnSpc>
            </a:pPr>
            <a:r>
              <a:rPr sz="900" b="1" dirty="0">
                <a:solidFill>
                  <a:srgbClr val="7A5C00"/>
                </a:solidFill>
                <a:latin typeface="Paperlogy 4 Regular"/>
              </a:rPr>
              <a:t>C8 UX Writing</a:t>
            </a:r>
          </a:p>
          <a:p>
            <a:pPr algn="ctr">
              <a:lnSpc>
                <a:spcPct val="150000"/>
              </a:lnSpc>
            </a:pPr>
            <a:r>
              <a:rPr sz="900" b="1" dirty="0">
                <a:solidFill>
                  <a:srgbClr val="7A5C00"/>
                </a:solidFill>
                <a:latin typeface="Paperlogy 4 Regular"/>
              </a:rPr>
              <a:t>C9 </a:t>
            </a:r>
            <a:r>
              <a:rPr sz="900" b="1" dirty="0" err="1">
                <a:solidFill>
                  <a:srgbClr val="7A5C00"/>
                </a:solidFill>
                <a:latin typeface="Paperlogy 4 Regular"/>
              </a:rPr>
              <a:t>코딩</a:t>
            </a:r>
            <a:endParaRPr sz="900" b="1" dirty="0">
              <a:solidFill>
                <a:srgbClr val="7A5C00"/>
              </a:solidFill>
              <a:latin typeface="Paperlogy 4 Regular"/>
            </a:endParaRPr>
          </a:p>
          <a:p>
            <a:pPr algn="ctr">
              <a:lnSpc>
                <a:spcPct val="150000"/>
              </a:lnSpc>
            </a:pPr>
            <a:r>
              <a:rPr sz="900" b="1" dirty="0">
                <a:solidFill>
                  <a:srgbClr val="FF0000"/>
                </a:solidFill>
                <a:latin typeface="Paperlogy 4 Regular"/>
              </a:rPr>
              <a:t>CA </a:t>
            </a:r>
            <a:r>
              <a:rPr sz="900" b="1" dirty="0" err="1">
                <a:solidFill>
                  <a:srgbClr val="FF0000"/>
                </a:solidFill>
                <a:latin typeface="Paperlogy 4 Regular"/>
              </a:rPr>
              <a:t>테스트</a:t>
            </a:r>
            <a:endParaRPr sz="900" b="1" dirty="0">
              <a:solidFill>
                <a:srgbClr val="FF0000"/>
              </a:solidFill>
              <a:latin typeface="Paperlogy 4 Regular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7122821" y="2900485"/>
            <a:ext cx="936484" cy="400000"/>
          </a:xfrm>
          <a:prstGeom prst="roundRect">
            <a:avLst/>
          </a:prstGeom>
          <a:solidFill>
            <a:srgbClr val="1B4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" tIns="18288" rIns="13716" bIns="18288" rtlCol="0" anchor="ctr"/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Paperlogy 4 Regular"/>
              </a:rPr>
              <a:t>구현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40728" y="3755036"/>
            <a:ext cx="1300671" cy="1980000"/>
          </a:xfrm>
          <a:prstGeom prst="roundRect">
            <a:avLst/>
          </a:prstGeom>
          <a:solidFill>
            <a:srgbClr val="EAF1F8"/>
          </a:solidFill>
          <a:ln w="9525">
            <a:solidFill>
              <a:srgbClr val="CC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150000"/>
              </a:lnSpc>
            </a:pPr>
            <a:r>
              <a:rPr sz="900" b="0">
                <a:solidFill>
                  <a:srgbClr val="1B4F78"/>
                </a:solidFill>
                <a:latin typeface="Paperlogy 4 Regular"/>
              </a:rPr>
              <a:t>코드</a:t>
            </a:r>
          </a:p>
          <a:p>
            <a:pPr algn="ctr">
              <a:lnSpc>
                <a:spcPct val="150000"/>
              </a:lnSpc>
            </a:pPr>
            <a:r>
              <a:rPr sz="900" b="0">
                <a:solidFill>
                  <a:srgbClr val="1B4F78"/>
                </a:solidFill>
                <a:latin typeface="Paperlogy 4 Regular"/>
              </a:rPr>
              <a:t>자동검증 결과</a:t>
            </a:r>
          </a:p>
          <a:p>
            <a:pPr algn="ctr">
              <a:lnSpc>
                <a:spcPct val="150000"/>
              </a:lnSpc>
            </a:pPr>
            <a:r>
              <a:rPr sz="900" b="0">
                <a:solidFill>
                  <a:srgbClr val="1B4F78"/>
                </a:solidFill>
                <a:latin typeface="Paperlogy 4 Regular"/>
              </a:rPr>
              <a:t>단위테스트</a:t>
            </a:r>
          </a:p>
        </p:txBody>
      </p:sp>
      <p:cxnSp>
        <p:nvCxnSpPr>
          <p:cNvPr id="37" name="Connector 36"/>
          <p:cNvCxnSpPr>
            <a:cxnSpLocks/>
          </p:cNvCxnSpPr>
          <p:nvPr/>
        </p:nvCxnSpPr>
        <p:spPr>
          <a:xfrm>
            <a:off x="8225908" y="3100485"/>
            <a:ext cx="421650" cy="0"/>
          </a:xfrm>
          <a:prstGeom prst="line">
            <a:avLst/>
          </a:prstGeom>
          <a:ln w="15875">
            <a:solidFill>
              <a:srgbClr val="2E75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561610" y="1233381"/>
            <a:ext cx="1300671" cy="1372042"/>
          </a:xfrm>
          <a:prstGeom prst="roundRect">
            <a:avLst/>
          </a:prstGeom>
          <a:solidFill>
            <a:srgbClr val="FDF1C7"/>
          </a:solidFill>
          <a:ln w="9525">
            <a:solidFill>
              <a:srgbClr val="E3C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150000"/>
              </a:lnSpc>
            </a:pPr>
            <a:r>
              <a:rPr sz="900" b="1">
                <a:solidFill>
                  <a:srgbClr val="7A5C00"/>
                </a:solidFill>
                <a:latin typeface="Paperlogy 4 Regular"/>
              </a:rPr>
              <a:t>CA 테스트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743703" y="2900485"/>
            <a:ext cx="936484" cy="400000"/>
          </a:xfrm>
          <a:prstGeom prst="roundRect">
            <a:avLst/>
          </a:prstGeom>
          <a:solidFill>
            <a:srgbClr val="1B4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" tIns="18288" rIns="13716" bIns="18288" rtlCol="0" anchor="ctr"/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Paperlogy 4 Regular"/>
              </a:rPr>
              <a:t>테스트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561610" y="3755036"/>
            <a:ext cx="1300671" cy="1980000"/>
          </a:xfrm>
          <a:prstGeom prst="roundRect">
            <a:avLst/>
          </a:prstGeom>
          <a:solidFill>
            <a:srgbClr val="EAF1F8"/>
          </a:solidFill>
          <a:ln w="9525">
            <a:solidFill>
              <a:srgbClr val="CC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150000"/>
              </a:lnSpc>
            </a:pPr>
            <a:r>
              <a:rPr sz="900" b="0" dirty="0" err="1">
                <a:solidFill>
                  <a:srgbClr val="1B4F78"/>
                </a:solidFill>
                <a:latin typeface="Paperlogy 4 Regular"/>
              </a:rPr>
              <a:t>통합테스트</a:t>
            </a:r>
            <a:r>
              <a:rPr sz="900" b="0" dirty="0">
                <a:solidFill>
                  <a:srgbClr val="1B4F78"/>
                </a:solidFill>
                <a:latin typeface="Paperlogy 4 Regular"/>
              </a:rPr>
              <a:t> </a:t>
            </a:r>
            <a:r>
              <a:rPr sz="900" b="0" dirty="0" err="1">
                <a:solidFill>
                  <a:srgbClr val="1B4F78"/>
                </a:solidFill>
                <a:latin typeface="Paperlogy 4 Regular"/>
              </a:rPr>
              <a:t>계획서</a:t>
            </a:r>
            <a:endParaRPr sz="900" b="0" dirty="0">
              <a:solidFill>
                <a:srgbClr val="1B4F78"/>
              </a:solidFill>
              <a:latin typeface="Paperlogy 4 Regular"/>
            </a:endParaRPr>
          </a:p>
          <a:p>
            <a:pPr algn="ctr">
              <a:lnSpc>
                <a:spcPct val="150000"/>
              </a:lnSpc>
            </a:pPr>
            <a:r>
              <a:rPr sz="900" b="0" dirty="0" err="1">
                <a:solidFill>
                  <a:srgbClr val="1B4F78"/>
                </a:solidFill>
                <a:latin typeface="Paperlogy 4 Regular"/>
              </a:rPr>
              <a:t>결과보고서</a:t>
            </a:r>
            <a:endParaRPr sz="900" b="0" dirty="0">
              <a:solidFill>
                <a:srgbClr val="1B4F78"/>
              </a:solidFill>
              <a:latin typeface="Paperlogy 4 Regular"/>
            </a:endParaRPr>
          </a:p>
          <a:p>
            <a:pPr algn="ctr">
              <a:lnSpc>
                <a:spcPct val="150000"/>
              </a:lnSpc>
            </a:pPr>
            <a:r>
              <a:rPr sz="900" b="0" dirty="0">
                <a:solidFill>
                  <a:srgbClr val="1B4F78"/>
                </a:solidFill>
                <a:latin typeface="Paperlogy 4 Regular"/>
              </a:rPr>
              <a:t>E2E</a:t>
            </a:r>
          </a:p>
          <a:p>
            <a:pPr algn="ctr">
              <a:lnSpc>
                <a:spcPct val="150000"/>
              </a:lnSpc>
            </a:pPr>
            <a:r>
              <a:rPr sz="900" b="0" dirty="0">
                <a:solidFill>
                  <a:srgbClr val="1B4F78"/>
                </a:solidFill>
                <a:latin typeface="Paperlogy 4 Regular"/>
              </a:rPr>
              <a:t>Go/No-Go</a:t>
            </a:r>
          </a:p>
        </p:txBody>
      </p:sp>
      <p:cxnSp>
        <p:nvCxnSpPr>
          <p:cNvPr id="44" name="Connector 43"/>
          <p:cNvCxnSpPr>
            <a:cxnSpLocks/>
          </p:cNvCxnSpPr>
          <p:nvPr/>
        </p:nvCxnSpPr>
        <p:spPr>
          <a:xfrm>
            <a:off x="9846790" y="3100485"/>
            <a:ext cx="421650" cy="0"/>
          </a:xfrm>
          <a:prstGeom prst="line">
            <a:avLst/>
          </a:prstGeom>
          <a:ln w="15875">
            <a:solidFill>
              <a:srgbClr val="2E75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10182492" y="1233381"/>
            <a:ext cx="1300671" cy="1372042"/>
          </a:xfrm>
          <a:prstGeom prst="roundRect">
            <a:avLst/>
          </a:prstGeom>
          <a:solidFill>
            <a:srgbClr val="ECECEC"/>
          </a:solidFill>
          <a:ln w="9525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150000"/>
              </a:lnSpc>
            </a:pPr>
            <a:r>
              <a:rPr sz="900" b="0">
                <a:solidFill>
                  <a:srgbClr val="999999"/>
                </a:solidFill>
                <a:latin typeface="Paperlogy 4 Regular"/>
              </a:rPr>
              <a:t>—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364585" y="2900485"/>
            <a:ext cx="936484" cy="400000"/>
          </a:xfrm>
          <a:prstGeom prst="roundRect">
            <a:avLst/>
          </a:prstGeom>
          <a:solidFill>
            <a:srgbClr val="1B4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" tIns="18288" rIns="13716" bIns="18288" rtlCol="0" anchor="ctr"/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Paperlogy 4 Regular"/>
              </a:rPr>
              <a:t>안정화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182492" y="3755036"/>
            <a:ext cx="1300671" cy="1980000"/>
          </a:xfrm>
          <a:prstGeom prst="roundRect">
            <a:avLst/>
          </a:prstGeom>
          <a:solidFill>
            <a:srgbClr val="EAF1F8"/>
          </a:solidFill>
          <a:ln w="9525">
            <a:solidFill>
              <a:srgbClr val="CC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150000"/>
              </a:lnSpc>
            </a:pPr>
            <a:r>
              <a:rPr sz="900" b="0">
                <a:solidFill>
                  <a:srgbClr val="1B4F78"/>
                </a:solidFill>
                <a:latin typeface="Paperlogy 4 Regular"/>
              </a:rPr>
              <a:t>운영매뉴얼(Runbook)</a:t>
            </a:r>
          </a:p>
          <a:p>
            <a:pPr algn="ctr">
              <a:lnSpc>
                <a:spcPct val="150000"/>
              </a:lnSpc>
            </a:pPr>
            <a:r>
              <a:rPr sz="900" b="0">
                <a:solidFill>
                  <a:srgbClr val="1B4F78"/>
                </a:solidFill>
                <a:latin typeface="Paperlogy 4 Regular"/>
              </a:rPr>
              <a:t>Go-Live 승인</a:t>
            </a:r>
          </a:p>
          <a:p>
            <a:pPr algn="ctr">
              <a:lnSpc>
                <a:spcPct val="150000"/>
              </a:lnSpc>
            </a:pPr>
            <a:r>
              <a:rPr sz="900" b="0">
                <a:solidFill>
                  <a:srgbClr val="1B4F78"/>
                </a:solidFill>
                <a:latin typeface="Paperlogy 4 Regular"/>
              </a:rPr>
              <a:t>안정화 결과보고서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975533D-EC64-5F11-0F35-44B91CC2D5F3}"/>
              </a:ext>
            </a:extLst>
          </p:cNvPr>
          <p:cNvSpPr txBox="1"/>
          <p:nvPr/>
        </p:nvSpPr>
        <p:spPr>
          <a:xfrm>
            <a:off x="457200" y="430000"/>
            <a:ext cx="2763898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dirty="0" err="1">
                <a:solidFill>
                  <a:srgbClr val="1F3B57"/>
                </a:solidFill>
                <a:latin typeface="Paperlogy 4 Regular"/>
              </a:rPr>
              <a:t>산출물</a:t>
            </a:r>
            <a:r>
              <a:rPr sz="2200" b="1" dirty="0">
                <a:solidFill>
                  <a:srgbClr val="1F3B57"/>
                </a:solidFill>
                <a:latin typeface="Paperlogy 4 Regular"/>
              </a:rPr>
              <a:t> </a:t>
            </a:r>
            <a:r>
              <a:rPr lang="ko-KR" altLang="en-US" sz="2200" b="1" dirty="0">
                <a:solidFill>
                  <a:srgbClr val="1F3B57"/>
                </a:solidFill>
                <a:latin typeface="Paperlogy 4 Regular"/>
              </a:rPr>
              <a:t>작성</a:t>
            </a:r>
            <a:r>
              <a:rPr sz="2200" b="1" dirty="0">
                <a:solidFill>
                  <a:srgbClr val="1F3B57"/>
                </a:solidFill>
                <a:latin typeface="Paperlogy 4 Regular"/>
              </a:rPr>
              <a:t> </a:t>
            </a:r>
            <a:r>
              <a:rPr sz="2200" b="1" dirty="0" err="1">
                <a:solidFill>
                  <a:srgbClr val="1F3B57"/>
                </a:solidFill>
                <a:latin typeface="Paperlogy 4 Regular"/>
              </a:rPr>
              <a:t>타임라인</a:t>
            </a:r>
            <a:r>
              <a:rPr sz="2200" b="1" dirty="0">
                <a:solidFill>
                  <a:srgbClr val="1F3B57"/>
                </a:solidFill>
                <a:latin typeface="Paperlogy 4 Regular"/>
              </a:rPr>
              <a:t>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60175" y="2900485"/>
            <a:ext cx="936484" cy="400000"/>
          </a:xfrm>
          <a:prstGeom prst="roundRect">
            <a:avLst/>
          </a:prstGeom>
          <a:solidFill>
            <a:srgbClr val="1B4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" tIns="18288" rIns="13716" bIns="18288" rtlCol="0" anchor="ctr"/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Paperlogy 4 Regular"/>
              </a:rPr>
              <a:t>범위정의</a:t>
            </a:r>
          </a:p>
        </p:txBody>
      </p:sp>
      <p:sp>
        <p:nvSpPr>
          <p:cNvPr id="91" name="Rounded Rectangle 44">
            <a:extLst>
              <a:ext uri="{FF2B5EF4-FFF2-40B4-BE49-F238E27FC236}">
                <a16:creationId xmlns:a16="http://schemas.microsoft.com/office/drawing/2014/main" id="{58921535-9A49-69E4-649D-C428D44A817C}"/>
              </a:ext>
            </a:extLst>
          </p:cNvPr>
          <p:cNvSpPr/>
          <p:nvPr/>
        </p:nvSpPr>
        <p:spPr>
          <a:xfrm>
            <a:off x="6080760" y="5925842"/>
            <a:ext cx="1300671" cy="50215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150000"/>
              </a:lnSpc>
            </a:pPr>
            <a:r>
              <a:rPr lang="ko-KR" altLang="en-US" sz="900" dirty="0">
                <a:solidFill>
                  <a:srgbClr val="FF0000"/>
                </a:solidFill>
                <a:latin typeface="Paperlogy 4 Regular"/>
              </a:rPr>
              <a:t>와이어프레임</a:t>
            </a:r>
            <a:endParaRPr lang="en-US" altLang="ko-KR" sz="900" dirty="0">
              <a:solidFill>
                <a:srgbClr val="FF0000"/>
              </a:solidFill>
              <a:latin typeface="Paperlogy 4 Regular"/>
            </a:endParaRPr>
          </a:p>
          <a:p>
            <a:pPr algn="ctr">
              <a:lnSpc>
                <a:spcPct val="150000"/>
              </a:lnSpc>
            </a:pPr>
            <a:r>
              <a:rPr lang="ko-KR" altLang="en-US" sz="900" dirty="0" err="1">
                <a:solidFill>
                  <a:srgbClr val="FF0000"/>
                </a:solidFill>
                <a:latin typeface="Paperlogy 4 Regular"/>
              </a:rPr>
              <a:t>상세디스크립션</a:t>
            </a:r>
            <a:endParaRPr sz="900" b="0" dirty="0">
              <a:solidFill>
                <a:srgbClr val="FF0000"/>
              </a:solidFill>
              <a:latin typeface="Paperlogy 4 Regular"/>
            </a:endParaRPr>
          </a:p>
        </p:txBody>
      </p:sp>
      <p:cxnSp>
        <p:nvCxnSpPr>
          <p:cNvPr id="94" name="꺾인 연결선[E] 93">
            <a:extLst>
              <a:ext uri="{FF2B5EF4-FFF2-40B4-BE49-F238E27FC236}">
                <a16:creationId xmlns:a16="http://schemas.microsoft.com/office/drawing/2014/main" id="{47239271-3828-50E2-F009-B6C10AEC5B15}"/>
              </a:ext>
            </a:extLst>
          </p:cNvPr>
          <p:cNvCxnSpPr>
            <a:cxnSpLocks/>
            <a:stCxn id="95" idx="1"/>
            <a:endCxn id="97" idx="1"/>
          </p:cNvCxnSpPr>
          <p:nvPr/>
        </p:nvCxnSpPr>
        <p:spPr>
          <a:xfrm rot="10800000">
            <a:off x="3695830" y="4341459"/>
            <a:ext cx="2546326" cy="1948129"/>
          </a:xfrm>
          <a:prstGeom prst="bentConnector3">
            <a:avLst>
              <a:gd name="adj1" fmla="val 108978"/>
            </a:avLst>
          </a:prstGeom>
          <a:ln w="9525">
            <a:solidFill>
              <a:srgbClr val="FF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Rounded Rectangle 44">
            <a:extLst>
              <a:ext uri="{FF2B5EF4-FFF2-40B4-BE49-F238E27FC236}">
                <a16:creationId xmlns:a16="http://schemas.microsoft.com/office/drawing/2014/main" id="{194A24C7-C63E-EA47-F7E0-95A54BAC7DFB}"/>
              </a:ext>
            </a:extLst>
          </p:cNvPr>
          <p:cNvSpPr/>
          <p:nvPr/>
        </p:nvSpPr>
        <p:spPr>
          <a:xfrm>
            <a:off x="6242156" y="6189587"/>
            <a:ext cx="949475" cy="200000"/>
          </a:xfrm>
          <a:prstGeom prst="roundRect">
            <a:avLst/>
          </a:prstGeom>
          <a:noFill/>
          <a:ln w="9525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150000"/>
              </a:lnSpc>
            </a:pPr>
            <a:endParaRPr sz="900" b="0" dirty="0">
              <a:solidFill>
                <a:srgbClr val="999999"/>
              </a:solidFill>
              <a:latin typeface="Paperlogy 4 Regular"/>
            </a:endParaRPr>
          </a:p>
        </p:txBody>
      </p:sp>
      <p:sp>
        <p:nvSpPr>
          <p:cNvPr id="97" name="Rounded Rectangle 44">
            <a:extLst>
              <a:ext uri="{FF2B5EF4-FFF2-40B4-BE49-F238E27FC236}">
                <a16:creationId xmlns:a16="http://schemas.microsoft.com/office/drawing/2014/main" id="{8BAC60F4-68AE-9C80-234B-B913C1D894B6}"/>
              </a:ext>
            </a:extLst>
          </p:cNvPr>
          <p:cNvSpPr/>
          <p:nvPr/>
        </p:nvSpPr>
        <p:spPr>
          <a:xfrm>
            <a:off x="3695830" y="4209587"/>
            <a:ext cx="1300671" cy="263741"/>
          </a:xfrm>
          <a:prstGeom prst="roundRect">
            <a:avLst/>
          </a:prstGeom>
          <a:noFill/>
          <a:ln w="9525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150000"/>
              </a:lnSpc>
            </a:pPr>
            <a:endParaRPr sz="900" b="0" dirty="0">
              <a:solidFill>
                <a:srgbClr val="999999"/>
              </a:solidFill>
              <a:latin typeface="Paperlogy 4 Regular"/>
            </a:endParaRPr>
          </a:p>
        </p:txBody>
      </p:sp>
      <p:sp>
        <p:nvSpPr>
          <p:cNvPr id="108" name="Rounded Rectangle 44">
            <a:extLst>
              <a:ext uri="{FF2B5EF4-FFF2-40B4-BE49-F238E27FC236}">
                <a16:creationId xmlns:a16="http://schemas.microsoft.com/office/drawing/2014/main" id="{E75955FB-01FD-E9CB-17E6-1D9424A00459}"/>
              </a:ext>
            </a:extLst>
          </p:cNvPr>
          <p:cNvSpPr/>
          <p:nvPr/>
        </p:nvSpPr>
        <p:spPr>
          <a:xfrm>
            <a:off x="5319846" y="4640908"/>
            <a:ext cx="1300671" cy="263741"/>
          </a:xfrm>
          <a:prstGeom prst="roundRect">
            <a:avLst/>
          </a:prstGeom>
          <a:noFill/>
          <a:ln w="9525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150000"/>
              </a:lnSpc>
            </a:pPr>
            <a:endParaRPr sz="900" b="0" dirty="0">
              <a:solidFill>
                <a:srgbClr val="999999"/>
              </a:solidFill>
              <a:latin typeface="Paperlogy 4 Regular"/>
            </a:endParaRPr>
          </a:p>
        </p:txBody>
      </p:sp>
      <p:cxnSp>
        <p:nvCxnSpPr>
          <p:cNvPr id="109" name="꺾인 연결선[E] 108">
            <a:extLst>
              <a:ext uri="{FF2B5EF4-FFF2-40B4-BE49-F238E27FC236}">
                <a16:creationId xmlns:a16="http://schemas.microsoft.com/office/drawing/2014/main" id="{949B9827-E672-E5C4-8ECE-5CC4A3962422}"/>
              </a:ext>
            </a:extLst>
          </p:cNvPr>
          <p:cNvCxnSpPr>
            <a:cxnSpLocks/>
            <a:stCxn id="108" idx="3"/>
            <a:endCxn id="91" idx="0"/>
          </p:cNvCxnSpPr>
          <p:nvPr/>
        </p:nvCxnSpPr>
        <p:spPr>
          <a:xfrm>
            <a:off x="6620517" y="4772779"/>
            <a:ext cx="110579" cy="1153063"/>
          </a:xfrm>
          <a:prstGeom prst="bentConnector2">
            <a:avLst/>
          </a:prstGeom>
          <a:ln w="9525">
            <a:solidFill>
              <a:srgbClr val="FF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2033" y="1152834"/>
            <a:ext cx="8616499" cy="5297933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graphicFrame>
        <p:nvGraphicFramePr>
          <p:cNvPr id="55" name="Google Shape;55;p13"/>
          <p:cNvGraphicFramePr/>
          <p:nvPr/>
        </p:nvGraphicFramePr>
        <p:xfrm>
          <a:off x="80267" y="83100"/>
          <a:ext cx="12031400" cy="75466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75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7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56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48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19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98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733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NanumGothic"/>
                          <a:ea typeface="NanumGothic"/>
                          <a:cs typeface="NanumGothic"/>
                          <a:sym typeface="Nanum Gothic"/>
                        </a:rPr>
                        <a:t>화면ID</a:t>
                      </a:r>
                      <a:endParaRPr sz="1200">
                        <a:latin typeface="NanumGothic"/>
                        <a:ea typeface="NanumGothic"/>
                        <a:cs typeface="NanumGothic"/>
                        <a:sym typeface="Nanum Gothic"/>
                      </a:endParaRPr>
                    </a:p>
                  </a:txBody>
                  <a:tcPr marL="72000" marR="72000" marT="72000" marB="720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NanumGothic"/>
                          <a:ea typeface="NanumGothic"/>
                          <a:cs typeface="NanumGothic"/>
                          <a:sym typeface="Nanum Gothic"/>
                        </a:rPr>
                        <a:t>ADM-ORDER-01</a:t>
                      </a:r>
                      <a:endParaRPr sz="1200">
                        <a:latin typeface="NanumGothic"/>
                        <a:ea typeface="NanumGothic"/>
                        <a:cs typeface="NanumGothic"/>
                        <a:sym typeface="Nanum Gothic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NanumGothic"/>
                          <a:ea typeface="NanumGothic"/>
                          <a:cs typeface="NanumGothic"/>
                          <a:sym typeface="Nanum Gothic"/>
                        </a:rPr>
                        <a:t>화면명</a:t>
                      </a:r>
                      <a:endParaRPr sz="1200">
                        <a:latin typeface="NanumGothic"/>
                        <a:ea typeface="NanumGothic"/>
                        <a:cs typeface="NanumGothic"/>
                        <a:sym typeface="Nanum Gothic"/>
                      </a:endParaRPr>
                    </a:p>
                  </a:txBody>
                  <a:tcPr marL="72000" marR="72000" marT="72000" marB="720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NanumGothic"/>
                          <a:ea typeface="NanumGothic"/>
                          <a:cs typeface="NanumGothic"/>
                          <a:sym typeface="Nanum Gothic"/>
                        </a:rPr>
                        <a:t>주문현황(OrderList)</a:t>
                      </a:r>
                      <a:endParaRPr sz="1200">
                        <a:latin typeface="NanumGothic"/>
                        <a:ea typeface="NanumGothic"/>
                        <a:cs typeface="NanumGothic"/>
                        <a:sym typeface="Nanum Gothic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NanumGothic"/>
                          <a:ea typeface="NanumGothic"/>
                          <a:cs typeface="NanumGothic"/>
                          <a:sym typeface="Nanum Gothic"/>
                        </a:rPr>
                        <a:t>유형</a:t>
                      </a:r>
                      <a:endParaRPr sz="1200">
                        <a:latin typeface="NanumGothic"/>
                        <a:ea typeface="NanumGothic"/>
                        <a:cs typeface="NanumGothic"/>
                        <a:sym typeface="Nanum Gothic"/>
                      </a:endParaRPr>
                    </a:p>
                  </a:txBody>
                  <a:tcPr marL="72000" marR="72000" marT="72000" marB="720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NanumGothic"/>
                        <a:ea typeface="NanumGothic"/>
                        <a:cs typeface="NanumGothic"/>
                        <a:sym typeface="Nanum Gothic"/>
                      </a:endParaRPr>
                    </a:p>
                  </a:txBody>
                  <a:tcPr marL="72000" marR="72000" marT="72000" marB="72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33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NanumGothic"/>
                          <a:ea typeface="NanumGothic"/>
                          <a:cs typeface="NanumGothic"/>
                          <a:sym typeface="Nanum Gothic"/>
                        </a:rPr>
                        <a:t>메뉴경로</a:t>
                      </a:r>
                      <a:endParaRPr sz="1200">
                        <a:latin typeface="NanumGothic"/>
                        <a:ea typeface="NanumGothic"/>
                        <a:cs typeface="NanumGothic"/>
                        <a:sym typeface="Nanum Gothic"/>
                      </a:endParaRPr>
                    </a:p>
                  </a:txBody>
                  <a:tcPr marL="72000" marR="72000" marT="72000" marB="720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NanumGothic"/>
                          <a:ea typeface="NanumGothic"/>
                          <a:cs typeface="NanumGothic"/>
                          <a:sym typeface="Nanum Gothic"/>
                        </a:rPr>
                        <a:t>홈&gt;주문관리</a:t>
                      </a:r>
                      <a:endParaRPr sz="1200">
                        <a:latin typeface="NanumGothic"/>
                        <a:ea typeface="NanumGothic"/>
                        <a:cs typeface="NanumGothic"/>
                        <a:sym typeface="Nanum Gothic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NanumGothic"/>
                          <a:ea typeface="NanumGothic"/>
                          <a:cs typeface="NanumGothic"/>
                          <a:sym typeface="Nanum Gothic"/>
                        </a:rPr>
                        <a:t>권한</a:t>
                      </a:r>
                      <a:endParaRPr sz="1200">
                        <a:latin typeface="NanumGothic"/>
                        <a:ea typeface="NanumGothic"/>
                        <a:cs typeface="NanumGothic"/>
                        <a:sym typeface="Nanum Gothic"/>
                      </a:endParaRPr>
                    </a:p>
                  </a:txBody>
                  <a:tcPr marL="72000" marR="72000" marT="72000" marB="720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NanumGothic"/>
                          <a:ea typeface="NanumGothic"/>
                          <a:cs typeface="NanumGothic"/>
                          <a:sym typeface="Nanum Gothic"/>
                        </a:rPr>
                        <a:t>admin:ops_manager 이상</a:t>
                      </a:r>
                      <a:endParaRPr sz="1200">
                        <a:latin typeface="NanumGothic"/>
                        <a:ea typeface="NanumGothic"/>
                        <a:cs typeface="NanumGothic"/>
                        <a:sym typeface="Nanum Gothic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NanumGothic"/>
                          <a:ea typeface="NanumGothic"/>
                          <a:cs typeface="NanumGothic"/>
                          <a:sym typeface="Nanum Gothic"/>
                        </a:rPr>
                        <a:t>상태</a:t>
                      </a:r>
                      <a:endParaRPr sz="1200">
                        <a:latin typeface="NanumGothic"/>
                        <a:ea typeface="NanumGothic"/>
                        <a:cs typeface="NanumGothic"/>
                        <a:sym typeface="Nanum Gothic"/>
                      </a:endParaRPr>
                    </a:p>
                  </a:txBody>
                  <a:tcPr marL="72000" marR="72000" marT="72000" marB="720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solidFill>
                            <a:schemeClr val="dk1"/>
                          </a:solidFill>
                          <a:highlight>
                            <a:srgbClr val="F0F0F0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최인철 DRAFT-v1.0</a:t>
                      </a:r>
                      <a:endParaRPr sz="1200">
                        <a:latin typeface="NanumGothic"/>
                        <a:ea typeface="NanumGothic"/>
                        <a:cs typeface="NanumGothic"/>
                        <a:sym typeface="Nanum Gothic"/>
                      </a:endParaRPr>
                    </a:p>
                  </a:txBody>
                  <a:tcPr marL="72000" marR="72000" marT="72000" marB="72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6" name="Google Shape;56;p13"/>
          <p:cNvSpPr/>
          <p:nvPr/>
        </p:nvSpPr>
        <p:spPr>
          <a:xfrm>
            <a:off x="1691700" y="1673467"/>
            <a:ext cx="8537200" cy="376800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sp>
        <p:nvSpPr>
          <p:cNvPr id="57" name="Google Shape;57;p13"/>
          <p:cNvSpPr/>
          <p:nvPr/>
        </p:nvSpPr>
        <p:spPr>
          <a:xfrm>
            <a:off x="1012200" y="1673467"/>
            <a:ext cx="522800" cy="180800"/>
          </a:xfrm>
          <a:prstGeom prst="rect">
            <a:avLst/>
          </a:prstGeom>
          <a:solidFill>
            <a:srgbClr val="9FC5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000" tIns="24000" rIns="24000" bIns="24000" anchor="ctr" anchorCtr="0">
            <a:noAutofit/>
          </a:bodyPr>
          <a:lstStyle/>
          <a:p>
            <a:pPr algn="ctr"/>
            <a:r>
              <a:rPr lang="en-US" altLang="ko" sz="800" b="1"/>
              <a:t>R1</a:t>
            </a:r>
            <a:endParaRPr sz="800" b="1"/>
          </a:p>
        </p:txBody>
      </p:sp>
      <p:sp>
        <p:nvSpPr>
          <p:cNvPr id="58" name="Google Shape;58;p13"/>
          <p:cNvSpPr/>
          <p:nvPr/>
        </p:nvSpPr>
        <p:spPr>
          <a:xfrm>
            <a:off x="1691700" y="2123067"/>
            <a:ext cx="8537200" cy="376800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sp>
        <p:nvSpPr>
          <p:cNvPr id="59" name="Google Shape;59;p13"/>
          <p:cNvSpPr/>
          <p:nvPr/>
        </p:nvSpPr>
        <p:spPr>
          <a:xfrm>
            <a:off x="1012200" y="2112051"/>
            <a:ext cx="522800" cy="180800"/>
          </a:xfrm>
          <a:prstGeom prst="rect">
            <a:avLst/>
          </a:prstGeom>
          <a:solidFill>
            <a:srgbClr val="9FC5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000" tIns="24000" rIns="24000" bIns="24000" anchor="ctr" anchorCtr="0">
            <a:noAutofit/>
          </a:bodyPr>
          <a:lstStyle/>
          <a:p>
            <a:pPr algn="ctr"/>
            <a:r>
              <a:rPr lang="en-US" altLang="ko" sz="800" b="1"/>
              <a:t>R2</a:t>
            </a:r>
            <a:endParaRPr sz="800" b="1"/>
          </a:p>
        </p:txBody>
      </p:sp>
      <p:sp>
        <p:nvSpPr>
          <p:cNvPr id="60" name="Google Shape;60;p13"/>
          <p:cNvSpPr/>
          <p:nvPr/>
        </p:nvSpPr>
        <p:spPr>
          <a:xfrm>
            <a:off x="1691700" y="2572667"/>
            <a:ext cx="8537200" cy="3501600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sp>
        <p:nvSpPr>
          <p:cNvPr id="61" name="Google Shape;61;p13"/>
          <p:cNvSpPr/>
          <p:nvPr/>
        </p:nvSpPr>
        <p:spPr>
          <a:xfrm>
            <a:off x="1012200" y="2550633"/>
            <a:ext cx="522800" cy="180800"/>
          </a:xfrm>
          <a:prstGeom prst="rect">
            <a:avLst/>
          </a:prstGeom>
          <a:solidFill>
            <a:srgbClr val="9FC5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000" tIns="24000" rIns="24000" bIns="24000" anchor="ctr" anchorCtr="0">
            <a:noAutofit/>
          </a:bodyPr>
          <a:lstStyle/>
          <a:p>
            <a:pPr algn="ctr"/>
            <a:r>
              <a:rPr lang="en-US" altLang="ko" sz="800" b="1"/>
              <a:t>R3</a:t>
            </a:r>
            <a:endParaRPr sz="800" b="1"/>
          </a:p>
        </p:txBody>
      </p:sp>
      <p:sp>
        <p:nvSpPr>
          <p:cNvPr id="62" name="Google Shape;62;p13"/>
          <p:cNvSpPr/>
          <p:nvPr/>
        </p:nvSpPr>
        <p:spPr>
          <a:xfrm>
            <a:off x="1691700" y="6147067"/>
            <a:ext cx="8537200" cy="234000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sp>
        <p:nvSpPr>
          <p:cNvPr id="63" name="Google Shape;63;p13"/>
          <p:cNvSpPr/>
          <p:nvPr/>
        </p:nvSpPr>
        <p:spPr>
          <a:xfrm>
            <a:off x="1012200" y="6147067"/>
            <a:ext cx="522800" cy="180800"/>
          </a:xfrm>
          <a:prstGeom prst="rect">
            <a:avLst/>
          </a:prstGeom>
          <a:solidFill>
            <a:srgbClr val="9FC5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000" tIns="24000" rIns="24000" bIns="24000" anchor="ctr" anchorCtr="0">
            <a:noAutofit/>
          </a:bodyPr>
          <a:lstStyle/>
          <a:p>
            <a:pPr algn="ctr"/>
            <a:r>
              <a:rPr lang="en-US" altLang="ko" sz="800" b="1"/>
              <a:t>R3</a:t>
            </a:r>
            <a:endParaRPr sz="800" b="1"/>
          </a:p>
        </p:txBody>
      </p:sp>
      <p:sp>
        <p:nvSpPr>
          <p:cNvPr id="64" name="Google Shape;64;p13"/>
          <p:cNvSpPr/>
          <p:nvPr/>
        </p:nvSpPr>
        <p:spPr>
          <a:xfrm>
            <a:off x="2213133" y="1496599"/>
            <a:ext cx="522800" cy="1808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000" tIns="24000" rIns="24000" bIns="24000" anchor="ctr" anchorCtr="0">
            <a:noAutofit/>
          </a:bodyPr>
          <a:lstStyle/>
          <a:p>
            <a:pPr algn="ctr"/>
            <a:r>
              <a:rPr lang="en-US" altLang="ko" sz="800" b="1"/>
              <a:t>R1-P1</a:t>
            </a:r>
            <a:endParaRPr sz="800" b="1"/>
          </a:p>
        </p:txBody>
      </p:sp>
      <p:sp>
        <p:nvSpPr>
          <p:cNvPr id="65" name="Google Shape;65;p13"/>
          <p:cNvSpPr/>
          <p:nvPr/>
        </p:nvSpPr>
        <p:spPr>
          <a:xfrm>
            <a:off x="3326333" y="1496599"/>
            <a:ext cx="522800" cy="1808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000" tIns="24000" rIns="24000" bIns="24000" anchor="ctr" anchorCtr="0">
            <a:noAutofit/>
          </a:bodyPr>
          <a:lstStyle/>
          <a:p>
            <a:pPr algn="ctr"/>
            <a:r>
              <a:rPr lang="en-US" altLang="ko" sz="800" b="1"/>
              <a:t>R1-P2</a:t>
            </a:r>
            <a:endParaRPr sz="800" b="1"/>
          </a:p>
        </p:txBody>
      </p:sp>
      <p:sp>
        <p:nvSpPr>
          <p:cNvPr id="66" name="Google Shape;66;p13"/>
          <p:cNvSpPr/>
          <p:nvPr/>
        </p:nvSpPr>
        <p:spPr>
          <a:xfrm>
            <a:off x="5261833" y="1496599"/>
            <a:ext cx="522800" cy="1808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000" tIns="24000" rIns="24000" bIns="24000" anchor="ctr" anchorCtr="0">
            <a:noAutofit/>
          </a:bodyPr>
          <a:lstStyle/>
          <a:p>
            <a:pPr algn="ctr"/>
            <a:r>
              <a:rPr lang="en-US" altLang="ko" sz="800" b="1"/>
              <a:t>R1-P3</a:t>
            </a:r>
            <a:endParaRPr sz="800" b="1"/>
          </a:p>
        </p:txBody>
      </p:sp>
      <p:sp>
        <p:nvSpPr>
          <p:cNvPr id="67" name="Google Shape;67;p13"/>
          <p:cNvSpPr/>
          <p:nvPr/>
        </p:nvSpPr>
        <p:spPr>
          <a:xfrm>
            <a:off x="6780700" y="1496599"/>
            <a:ext cx="522800" cy="180800"/>
          </a:xfrm>
          <a:prstGeom prst="rect">
            <a:avLst/>
          </a:prstGeom>
          <a:solidFill>
            <a:srgbClr val="FFE5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000" tIns="24000" rIns="24000" bIns="24000" anchor="ctr" anchorCtr="0">
            <a:noAutofit/>
          </a:bodyPr>
          <a:lstStyle/>
          <a:p>
            <a:pPr algn="ctr"/>
            <a:r>
              <a:rPr lang="en-US" altLang="ko" sz="800" b="1"/>
              <a:t>R1-F1</a:t>
            </a:r>
            <a:endParaRPr sz="800" b="1"/>
          </a:p>
        </p:txBody>
      </p:sp>
      <p:sp>
        <p:nvSpPr>
          <p:cNvPr id="68" name="Google Shape;68;p13"/>
          <p:cNvSpPr/>
          <p:nvPr/>
        </p:nvSpPr>
        <p:spPr>
          <a:xfrm>
            <a:off x="1802347" y="2112065"/>
            <a:ext cx="522800" cy="1808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000" tIns="24000" rIns="24000" bIns="24000" anchor="ctr" anchorCtr="0">
            <a:noAutofit/>
          </a:bodyPr>
          <a:lstStyle/>
          <a:p>
            <a:pPr algn="ctr"/>
            <a:r>
              <a:rPr lang="en-US" altLang="ko" sz="800" b="1"/>
              <a:t>R2-P1</a:t>
            </a:r>
            <a:endParaRPr sz="800" b="1"/>
          </a:p>
        </p:txBody>
      </p:sp>
      <p:sp>
        <p:nvSpPr>
          <p:cNvPr id="69" name="Google Shape;69;p13"/>
          <p:cNvSpPr/>
          <p:nvPr/>
        </p:nvSpPr>
        <p:spPr>
          <a:xfrm>
            <a:off x="2592480" y="2112065"/>
            <a:ext cx="522800" cy="1808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000" tIns="24000" rIns="24000" bIns="24000" anchor="ctr" anchorCtr="0">
            <a:noAutofit/>
          </a:bodyPr>
          <a:lstStyle/>
          <a:p>
            <a:pPr algn="ctr"/>
            <a:r>
              <a:rPr lang="en-US" altLang="ko" sz="800" b="1"/>
              <a:t>R2-P2</a:t>
            </a:r>
            <a:endParaRPr sz="800" b="1"/>
          </a:p>
        </p:txBody>
      </p:sp>
      <p:sp>
        <p:nvSpPr>
          <p:cNvPr id="70" name="Google Shape;70;p13"/>
          <p:cNvSpPr/>
          <p:nvPr/>
        </p:nvSpPr>
        <p:spPr>
          <a:xfrm>
            <a:off x="3326347" y="2112065"/>
            <a:ext cx="522800" cy="1808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000" tIns="24000" rIns="24000" bIns="24000" anchor="ctr" anchorCtr="0">
            <a:noAutofit/>
          </a:bodyPr>
          <a:lstStyle/>
          <a:p>
            <a:pPr algn="ctr"/>
            <a:r>
              <a:rPr lang="en-US" altLang="ko" sz="800" b="1"/>
              <a:t>R2-P3</a:t>
            </a:r>
            <a:endParaRPr sz="800" b="1"/>
          </a:p>
        </p:txBody>
      </p:sp>
      <p:sp>
        <p:nvSpPr>
          <p:cNvPr id="71" name="Google Shape;71;p13"/>
          <p:cNvSpPr/>
          <p:nvPr/>
        </p:nvSpPr>
        <p:spPr>
          <a:xfrm>
            <a:off x="9560447" y="2112065"/>
            <a:ext cx="522800" cy="180800"/>
          </a:xfrm>
          <a:prstGeom prst="rect">
            <a:avLst/>
          </a:prstGeom>
          <a:solidFill>
            <a:srgbClr val="FFE5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000" tIns="24000" rIns="24000" bIns="24000" anchor="ctr" anchorCtr="0">
            <a:noAutofit/>
          </a:bodyPr>
          <a:lstStyle/>
          <a:p>
            <a:pPr algn="ctr"/>
            <a:r>
              <a:rPr lang="en-US" altLang="ko" sz="800" b="1"/>
              <a:t>R2-F1</a:t>
            </a:r>
            <a:endParaRPr sz="800" b="1"/>
          </a:p>
        </p:txBody>
      </p:sp>
      <p:sp>
        <p:nvSpPr>
          <p:cNvPr id="72" name="Google Shape;72;p13"/>
          <p:cNvSpPr/>
          <p:nvPr/>
        </p:nvSpPr>
        <p:spPr>
          <a:xfrm>
            <a:off x="3946180" y="2112065"/>
            <a:ext cx="522800" cy="1808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000" tIns="24000" rIns="24000" bIns="24000" anchor="ctr" anchorCtr="0">
            <a:noAutofit/>
          </a:bodyPr>
          <a:lstStyle/>
          <a:p>
            <a:pPr algn="ctr"/>
            <a:r>
              <a:rPr lang="en-US" altLang="ko" sz="800" b="1"/>
              <a:t>R2-P3</a:t>
            </a:r>
            <a:endParaRPr sz="800" b="1"/>
          </a:p>
        </p:txBody>
      </p:sp>
      <p:sp>
        <p:nvSpPr>
          <p:cNvPr id="73" name="Google Shape;73;p13"/>
          <p:cNvSpPr/>
          <p:nvPr/>
        </p:nvSpPr>
        <p:spPr>
          <a:xfrm>
            <a:off x="4739047" y="2112065"/>
            <a:ext cx="522800" cy="1808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000" tIns="24000" rIns="24000" bIns="24000" anchor="ctr" anchorCtr="0">
            <a:noAutofit/>
          </a:bodyPr>
          <a:lstStyle/>
          <a:p>
            <a:pPr algn="ctr"/>
            <a:r>
              <a:rPr lang="en-US" altLang="ko" sz="800" b="1"/>
              <a:t>R2-P4</a:t>
            </a:r>
            <a:endParaRPr sz="800" b="1"/>
          </a:p>
        </p:txBody>
      </p:sp>
      <p:sp>
        <p:nvSpPr>
          <p:cNvPr id="74" name="Google Shape;74;p13"/>
          <p:cNvSpPr/>
          <p:nvPr/>
        </p:nvSpPr>
        <p:spPr>
          <a:xfrm>
            <a:off x="5554480" y="2112065"/>
            <a:ext cx="522800" cy="1808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000" tIns="24000" rIns="24000" bIns="24000" anchor="ctr" anchorCtr="0">
            <a:noAutofit/>
          </a:bodyPr>
          <a:lstStyle/>
          <a:p>
            <a:pPr algn="ctr"/>
            <a:r>
              <a:rPr lang="en-US" altLang="ko" sz="800" b="1"/>
              <a:t>R2-P5</a:t>
            </a:r>
            <a:endParaRPr sz="800" b="1"/>
          </a:p>
        </p:txBody>
      </p:sp>
      <p:sp>
        <p:nvSpPr>
          <p:cNvPr id="75" name="Google Shape;75;p13"/>
          <p:cNvSpPr/>
          <p:nvPr/>
        </p:nvSpPr>
        <p:spPr>
          <a:xfrm>
            <a:off x="6257913" y="2112065"/>
            <a:ext cx="522800" cy="1808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000" tIns="24000" rIns="24000" bIns="24000" anchor="ctr" anchorCtr="0">
            <a:noAutofit/>
          </a:bodyPr>
          <a:lstStyle/>
          <a:p>
            <a:pPr algn="ctr"/>
            <a:r>
              <a:rPr lang="en-US" altLang="ko" sz="800" b="1"/>
              <a:t>R2-P6</a:t>
            </a:r>
            <a:endParaRPr sz="800" b="1"/>
          </a:p>
        </p:txBody>
      </p:sp>
      <p:sp>
        <p:nvSpPr>
          <p:cNvPr id="76" name="Google Shape;76;p13"/>
          <p:cNvSpPr/>
          <p:nvPr/>
        </p:nvSpPr>
        <p:spPr>
          <a:xfrm>
            <a:off x="1757497" y="2760424"/>
            <a:ext cx="522800" cy="1808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000" tIns="24000" rIns="24000" bIns="24000" anchor="ctr" anchorCtr="0">
            <a:noAutofit/>
          </a:bodyPr>
          <a:lstStyle/>
          <a:p>
            <a:pPr algn="ctr"/>
            <a:r>
              <a:rPr lang="en-US" altLang="ko" sz="800" b="1"/>
              <a:t>R3-P1</a:t>
            </a:r>
            <a:endParaRPr sz="800" b="1"/>
          </a:p>
        </p:txBody>
      </p:sp>
      <p:sp>
        <p:nvSpPr>
          <p:cNvPr id="77" name="Google Shape;77;p13"/>
          <p:cNvSpPr/>
          <p:nvPr/>
        </p:nvSpPr>
        <p:spPr>
          <a:xfrm>
            <a:off x="3489164" y="2760424"/>
            <a:ext cx="522800" cy="1808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000" tIns="24000" rIns="24000" bIns="24000" anchor="ctr" anchorCtr="0">
            <a:noAutofit/>
          </a:bodyPr>
          <a:lstStyle/>
          <a:p>
            <a:pPr algn="ctr"/>
            <a:r>
              <a:rPr lang="en-US" altLang="ko" sz="800" b="1"/>
              <a:t>R3-P2</a:t>
            </a:r>
            <a:endParaRPr sz="800" b="1"/>
          </a:p>
        </p:txBody>
      </p:sp>
      <p:sp>
        <p:nvSpPr>
          <p:cNvPr id="78" name="Google Shape;78;p13"/>
          <p:cNvSpPr/>
          <p:nvPr/>
        </p:nvSpPr>
        <p:spPr>
          <a:xfrm>
            <a:off x="5079609" y="2760424"/>
            <a:ext cx="522800" cy="1808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000" tIns="24000" rIns="24000" bIns="24000" anchor="ctr" anchorCtr="0">
            <a:noAutofit/>
          </a:bodyPr>
          <a:lstStyle/>
          <a:p>
            <a:pPr algn="ctr"/>
            <a:r>
              <a:rPr lang="en-US" altLang="ko" sz="800" b="1"/>
              <a:t>R3-P3</a:t>
            </a:r>
            <a:endParaRPr sz="800" b="1"/>
          </a:p>
        </p:txBody>
      </p:sp>
      <p:sp>
        <p:nvSpPr>
          <p:cNvPr id="79" name="Google Shape;79;p13"/>
          <p:cNvSpPr/>
          <p:nvPr/>
        </p:nvSpPr>
        <p:spPr>
          <a:xfrm>
            <a:off x="5744148" y="2760424"/>
            <a:ext cx="522800" cy="1808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000" tIns="24000" rIns="24000" bIns="24000" anchor="ctr" anchorCtr="0">
            <a:noAutofit/>
          </a:bodyPr>
          <a:lstStyle/>
          <a:p>
            <a:pPr algn="ctr"/>
            <a:r>
              <a:rPr lang="en-US" altLang="ko" sz="800" b="1"/>
              <a:t>R3-P3</a:t>
            </a:r>
            <a:endParaRPr sz="800" b="1"/>
          </a:p>
        </p:txBody>
      </p:sp>
      <p:sp>
        <p:nvSpPr>
          <p:cNvPr id="80" name="Google Shape;80;p13"/>
          <p:cNvSpPr/>
          <p:nvPr/>
        </p:nvSpPr>
        <p:spPr>
          <a:xfrm>
            <a:off x="6779275" y="2760424"/>
            <a:ext cx="522800" cy="1808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000" tIns="24000" rIns="24000" bIns="24000" anchor="ctr" anchorCtr="0">
            <a:noAutofit/>
          </a:bodyPr>
          <a:lstStyle/>
          <a:p>
            <a:pPr algn="ctr"/>
            <a:r>
              <a:rPr lang="en-US" altLang="ko" sz="800" b="1"/>
              <a:t>R3P4</a:t>
            </a:r>
            <a:endParaRPr sz="800" b="1"/>
          </a:p>
        </p:txBody>
      </p:sp>
      <p:sp>
        <p:nvSpPr>
          <p:cNvPr id="81" name="Google Shape;81;p13"/>
          <p:cNvSpPr/>
          <p:nvPr/>
        </p:nvSpPr>
        <p:spPr>
          <a:xfrm>
            <a:off x="7790168" y="2779524"/>
            <a:ext cx="522800" cy="1808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000" tIns="24000" rIns="24000" bIns="24000" anchor="ctr" anchorCtr="0">
            <a:noAutofit/>
          </a:bodyPr>
          <a:lstStyle/>
          <a:p>
            <a:pPr algn="ctr"/>
            <a:r>
              <a:rPr lang="en-US" altLang="ko" sz="800" b="1"/>
              <a:t>R3-P5</a:t>
            </a:r>
            <a:endParaRPr sz="800" b="1"/>
          </a:p>
        </p:txBody>
      </p:sp>
      <p:sp>
        <p:nvSpPr>
          <p:cNvPr id="82" name="Google Shape;82;p13"/>
          <p:cNvSpPr/>
          <p:nvPr/>
        </p:nvSpPr>
        <p:spPr>
          <a:xfrm>
            <a:off x="8833465" y="2779524"/>
            <a:ext cx="522800" cy="1808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000" tIns="24000" rIns="24000" bIns="24000" anchor="ctr" anchorCtr="0">
            <a:noAutofit/>
          </a:bodyPr>
          <a:lstStyle/>
          <a:p>
            <a:pPr algn="ctr"/>
            <a:r>
              <a:rPr lang="en-US" altLang="ko" sz="800" b="1"/>
              <a:t>R3-P6</a:t>
            </a:r>
            <a:endParaRPr sz="800" b="1"/>
          </a:p>
        </p:txBody>
      </p:sp>
      <p:sp>
        <p:nvSpPr>
          <p:cNvPr id="83" name="Google Shape;83;p13"/>
          <p:cNvSpPr/>
          <p:nvPr/>
        </p:nvSpPr>
        <p:spPr>
          <a:xfrm>
            <a:off x="5261811" y="6354067"/>
            <a:ext cx="1426400" cy="180800"/>
          </a:xfrm>
          <a:prstGeom prst="rect">
            <a:avLst/>
          </a:prstGeom>
          <a:solidFill>
            <a:srgbClr val="FFE5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000" tIns="24000" rIns="24000" bIns="24000" anchor="ctr" anchorCtr="0">
            <a:noAutofit/>
          </a:bodyPr>
          <a:lstStyle/>
          <a:p>
            <a:pPr algn="ctr"/>
            <a:r>
              <a:rPr lang="en-US" altLang="ko" sz="800" b="1"/>
              <a:t>R4-F1</a:t>
            </a:r>
            <a:endParaRPr sz="800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8C370749-E586-1CDC-6A68-32EBAA552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E33EF20-1A08-20DA-3467-F05AD1BE82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3628" y="-396658"/>
            <a:ext cx="8184947" cy="7651316"/>
          </a:xfrm>
          <a:prstGeom prst="rect">
            <a:avLst/>
          </a:prstGeom>
        </p:spPr>
      </p:pic>
      <p:graphicFrame>
        <p:nvGraphicFramePr>
          <p:cNvPr id="55" name="Google Shape;55;p13">
            <a:extLst>
              <a:ext uri="{FF2B5EF4-FFF2-40B4-BE49-F238E27FC236}">
                <a16:creationId xmlns:a16="http://schemas.microsoft.com/office/drawing/2014/main" id="{7D0BCAE6-431C-ADE4-64C3-99F69647AFE3}"/>
              </a:ext>
            </a:extLst>
          </p:cNvPr>
          <p:cNvGraphicFramePr/>
          <p:nvPr/>
        </p:nvGraphicFramePr>
        <p:xfrm>
          <a:off x="80267" y="83100"/>
          <a:ext cx="12031400" cy="75466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75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7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56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48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19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98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733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NanumGothic"/>
                          <a:ea typeface="NanumGothic"/>
                          <a:cs typeface="NanumGothic"/>
                          <a:sym typeface="Nanum Gothic"/>
                        </a:rPr>
                        <a:t>화면ID</a:t>
                      </a:r>
                      <a:endParaRPr sz="1200">
                        <a:latin typeface="NanumGothic"/>
                        <a:ea typeface="NanumGothic"/>
                        <a:cs typeface="NanumGothic"/>
                        <a:sym typeface="Nanum Gothic"/>
                      </a:endParaRPr>
                    </a:p>
                  </a:txBody>
                  <a:tcPr marL="72000" marR="72000" marT="72000" marB="720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NanumGothic"/>
                          <a:ea typeface="NanumGothic"/>
                          <a:cs typeface="NanumGothic"/>
                          <a:sym typeface="Nanum Gothic"/>
                        </a:rPr>
                        <a:t>ADM-ORDER-01</a:t>
                      </a:r>
                      <a:endParaRPr sz="1200">
                        <a:latin typeface="NanumGothic"/>
                        <a:ea typeface="NanumGothic"/>
                        <a:cs typeface="NanumGothic"/>
                        <a:sym typeface="Nanum Gothic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NanumGothic"/>
                          <a:ea typeface="NanumGothic"/>
                          <a:cs typeface="NanumGothic"/>
                          <a:sym typeface="Nanum Gothic"/>
                        </a:rPr>
                        <a:t>화면명</a:t>
                      </a:r>
                      <a:endParaRPr sz="1200">
                        <a:latin typeface="NanumGothic"/>
                        <a:ea typeface="NanumGothic"/>
                        <a:cs typeface="NanumGothic"/>
                        <a:sym typeface="Nanum Gothic"/>
                      </a:endParaRPr>
                    </a:p>
                  </a:txBody>
                  <a:tcPr marL="72000" marR="72000" marT="72000" marB="720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NanumGothic"/>
                          <a:ea typeface="NanumGothic"/>
                          <a:cs typeface="NanumGothic"/>
                          <a:sym typeface="Nanum Gothic"/>
                        </a:rPr>
                        <a:t>주문현황(OrderList)</a:t>
                      </a:r>
                      <a:endParaRPr sz="1200">
                        <a:latin typeface="NanumGothic"/>
                        <a:ea typeface="NanumGothic"/>
                        <a:cs typeface="NanumGothic"/>
                        <a:sym typeface="Nanum Gothic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NanumGothic"/>
                          <a:ea typeface="NanumGothic"/>
                          <a:cs typeface="NanumGothic"/>
                          <a:sym typeface="Nanum Gothic"/>
                        </a:rPr>
                        <a:t>유형</a:t>
                      </a:r>
                      <a:endParaRPr sz="1200">
                        <a:latin typeface="NanumGothic"/>
                        <a:ea typeface="NanumGothic"/>
                        <a:cs typeface="NanumGothic"/>
                        <a:sym typeface="Nanum Gothic"/>
                      </a:endParaRPr>
                    </a:p>
                  </a:txBody>
                  <a:tcPr marL="72000" marR="72000" marT="72000" marB="720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NanumGothic"/>
                        <a:ea typeface="NanumGothic"/>
                        <a:cs typeface="NanumGothic"/>
                        <a:sym typeface="Nanum Gothic"/>
                      </a:endParaRPr>
                    </a:p>
                  </a:txBody>
                  <a:tcPr marL="72000" marR="72000" marT="72000" marB="72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33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NanumGothic"/>
                          <a:ea typeface="NanumGothic"/>
                          <a:cs typeface="NanumGothic"/>
                          <a:sym typeface="Nanum Gothic"/>
                        </a:rPr>
                        <a:t>메뉴경로</a:t>
                      </a:r>
                      <a:endParaRPr sz="1200">
                        <a:latin typeface="NanumGothic"/>
                        <a:ea typeface="NanumGothic"/>
                        <a:cs typeface="NanumGothic"/>
                        <a:sym typeface="Nanum Gothic"/>
                      </a:endParaRPr>
                    </a:p>
                  </a:txBody>
                  <a:tcPr marL="72000" marR="72000" marT="72000" marB="720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NanumGothic"/>
                          <a:ea typeface="NanumGothic"/>
                          <a:cs typeface="NanumGothic"/>
                          <a:sym typeface="Nanum Gothic"/>
                        </a:rPr>
                        <a:t>홈&gt;주문관리</a:t>
                      </a:r>
                      <a:endParaRPr sz="1200">
                        <a:latin typeface="NanumGothic"/>
                        <a:ea typeface="NanumGothic"/>
                        <a:cs typeface="NanumGothic"/>
                        <a:sym typeface="Nanum Gothic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NanumGothic"/>
                          <a:ea typeface="NanumGothic"/>
                          <a:cs typeface="NanumGothic"/>
                          <a:sym typeface="Nanum Gothic"/>
                        </a:rPr>
                        <a:t>권한</a:t>
                      </a:r>
                      <a:endParaRPr sz="1200">
                        <a:latin typeface="NanumGothic"/>
                        <a:ea typeface="NanumGothic"/>
                        <a:cs typeface="NanumGothic"/>
                        <a:sym typeface="Nanum Gothic"/>
                      </a:endParaRPr>
                    </a:p>
                  </a:txBody>
                  <a:tcPr marL="72000" marR="72000" marT="72000" marB="720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NanumGothic"/>
                          <a:ea typeface="NanumGothic"/>
                          <a:cs typeface="NanumGothic"/>
                          <a:sym typeface="Nanum Gothic"/>
                        </a:rPr>
                        <a:t>admin:ops_manager 이상</a:t>
                      </a:r>
                      <a:endParaRPr sz="1200">
                        <a:latin typeface="NanumGothic"/>
                        <a:ea typeface="NanumGothic"/>
                        <a:cs typeface="NanumGothic"/>
                        <a:sym typeface="Nanum Gothic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NanumGothic"/>
                          <a:ea typeface="NanumGothic"/>
                          <a:cs typeface="NanumGothic"/>
                          <a:sym typeface="Nanum Gothic"/>
                        </a:rPr>
                        <a:t>상태</a:t>
                      </a:r>
                      <a:endParaRPr sz="1200">
                        <a:latin typeface="NanumGothic"/>
                        <a:ea typeface="NanumGothic"/>
                        <a:cs typeface="NanumGothic"/>
                        <a:sym typeface="Nanum Gothic"/>
                      </a:endParaRPr>
                    </a:p>
                  </a:txBody>
                  <a:tcPr marL="72000" marR="72000" marT="72000" marB="720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solidFill>
                            <a:schemeClr val="dk1"/>
                          </a:solidFill>
                          <a:highlight>
                            <a:srgbClr val="F0F0F0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최인철 DRAFT-v1.0</a:t>
                      </a:r>
                      <a:endParaRPr sz="1200">
                        <a:latin typeface="NanumGothic"/>
                        <a:ea typeface="NanumGothic"/>
                        <a:cs typeface="NanumGothic"/>
                        <a:sym typeface="Nanum Gothic"/>
                      </a:endParaRPr>
                    </a:p>
                  </a:txBody>
                  <a:tcPr marL="72000" marR="72000" marT="72000" marB="72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9989685D-9E78-AFEE-5AAC-5013FC8CB7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53" y="2359642"/>
            <a:ext cx="7772400" cy="259590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79B5DAA-E8CC-4E4B-E18F-F61355D060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6851" y="990846"/>
            <a:ext cx="2953004" cy="51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140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193</Words>
  <Application>Microsoft Macintosh PowerPoint</Application>
  <PresentationFormat>와이드스크린</PresentationFormat>
  <Paragraphs>117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1" baseType="lpstr">
      <vt:lpstr>NanumGothic</vt:lpstr>
      <vt:lpstr>맑은 고딕</vt:lpstr>
      <vt:lpstr>Paperlogy 4 Regular</vt:lpstr>
      <vt:lpstr>Arial</vt:lpstr>
      <vt:lpstr>Calibri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최인철</cp:lastModifiedBy>
  <cp:revision>5</cp:revision>
  <dcterms:created xsi:type="dcterms:W3CDTF">2013-01-27T09:14:16Z</dcterms:created>
  <dcterms:modified xsi:type="dcterms:W3CDTF">2026-09-01T01:27:29Z</dcterms:modified>
  <cp:category/>
</cp:coreProperties>
</file>