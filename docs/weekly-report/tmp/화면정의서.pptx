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Nanum Gothic"/>
      <p:regular r:id="rId8"/>
      <p:bold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6F6E8C0-1F92-4B8D-A955-15E7969B6D26}">
  <a:tblStyle styleId="{A6F6E8C0-1F92-4B8D-A955-15E7969B6D2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font" Target="fonts/NanumGothic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NanumGothic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9025" y="864625"/>
            <a:ext cx="6462374" cy="39734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55" name="Google Shape;55;p13"/>
          <p:cNvGraphicFramePr/>
          <p:nvPr/>
        </p:nvGraphicFramePr>
        <p:xfrm>
          <a:off x="60200" y="62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{A6F6E8C0-1F92-4B8D-A955-15E7969B6D26}</a:tableStyleId>
              </a:tblPr>
              <a:tblGrid>
                <a:gridCol w="881775"/>
                <a:gridCol w="2126075"/>
                <a:gridCol w="791725"/>
                <a:gridCol w="2216125"/>
                <a:gridCol w="758975"/>
                <a:gridCol w="2248875"/>
              </a:tblGrid>
              <a:tr h="28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anum Gothic"/>
                          <a:ea typeface="Nanum Gothic"/>
                          <a:cs typeface="Nanum Gothic"/>
                          <a:sym typeface="Nanum Gothic"/>
                        </a:rPr>
                        <a:t>화면ID</a:t>
                      </a:r>
                      <a:endParaRPr sz="900">
                        <a:latin typeface="Nanum Gothic"/>
                        <a:ea typeface="Nanum Gothic"/>
                        <a:cs typeface="Nanum Gothic"/>
                        <a:sym typeface="Nanum Gothic"/>
                      </a:endParaRPr>
                    </a:p>
                  </a:txBody>
                  <a:tcPr marT="54000" marB="54000" marR="54000" marL="540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anum Gothic"/>
                          <a:ea typeface="Nanum Gothic"/>
                          <a:cs typeface="Nanum Gothic"/>
                          <a:sym typeface="Nanum Gothic"/>
                        </a:rPr>
                        <a:t>ADM-ORDER-01</a:t>
                      </a:r>
                      <a:endParaRPr sz="900">
                        <a:latin typeface="Nanum Gothic"/>
                        <a:ea typeface="Nanum Gothic"/>
                        <a:cs typeface="Nanum Gothic"/>
                        <a:sym typeface="Nanum Gothic"/>
                      </a:endParaRPr>
                    </a:p>
                  </a:txBody>
                  <a:tcPr marT="54000" marB="54000" marR="54000" marL="54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anum Gothic"/>
                          <a:ea typeface="Nanum Gothic"/>
                          <a:cs typeface="Nanum Gothic"/>
                          <a:sym typeface="Nanum Gothic"/>
                        </a:rPr>
                        <a:t>화면명</a:t>
                      </a:r>
                      <a:endParaRPr sz="900">
                        <a:latin typeface="Nanum Gothic"/>
                        <a:ea typeface="Nanum Gothic"/>
                        <a:cs typeface="Nanum Gothic"/>
                        <a:sym typeface="Nanum Gothic"/>
                      </a:endParaRPr>
                    </a:p>
                  </a:txBody>
                  <a:tcPr marT="54000" marB="54000" marR="54000" marL="540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anum Gothic"/>
                          <a:ea typeface="Nanum Gothic"/>
                          <a:cs typeface="Nanum Gothic"/>
                          <a:sym typeface="Nanum Gothic"/>
                        </a:rPr>
                        <a:t>주문현황(OrderList)</a:t>
                      </a:r>
                      <a:endParaRPr sz="900">
                        <a:latin typeface="Nanum Gothic"/>
                        <a:ea typeface="Nanum Gothic"/>
                        <a:cs typeface="Nanum Gothic"/>
                        <a:sym typeface="Nanum Gothic"/>
                      </a:endParaRPr>
                    </a:p>
                  </a:txBody>
                  <a:tcPr marT="54000" marB="54000" marR="54000" marL="54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anum Gothic"/>
                          <a:ea typeface="Nanum Gothic"/>
                          <a:cs typeface="Nanum Gothic"/>
                          <a:sym typeface="Nanum Gothic"/>
                        </a:rPr>
                        <a:t>유형</a:t>
                      </a:r>
                      <a:endParaRPr sz="900">
                        <a:latin typeface="Nanum Gothic"/>
                        <a:ea typeface="Nanum Gothic"/>
                        <a:cs typeface="Nanum Gothic"/>
                        <a:sym typeface="Nanum Gothic"/>
                      </a:endParaRPr>
                    </a:p>
                  </a:txBody>
                  <a:tcPr marT="54000" marB="54000" marR="54000" marL="540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anum Gothic"/>
                        <a:ea typeface="Nanum Gothic"/>
                        <a:cs typeface="Nanum Gothic"/>
                        <a:sym typeface="Nanum Gothic"/>
                      </a:endParaRPr>
                    </a:p>
                  </a:txBody>
                  <a:tcPr marT="54000" marB="54000" marR="54000" marL="54000" anchor="ctr"/>
                </a:tc>
              </a:tr>
              <a:tr h="28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anum Gothic"/>
                          <a:ea typeface="Nanum Gothic"/>
                          <a:cs typeface="Nanum Gothic"/>
                          <a:sym typeface="Nanum Gothic"/>
                        </a:rPr>
                        <a:t>메뉴경로</a:t>
                      </a:r>
                      <a:endParaRPr sz="900">
                        <a:latin typeface="Nanum Gothic"/>
                        <a:ea typeface="Nanum Gothic"/>
                        <a:cs typeface="Nanum Gothic"/>
                        <a:sym typeface="Nanum Gothic"/>
                      </a:endParaRPr>
                    </a:p>
                  </a:txBody>
                  <a:tcPr marT="54000" marB="54000" marR="54000" marL="540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anum Gothic"/>
                          <a:ea typeface="Nanum Gothic"/>
                          <a:cs typeface="Nanum Gothic"/>
                          <a:sym typeface="Nanum Gothic"/>
                        </a:rPr>
                        <a:t>홈&gt;주문관리</a:t>
                      </a:r>
                      <a:endParaRPr sz="900">
                        <a:latin typeface="Nanum Gothic"/>
                        <a:ea typeface="Nanum Gothic"/>
                        <a:cs typeface="Nanum Gothic"/>
                        <a:sym typeface="Nanum Gothic"/>
                      </a:endParaRPr>
                    </a:p>
                  </a:txBody>
                  <a:tcPr marT="54000" marB="54000" marR="54000" marL="54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anum Gothic"/>
                          <a:ea typeface="Nanum Gothic"/>
                          <a:cs typeface="Nanum Gothic"/>
                          <a:sym typeface="Nanum Gothic"/>
                        </a:rPr>
                        <a:t>권한</a:t>
                      </a:r>
                      <a:endParaRPr sz="900">
                        <a:latin typeface="Nanum Gothic"/>
                        <a:ea typeface="Nanum Gothic"/>
                        <a:cs typeface="Nanum Gothic"/>
                        <a:sym typeface="Nanum Gothic"/>
                      </a:endParaRPr>
                    </a:p>
                  </a:txBody>
                  <a:tcPr marT="54000" marB="54000" marR="54000" marL="540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anum Gothic"/>
                          <a:ea typeface="Nanum Gothic"/>
                          <a:cs typeface="Nanum Gothic"/>
                          <a:sym typeface="Nanum Gothic"/>
                        </a:rPr>
                        <a:t>admin:ops_manager 이상</a:t>
                      </a:r>
                      <a:endParaRPr sz="900">
                        <a:latin typeface="Nanum Gothic"/>
                        <a:ea typeface="Nanum Gothic"/>
                        <a:cs typeface="Nanum Gothic"/>
                        <a:sym typeface="Nanum Gothic"/>
                      </a:endParaRPr>
                    </a:p>
                  </a:txBody>
                  <a:tcPr marT="54000" marB="54000" marR="54000" marL="54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anum Gothic"/>
                          <a:ea typeface="Nanum Gothic"/>
                          <a:cs typeface="Nanum Gothic"/>
                          <a:sym typeface="Nanum Gothic"/>
                        </a:rPr>
                        <a:t>상태</a:t>
                      </a:r>
                      <a:endParaRPr sz="900">
                        <a:latin typeface="Nanum Gothic"/>
                        <a:ea typeface="Nanum Gothic"/>
                        <a:cs typeface="Nanum Gothic"/>
                        <a:sym typeface="Nanum Gothic"/>
                      </a:endParaRPr>
                    </a:p>
                  </a:txBody>
                  <a:tcPr marT="54000" marB="54000" marR="54000" marL="540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  <a:highlight>
                            <a:srgbClr val="F0F0F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최인철 DRAFT-v1.0</a:t>
                      </a:r>
                      <a:endParaRPr sz="900">
                        <a:latin typeface="Nanum Gothic"/>
                        <a:ea typeface="Nanum Gothic"/>
                        <a:cs typeface="Nanum Gothic"/>
                        <a:sym typeface="Nanum Gothic"/>
                      </a:endParaRPr>
                    </a:p>
                  </a:txBody>
                  <a:tcPr marT="54000" marB="54000" marR="54000" marL="54000" anchor="ctr"/>
                </a:tc>
              </a:tr>
            </a:tbl>
          </a:graphicData>
        </a:graphic>
      </p:graphicFrame>
      <p:sp>
        <p:nvSpPr>
          <p:cNvPr id="56" name="Google Shape;56;p13"/>
          <p:cNvSpPr/>
          <p:nvPr/>
        </p:nvSpPr>
        <p:spPr>
          <a:xfrm>
            <a:off x="1268775" y="1255100"/>
            <a:ext cx="6402900" cy="2826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759150" y="1255100"/>
            <a:ext cx="392100" cy="1356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00"/>
              <a:t>R1</a:t>
            </a:r>
            <a:endParaRPr b="1" sz="600"/>
          </a:p>
        </p:txBody>
      </p:sp>
      <p:sp>
        <p:nvSpPr>
          <p:cNvPr id="58" name="Google Shape;58;p13"/>
          <p:cNvSpPr/>
          <p:nvPr/>
        </p:nvSpPr>
        <p:spPr>
          <a:xfrm>
            <a:off x="1268775" y="1592300"/>
            <a:ext cx="6402900" cy="2826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759150" y="1584038"/>
            <a:ext cx="392100" cy="1356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00"/>
              <a:t>R2</a:t>
            </a:r>
            <a:endParaRPr b="1" sz="600"/>
          </a:p>
        </p:txBody>
      </p:sp>
      <p:sp>
        <p:nvSpPr>
          <p:cNvPr id="60" name="Google Shape;60;p13"/>
          <p:cNvSpPr/>
          <p:nvPr/>
        </p:nvSpPr>
        <p:spPr>
          <a:xfrm>
            <a:off x="1268775" y="1929500"/>
            <a:ext cx="6402900" cy="26262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759150" y="1912975"/>
            <a:ext cx="392100" cy="1356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00"/>
              <a:t>R3</a:t>
            </a:r>
            <a:endParaRPr b="1" sz="600"/>
          </a:p>
        </p:txBody>
      </p:sp>
      <p:sp>
        <p:nvSpPr>
          <p:cNvPr id="62" name="Google Shape;62;p13"/>
          <p:cNvSpPr/>
          <p:nvPr/>
        </p:nvSpPr>
        <p:spPr>
          <a:xfrm>
            <a:off x="1268775" y="4610300"/>
            <a:ext cx="6402900" cy="1755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3"/>
          <p:cNvSpPr/>
          <p:nvPr/>
        </p:nvSpPr>
        <p:spPr>
          <a:xfrm>
            <a:off x="759150" y="4610300"/>
            <a:ext cx="392100" cy="1356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00"/>
              <a:t>R3</a:t>
            </a:r>
            <a:endParaRPr b="1" sz="600"/>
          </a:p>
        </p:txBody>
      </p:sp>
      <p:sp>
        <p:nvSpPr>
          <p:cNvPr id="64" name="Google Shape;64;p13"/>
          <p:cNvSpPr/>
          <p:nvPr/>
        </p:nvSpPr>
        <p:spPr>
          <a:xfrm>
            <a:off x="1659850" y="1122449"/>
            <a:ext cx="392100" cy="1356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00"/>
              <a:t>R1-P1</a:t>
            </a:r>
            <a:endParaRPr b="1" sz="600"/>
          </a:p>
        </p:txBody>
      </p:sp>
      <p:sp>
        <p:nvSpPr>
          <p:cNvPr id="65" name="Google Shape;65;p13"/>
          <p:cNvSpPr/>
          <p:nvPr/>
        </p:nvSpPr>
        <p:spPr>
          <a:xfrm>
            <a:off x="2494750" y="1122449"/>
            <a:ext cx="392100" cy="1356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00"/>
              <a:t>R1-P2</a:t>
            </a:r>
            <a:endParaRPr b="1" sz="600"/>
          </a:p>
        </p:txBody>
      </p:sp>
      <p:sp>
        <p:nvSpPr>
          <p:cNvPr id="66" name="Google Shape;66;p13"/>
          <p:cNvSpPr/>
          <p:nvPr/>
        </p:nvSpPr>
        <p:spPr>
          <a:xfrm>
            <a:off x="3946375" y="1122449"/>
            <a:ext cx="392100" cy="1356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00"/>
              <a:t>R1-P3</a:t>
            </a:r>
            <a:endParaRPr b="1" sz="600"/>
          </a:p>
        </p:txBody>
      </p:sp>
      <p:sp>
        <p:nvSpPr>
          <p:cNvPr id="67" name="Google Shape;67;p13"/>
          <p:cNvSpPr/>
          <p:nvPr/>
        </p:nvSpPr>
        <p:spPr>
          <a:xfrm>
            <a:off x="5085525" y="1122449"/>
            <a:ext cx="392100" cy="1356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00"/>
              <a:t>R1-F1</a:t>
            </a:r>
            <a:endParaRPr b="1" sz="600"/>
          </a:p>
        </p:txBody>
      </p:sp>
      <p:sp>
        <p:nvSpPr>
          <p:cNvPr id="68" name="Google Shape;68;p13"/>
          <p:cNvSpPr/>
          <p:nvPr/>
        </p:nvSpPr>
        <p:spPr>
          <a:xfrm>
            <a:off x="1351760" y="1584049"/>
            <a:ext cx="392100" cy="1356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00"/>
              <a:t>R2-P1</a:t>
            </a:r>
            <a:endParaRPr b="1" sz="600"/>
          </a:p>
        </p:txBody>
      </p:sp>
      <p:sp>
        <p:nvSpPr>
          <p:cNvPr id="69" name="Google Shape;69;p13"/>
          <p:cNvSpPr/>
          <p:nvPr/>
        </p:nvSpPr>
        <p:spPr>
          <a:xfrm>
            <a:off x="1944360" y="1584049"/>
            <a:ext cx="392100" cy="1356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00"/>
              <a:t>R2-P2</a:t>
            </a:r>
            <a:endParaRPr b="1" sz="600"/>
          </a:p>
        </p:txBody>
      </p:sp>
      <p:sp>
        <p:nvSpPr>
          <p:cNvPr id="70" name="Google Shape;70;p13"/>
          <p:cNvSpPr/>
          <p:nvPr/>
        </p:nvSpPr>
        <p:spPr>
          <a:xfrm>
            <a:off x="2494760" y="1584049"/>
            <a:ext cx="392100" cy="1356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00"/>
              <a:t>R2-P3</a:t>
            </a:r>
            <a:endParaRPr b="1" sz="600"/>
          </a:p>
        </p:txBody>
      </p:sp>
      <p:sp>
        <p:nvSpPr>
          <p:cNvPr id="71" name="Google Shape;71;p13"/>
          <p:cNvSpPr/>
          <p:nvPr/>
        </p:nvSpPr>
        <p:spPr>
          <a:xfrm>
            <a:off x="7170335" y="1584049"/>
            <a:ext cx="392100" cy="1356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00"/>
              <a:t>R2-F1</a:t>
            </a:r>
            <a:endParaRPr b="1" sz="600"/>
          </a:p>
        </p:txBody>
      </p:sp>
      <p:sp>
        <p:nvSpPr>
          <p:cNvPr id="72" name="Google Shape;72;p13"/>
          <p:cNvSpPr/>
          <p:nvPr/>
        </p:nvSpPr>
        <p:spPr>
          <a:xfrm>
            <a:off x="2959635" y="1584049"/>
            <a:ext cx="392100" cy="1356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00"/>
              <a:t>R2-P3</a:t>
            </a:r>
            <a:endParaRPr b="1" sz="600"/>
          </a:p>
        </p:txBody>
      </p:sp>
      <p:sp>
        <p:nvSpPr>
          <p:cNvPr id="73" name="Google Shape;73;p13"/>
          <p:cNvSpPr/>
          <p:nvPr/>
        </p:nvSpPr>
        <p:spPr>
          <a:xfrm>
            <a:off x="3554285" y="1584049"/>
            <a:ext cx="392100" cy="1356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00"/>
              <a:t>R2-P4</a:t>
            </a:r>
            <a:endParaRPr b="1" sz="600"/>
          </a:p>
        </p:txBody>
      </p:sp>
      <p:sp>
        <p:nvSpPr>
          <p:cNvPr id="74" name="Google Shape;74;p13"/>
          <p:cNvSpPr/>
          <p:nvPr/>
        </p:nvSpPr>
        <p:spPr>
          <a:xfrm>
            <a:off x="4165860" y="1584049"/>
            <a:ext cx="392100" cy="1356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00"/>
              <a:t>R2-P5</a:t>
            </a:r>
            <a:endParaRPr b="1" sz="600"/>
          </a:p>
        </p:txBody>
      </p:sp>
      <p:sp>
        <p:nvSpPr>
          <p:cNvPr id="75" name="Google Shape;75;p13"/>
          <p:cNvSpPr/>
          <p:nvPr/>
        </p:nvSpPr>
        <p:spPr>
          <a:xfrm>
            <a:off x="4693435" y="1584049"/>
            <a:ext cx="392100" cy="1356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00"/>
              <a:t>R2-P6</a:t>
            </a:r>
            <a:endParaRPr b="1" sz="600"/>
          </a:p>
        </p:txBody>
      </p:sp>
      <p:sp>
        <p:nvSpPr>
          <p:cNvPr id="76" name="Google Shape;76;p13"/>
          <p:cNvSpPr/>
          <p:nvPr/>
        </p:nvSpPr>
        <p:spPr>
          <a:xfrm>
            <a:off x="1318123" y="2070318"/>
            <a:ext cx="392100" cy="1356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00"/>
              <a:t>R3-P1</a:t>
            </a:r>
            <a:endParaRPr b="1" sz="600"/>
          </a:p>
        </p:txBody>
      </p:sp>
      <p:sp>
        <p:nvSpPr>
          <p:cNvPr id="77" name="Google Shape;77;p13"/>
          <p:cNvSpPr/>
          <p:nvPr/>
        </p:nvSpPr>
        <p:spPr>
          <a:xfrm>
            <a:off x="2616873" y="2070318"/>
            <a:ext cx="392100" cy="1356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00"/>
              <a:t>R3-P2</a:t>
            </a:r>
            <a:endParaRPr b="1" sz="600"/>
          </a:p>
        </p:txBody>
      </p:sp>
      <p:sp>
        <p:nvSpPr>
          <p:cNvPr id="78" name="Google Shape;78;p13"/>
          <p:cNvSpPr/>
          <p:nvPr/>
        </p:nvSpPr>
        <p:spPr>
          <a:xfrm>
            <a:off x="3809707" y="2070318"/>
            <a:ext cx="392100" cy="1356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00"/>
              <a:t>R3-P3</a:t>
            </a:r>
            <a:endParaRPr b="1" sz="600"/>
          </a:p>
        </p:txBody>
      </p:sp>
      <p:sp>
        <p:nvSpPr>
          <p:cNvPr id="79" name="Google Shape;79;p13"/>
          <p:cNvSpPr/>
          <p:nvPr/>
        </p:nvSpPr>
        <p:spPr>
          <a:xfrm>
            <a:off x="4308111" y="2070318"/>
            <a:ext cx="392100" cy="1356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00"/>
              <a:t>R3-P3</a:t>
            </a:r>
            <a:endParaRPr b="1" sz="600"/>
          </a:p>
        </p:txBody>
      </p:sp>
      <p:sp>
        <p:nvSpPr>
          <p:cNvPr id="80" name="Google Shape;80;p13"/>
          <p:cNvSpPr/>
          <p:nvPr/>
        </p:nvSpPr>
        <p:spPr>
          <a:xfrm>
            <a:off x="5084456" y="2070318"/>
            <a:ext cx="392100" cy="1356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00"/>
              <a:t>R3P4</a:t>
            </a:r>
            <a:endParaRPr b="1" sz="600"/>
          </a:p>
        </p:txBody>
      </p:sp>
      <p:sp>
        <p:nvSpPr>
          <p:cNvPr id="81" name="Google Shape;81;p13"/>
          <p:cNvSpPr/>
          <p:nvPr/>
        </p:nvSpPr>
        <p:spPr>
          <a:xfrm>
            <a:off x="5842626" y="2084643"/>
            <a:ext cx="392100" cy="1356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00"/>
              <a:t>R3-P5</a:t>
            </a:r>
            <a:endParaRPr b="1" sz="600"/>
          </a:p>
        </p:txBody>
      </p:sp>
      <p:sp>
        <p:nvSpPr>
          <p:cNvPr id="82" name="Google Shape;82;p13"/>
          <p:cNvSpPr/>
          <p:nvPr/>
        </p:nvSpPr>
        <p:spPr>
          <a:xfrm>
            <a:off x="6625099" y="2084643"/>
            <a:ext cx="392100" cy="1356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00"/>
              <a:t>R3-P6</a:t>
            </a:r>
            <a:endParaRPr b="1" sz="600"/>
          </a:p>
        </p:txBody>
      </p:sp>
      <p:sp>
        <p:nvSpPr>
          <p:cNvPr id="83" name="Google Shape;83;p13"/>
          <p:cNvSpPr/>
          <p:nvPr/>
        </p:nvSpPr>
        <p:spPr>
          <a:xfrm>
            <a:off x="3946358" y="4765550"/>
            <a:ext cx="1069800" cy="1356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00"/>
              <a:t>R4-F1</a:t>
            </a:r>
            <a:endParaRPr b="1" sz="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