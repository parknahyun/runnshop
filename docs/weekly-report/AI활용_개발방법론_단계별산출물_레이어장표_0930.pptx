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8A6C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103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E9FE6-7A7B-A941-B6D8-5B8D9D552512}" type="datetimeFigureOut">
              <a:rPr kumimoji="1" lang="ko-KR" altLang="en-US" smtClean="0"/>
              <a:t>2026. 10. 7.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BFA4D-C1D4-6546-808C-4C2F730C70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5139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BFA4D-C1D4-6546-808C-4C2F730C7063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536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366141"/>
            <a:ext cx="5890074" cy="2893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AB4F8"/>
                </a:solidFill>
                <a:effectLst/>
                <a:uLnTx/>
                <a:uFillTx/>
                <a:latin typeface="Malgun Gothic"/>
                <a:ea typeface="맑은 고딕" panose="020B0503020000020004" pitchFamily="34" charset="-127"/>
                <a:cs typeface="+mn-cs"/>
              </a:rPr>
              <a:t>진행사항 보고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8AB4F8"/>
                </a:solidFill>
                <a:effectLst/>
                <a:uLnTx/>
                <a:uFillTx/>
                <a:latin typeface="Malgun Gothic"/>
                <a:ea typeface="맑은 고딕" panose="020B0503020000020004" pitchFamily="34" charset="-127"/>
                <a:cs typeface="+mn-cs"/>
              </a:rPr>
              <a:t>2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AB4F8"/>
                </a:solidFill>
                <a:effectLst/>
                <a:uLnTx/>
                <a:uFillTx/>
                <a:latin typeface="Malgun Gothic"/>
                <a:ea typeface="맑은 고딕" panose="020B0503020000020004" pitchFamily="34" charset="-127"/>
                <a:cs typeface="+mn-cs"/>
              </a:rPr>
              <a:t>차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8AB4F8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844527"/>
            <a:ext cx="6224611" cy="65235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AI </a:t>
            </a:r>
            <a:r>
              <a:rPr kumimoji="0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활용</a:t>
            </a: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개발방법론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3631645"/>
            <a:ext cx="3840480" cy="18288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947133"/>
            <a:ext cx="7060952" cy="31079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: 2026-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Malgun Gothic"/>
                <a:ea typeface="맑은 고딕" panose="020B0503020000020004" pitchFamily="34" charset="-127"/>
                <a:cs typeface="+mn-cs"/>
              </a:rPr>
              <a:t>10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-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Malgun Gothic"/>
                <a:ea typeface="맑은 고딕" panose="020B0503020000020004" pitchFamily="34" charset="-127"/>
                <a:cs typeface="+mn-cs"/>
              </a:rPr>
              <a:t>07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Malgun Gothic"/>
                <a:ea typeface="맑은 고딕" panose="020B0503020000020004" pitchFamily="34" charset="-127"/>
                <a:cs typeface="+mn-cs"/>
              </a:rPr>
              <a:t> 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Malgun Gothic"/>
                <a:ea typeface="맑은 고딕" panose="020B0503020000020004" pitchFamily="34" charset="-127"/>
                <a:cs typeface="+mn-cs"/>
              </a:rPr>
              <a:t>14:00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9AA0A6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394813" y="1883657"/>
            <a:ext cx="1446284" cy="269831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sz="1000" dirty="0" err="1">
                <a:solidFill>
                  <a:schemeClr val="bg1"/>
                </a:solidFill>
                <a:latin typeface="Malgun Gothic"/>
              </a:rPr>
              <a:t>보안</a:t>
            </a:r>
            <a:endParaRPr sz="1000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394813" y="2184981"/>
            <a:ext cx="1446284" cy="269831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sz="1000" dirty="0" err="1">
                <a:solidFill>
                  <a:schemeClr val="bg1"/>
                </a:solidFill>
                <a:latin typeface="Malgun Gothic"/>
              </a:rPr>
              <a:t>용어</a:t>
            </a:r>
            <a:endParaRPr sz="1000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90524" y="3106243"/>
            <a:ext cx="1446289" cy="448054"/>
          </a:xfrm>
          <a:prstGeom prst="roundRect">
            <a:avLst>
              <a:gd name="adj" fmla="val 10000"/>
            </a:avLst>
          </a:prstGeom>
          <a:solidFill>
            <a:srgbClr val="162418"/>
          </a:solidFill>
          <a:ln w="20320">
            <a:solidFill>
              <a:srgbClr val="3A6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sz="1200" b="1" dirty="0" err="1">
                <a:solidFill>
                  <a:srgbClr val="8FD9A3"/>
                </a:solidFill>
                <a:latin typeface="Malgun Gothic"/>
              </a:rPr>
              <a:t>착수</a:t>
            </a:r>
            <a:endParaRPr sz="1200" b="1" dirty="0">
              <a:solidFill>
                <a:srgbClr val="8FD9A3"/>
              </a:solidFill>
              <a:latin typeface="Malgun Gothi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94813" y="3106243"/>
            <a:ext cx="1446289" cy="448054"/>
          </a:xfrm>
          <a:prstGeom prst="roundRect">
            <a:avLst>
              <a:gd name="adj" fmla="val 10000"/>
            </a:avLst>
          </a:prstGeom>
          <a:solidFill>
            <a:srgbClr val="162418"/>
          </a:solidFill>
          <a:ln w="20320">
            <a:solidFill>
              <a:srgbClr val="3A6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200" b="1" dirty="0">
                <a:solidFill>
                  <a:srgbClr val="8FD9A3"/>
                </a:solidFill>
                <a:latin typeface="Malgun Gothic"/>
              </a:rPr>
              <a:t>범위정의</a:t>
            </a:r>
            <a:endParaRPr sz="1200" b="1" dirty="0">
              <a:solidFill>
                <a:srgbClr val="8FD9A3"/>
              </a:solidFill>
              <a:latin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08623" y="3106243"/>
            <a:ext cx="1446289" cy="448054"/>
          </a:xfrm>
          <a:prstGeom prst="roundRect">
            <a:avLst>
              <a:gd name="adj" fmla="val 10000"/>
            </a:avLst>
          </a:prstGeom>
          <a:solidFill>
            <a:srgbClr val="162418"/>
          </a:solidFill>
          <a:ln w="20320">
            <a:solidFill>
              <a:srgbClr val="3A6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sz="1200" b="1" dirty="0" err="1">
                <a:solidFill>
                  <a:srgbClr val="8FD9A3"/>
                </a:solidFill>
                <a:latin typeface="Malgun Gothic"/>
              </a:rPr>
              <a:t>구조설계</a:t>
            </a:r>
            <a:endParaRPr sz="1200" b="1" dirty="0">
              <a:solidFill>
                <a:srgbClr val="8FD9A3"/>
              </a:solidFill>
              <a:latin typeface="Malgun Gothi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03391" y="3106243"/>
            <a:ext cx="1446289" cy="448054"/>
          </a:xfrm>
          <a:prstGeom prst="roundRect">
            <a:avLst>
              <a:gd name="adj" fmla="val 10000"/>
            </a:avLst>
          </a:prstGeom>
          <a:solidFill>
            <a:srgbClr val="162418"/>
          </a:solidFill>
          <a:ln w="20320">
            <a:solidFill>
              <a:srgbClr val="3A6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sz="1200" b="1" dirty="0" err="1">
                <a:solidFill>
                  <a:srgbClr val="8FD9A3"/>
                </a:solidFill>
                <a:latin typeface="Malgun Gothic"/>
              </a:rPr>
              <a:t>상세설계</a:t>
            </a:r>
            <a:endParaRPr sz="1200" b="1" dirty="0">
              <a:solidFill>
                <a:srgbClr val="8FD9A3"/>
              </a:solidFill>
              <a:latin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307677" y="3106243"/>
            <a:ext cx="1446289" cy="448054"/>
          </a:xfrm>
          <a:prstGeom prst="roundRect">
            <a:avLst>
              <a:gd name="adj" fmla="val 10000"/>
            </a:avLst>
          </a:prstGeom>
          <a:solidFill>
            <a:srgbClr val="162418"/>
          </a:solidFill>
          <a:ln w="20320">
            <a:solidFill>
              <a:srgbClr val="3A6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sz="1200" b="1" dirty="0" err="1">
                <a:solidFill>
                  <a:srgbClr val="8FD9A3"/>
                </a:solidFill>
                <a:latin typeface="Malgun Gothic"/>
              </a:rPr>
              <a:t>구현</a:t>
            </a:r>
            <a:r>
              <a:rPr lang="en-US" altLang="ko-KR" sz="1200" b="1" dirty="0">
                <a:solidFill>
                  <a:srgbClr val="8FD9A3"/>
                </a:solidFill>
                <a:latin typeface="Malgun Gothic"/>
              </a:rPr>
              <a:t>.</a:t>
            </a:r>
            <a:r>
              <a:rPr lang="ko-KR" altLang="en-US" sz="1200" b="1" dirty="0">
                <a:solidFill>
                  <a:srgbClr val="8FD9A3"/>
                </a:solidFill>
                <a:latin typeface="Malgun Gothic"/>
              </a:rPr>
              <a:t>테스트</a:t>
            </a:r>
            <a:r>
              <a:rPr lang="en-US" altLang="ko-KR" sz="1200" b="1" dirty="0">
                <a:solidFill>
                  <a:srgbClr val="8FD9A3"/>
                </a:solidFill>
                <a:latin typeface="Malgun Gothic"/>
              </a:rPr>
              <a:t>.</a:t>
            </a:r>
            <a:r>
              <a:rPr lang="ko-KR" altLang="en-US" sz="1200" b="1" dirty="0">
                <a:solidFill>
                  <a:srgbClr val="8FD9A3"/>
                </a:solidFill>
                <a:latin typeface="Malgun Gothic"/>
              </a:rPr>
              <a:t>안정화</a:t>
            </a:r>
            <a:endParaRPr sz="1200" b="1" dirty="0">
              <a:solidFill>
                <a:srgbClr val="8FD9A3"/>
              </a:solidFill>
              <a:latin typeface="Malgun Gothic"/>
            </a:endParaRP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4103474" y="2570320"/>
            <a:ext cx="0" cy="360000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</p:cNvCxnSpPr>
          <p:nvPr/>
        </p:nvCxnSpPr>
        <p:spPr>
          <a:xfrm>
            <a:off x="6407761" y="2570320"/>
            <a:ext cx="0" cy="360000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</p:cNvCxnSpPr>
          <p:nvPr/>
        </p:nvCxnSpPr>
        <p:spPr>
          <a:xfrm>
            <a:off x="8712050" y="2570320"/>
            <a:ext cx="0" cy="360000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>
            <a:off x="11016338" y="2570320"/>
            <a:ext cx="0" cy="360000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</p:cNvCxnSpPr>
          <p:nvPr/>
        </p:nvCxnSpPr>
        <p:spPr>
          <a:xfrm>
            <a:off x="2623813" y="3335207"/>
            <a:ext cx="684000" cy="0"/>
          </a:xfrm>
          <a:prstGeom prst="line">
            <a:avLst/>
          </a:prstGeom>
          <a:ln w="2286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>
            <a:off x="4928102" y="3389707"/>
            <a:ext cx="684000" cy="0"/>
          </a:xfrm>
          <a:prstGeom prst="line">
            <a:avLst/>
          </a:prstGeom>
          <a:ln w="2286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32391" y="3389707"/>
            <a:ext cx="684000" cy="0"/>
          </a:xfrm>
          <a:prstGeom prst="line">
            <a:avLst/>
          </a:prstGeom>
          <a:ln w="2286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36680" y="3389707"/>
            <a:ext cx="684000" cy="0"/>
          </a:xfrm>
          <a:prstGeom prst="line">
            <a:avLst/>
          </a:prstGeom>
          <a:ln w="2286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</p:cNvCxnSpPr>
          <p:nvPr/>
        </p:nvCxnSpPr>
        <p:spPr>
          <a:xfrm>
            <a:off x="1813668" y="3624723"/>
            <a:ext cx="0" cy="360000"/>
          </a:xfrm>
          <a:prstGeom prst="line">
            <a:avLst/>
          </a:prstGeom>
          <a:ln w="2032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</p:cNvCxnSpPr>
          <p:nvPr/>
        </p:nvCxnSpPr>
        <p:spPr>
          <a:xfrm>
            <a:off x="4117957" y="3624723"/>
            <a:ext cx="0" cy="360000"/>
          </a:xfrm>
          <a:prstGeom prst="line">
            <a:avLst/>
          </a:prstGeom>
          <a:ln w="2032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</p:cNvCxnSpPr>
          <p:nvPr/>
        </p:nvCxnSpPr>
        <p:spPr>
          <a:xfrm>
            <a:off x="6431767" y="3624723"/>
            <a:ext cx="0" cy="360000"/>
          </a:xfrm>
          <a:prstGeom prst="line">
            <a:avLst/>
          </a:prstGeom>
          <a:ln w="2032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</p:cNvCxnSpPr>
          <p:nvPr/>
        </p:nvCxnSpPr>
        <p:spPr>
          <a:xfrm>
            <a:off x="8712050" y="3624723"/>
            <a:ext cx="0" cy="360000"/>
          </a:xfrm>
          <a:prstGeom prst="line">
            <a:avLst/>
          </a:prstGeom>
          <a:ln w="2032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>
            <a:off x="11016338" y="3624723"/>
            <a:ext cx="0" cy="360000"/>
          </a:xfrm>
          <a:prstGeom prst="line">
            <a:avLst/>
          </a:prstGeom>
          <a:ln w="2032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13">
            <a:extLst>
              <a:ext uri="{FF2B5EF4-FFF2-40B4-BE49-F238E27FC236}">
                <a16:creationId xmlns:a16="http://schemas.microsoft.com/office/drawing/2014/main" id="{23D96905-8D8B-0DB5-7A66-FA04179D1ED8}"/>
              </a:ext>
            </a:extLst>
          </p:cNvPr>
          <p:cNvSpPr/>
          <p:nvPr/>
        </p:nvSpPr>
        <p:spPr>
          <a:xfrm>
            <a:off x="1090525" y="4152184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문제정의서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1" name="Rounded Rectangle 15">
            <a:extLst>
              <a:ext uri="{FF2B5EF4-FFF2-40B4-BE49-F238E27FC236}">
                <a16:creationId xmlns:a16="http://schemas.microsoft.com/office/drawing/2014/main" id="{F5E0CFB6-CD9A-3B6E-5CF0-A9CE1584ABA8}"/>
              </a:ext>
            </a:extLst>
          </p:cNvPr>
          <p:cNvSpPr/>
          <p:nvPr/>
        </p:nvSpPr>
        <p:spPr>
          <a:xfrm>
            <a:off x="1090525" y="4441202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목표KPI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AFDFF777-8839-2835-90C9-FDE4DF8374DC}"/>
              </a:ext>
            </a:extLst>
          </p:cNvPr>
          <p:cNvSpPr/>
          <p:nvPr/>
        </p:nvSpPr>
        <p:spPr>
          <a:xfrm>
            <a:off x="1090525" y="4730220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이해관계자맵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3" name="Rounded Rectangle 19">
            <a:extLst>
              <a:ext uri="{FF2B5EF4-FFF2-40B4-BE49-F238E27FC236}">
                <a16:creationId xmlns:a16="http://schemas.microsoft.com/office/drawing/2014/main" id="{EDE8FA5E-C85A-4D71-6640-0C3E5CAD8E37}"/>
              </a:ext>
            </a:extLst>
          </p:cNvPr>
          <p:cNvSpPr/>
          <p:nvPr/>
        </p:nvSpPr>
        <p:spPr>
          <a:xfrm>
            <a:off x="1090525" y="5019238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범위</a:t>
            </a:r>
            <a:r>
              <a:rPr sz="1000" dirty="0">
                <a:solidFill>
                  <a:srgbClr val="FFFFFF"/>
                </a:solidFill>
                <a:latin typeface="Malgun Gothic"/>
              </a:rPr>
              <a:t>(Scope)</a:t>
            </a:r>
          </a:p>
        </p:txBody>
      </p:sp>
      <p:sp>
        <p:nvSpPr>
          <p:cNvPr id="54" name="Rounded Rectangle 21">
            <a:extLst>
              <a:ext uri="{FF2B5EF4-FFF2-40B4-BE49-F238E27FC236}">
                <a16:creationId xmlns:a16="http://schemas.microsoft.com/office/drawing/2014/main" id="{161E1B6A-F099-2B17-5F73-2CA9979F2AB8}"/>
              </a:ext>
            </a:extLst>
          </p:cNvPr>
          <p:cNvSpPr/>
          <p:nvPr/>
        </p:nvSpPr>
        <p:spPr>
          <a:xfrm>
            <a:off x="1090525" y="5308256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대안비교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5" name="Rounded Rectangle 23">
            <a:extLst>
              <a:ext uri="{FF2B5EF4-FFF2-40B4-BE49-F238E27FC236}">
                <a16:creationId xmlns:a16="http://schemas.microsoft.com/office/drawing/2014/main" id="{F5641218-A11B-0AF3-ED4C-A1F777BC4892}"/>
              </a:ext>
            </a:extLst>
          </p:cNvPr>
          <p:cNvSpPr/>
          <p:nvPr/>
        </p:nvSpPr>
        <p:spPr>
          <a:xfrm>
            <a:off x="1090525" y="5597275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리스크가정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6" name="Rounded Rectangle 13">
            <a:extLst>
              <a:ext uri="{FF2B5EF4-FFF2-40B4-BE49-F238E27FC236}">
                <a16:creationId xmlns:a16="http://schemas.microsoft.com/office/drawing/2014/main" id="{8D74E932-6FA9-89D7-3EAA-298953331B36}"/>
              </a:ext>
            </a:extLst>
          </p:cNvPr>
          <p:cNvSpPr/>
          <p:nvPr/>
        </p:nvSpPr>
        <p:spPr>
          <a:xfrm>
            <a:off x="3394814" y="4152184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업무인터뷰결과서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7" name="Rounded Rectangle 15">
            <a:extLst>
              <a:ext uri="{FF2B5EF4-FFF2-40B4-BE49-F238E27FC236}">
                <a16:creationId xmlns:a16="http://schemas.microsoft.com/office/drawing/2014/main" id="{1F857DE1-11D9-B8AA-B725-43D48B9469A9}"/>
              </a:ext>
            </a:extLst>
          </p:cNvPr>
          <p:cNvSpPr/>
          <p:nvPr/>
        </p:nvSpPr>
        <p:spPr>
          <a:xfrm>
            <a:off x="3394814" y="4441202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제약사항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8" name="Rounded Rectangle 17">
            <a:extLst>
              <a:ext uri="{FF2B5EF4-FFF2-40B4-BE49-F238E27FC236}">
                <a16:creationId xmlns:a16="http://schemas.microsoft.com/office/drawing/2014/main" id="{257B0A9C-8E43-0E02-962D-A9B134F37853}"/>
              </a:ext>
            </a:extLst>
          </p:cNvPr>
          <p:cNvSpPr/>
          <p:nvPr/>
        </p:nvSpPr>
        <p:spPr>
          <a:xfrm>
            <a:off x="3394814" y="4730220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>
                <a:solidFill>
                  <a:srgbClr val="8A6C1E"/>
                </a:solidFill>
                <a:latin typeface="Malgun Gothic"/>
              </a:rPr>
              <a:t>NFR</a:t>
            </a:r>
          </a:p>
        </p:txBody>
      </p:sp>
      <p:sp>
        <p:nvSpPr>
          <p:cNvPr id="59" name="Rounded Rectangle 19">
            <a:extLst>
              <a:ext uri="{FF2B5EF4-FFF2-40B4-BE49-F238E27FC236}">
                <a16:creationId xmlns:a16="http://schemas.microsoft.com/office/drawing/2014/main" id="{F36EDBE5-27EB-7D1A-9A05-A085872EF19E}"/>
              </a:ext>
            </a:extLst>
          </p:cNvPr>
          <p:cNvSpPr/>
          <p:nvPr/>
        </p:nvSpPr>
        <p:spPr>
          <a:xfrm>
            <a:off x="3394814" y="5019238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8A6C1E"/>
                </a:solidFill>
                <a:latin typeface="Malgun Gothic"/>
              </a:rPr>
              <a:t>컴포넌트</a:t>
            </a:r>
            <a:endParaRPr sz="1000" dirty="0">
              <a:solidFill>
                <a:srgbClr val="8A6C1E"/>
              </a:solidFill>
              <a:latin typeface="Malgun Gothic"/>
            </a:endParaRPr>
          </a:p>
        </p:txBody>
      </p:sp>
      <p:sp>
        <p:nvSpPr>
          <p:cNvPr id="60" name="Rounded Rectangle 21">
            <a:extLst>
              <a:ext uri="{FF2B5EF4-FFF2-40B4-BE49-F238E27FC236}">
                <a16:creationId xmlns:a16="http://schemas.microsoft.com/office/drawing/2014/main" id="{DE77AF0B-DF27-B26E-5DA0-93CFE70A19E1}"/>
              </a:ext>
            </a:extLst>
          </p:cNvPr>
          <p:cNvSpPr/>
          <p:nvPr/>
        </p:nvSpPr>
        <p:spPr>
          <a:xfrm>
            <a:off x="3394814" y="5308256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시스템구성도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1" name="Rounded Rectangle 23">
            <a:extLst>
              <a:ext uri="{FF2B5EF4-FFF2-40B4-BE49-F238E27FC236}">
                <a16:creationId xmlns:a16="http://schemas.microsoft.com/office/drawing/2014/main" id="{F55BD396-3207-C0AA-CC38-ECA3549DD6DD}"/>
              </a:ext>
            </a:extLst>
          </p:cNvPr>
          <p:cNvSpPr/>
          <p:nvPr/>
        </p:nvSpPr>
        <p:spPr>
          <a:xfrm>
            <a:off x="3394814" y="5597275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8A6C1E"/>
                </a:solidFill>
                <a:latin typeface="Malgun Gothic"/>
              </a:rPr>
              <a:t>도메인정의서</a:t>
            </a:r>
            <a:endParaRPr sz="1000" dirty="0">
              <a:solidFill>
                <a:srgbClr val="8A6C1E"/>
              </a:solidFill>
              <a:latin typeface="Malgun Gothic"/>
            </a:endParaRPr>
          </a:p>
        </p:txBody>
      </p:sp>
      <p:sp>
        <p:nvSpPr>
          <p:cNvPr id="62" name="Rounded Rectangle 13">
            <a:extLst>
              <a:ext uri="{FF2B5EF4-FFF2-40B4-BE49-F238E27FC236}">
                <a16:creationId xmlns:a16="http://schemas.microsoft.com/office/drawing/2014/main" id="{1448CD48-BFC0-0CD9-F125-618625342F64}"/>
              </a:ext>
            </a:extLst>
          </p:cNvPr>
          <p:cNvSpPr/>
          <p:nvPr/>
        </p:nvSpPr>
        <p:spPr>
          <a:xfrm>
            <a:off x="5708624" y="4152184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도메인</a:t>
            </a:r>
            <a:r>
              <a:rPr lang="en-US" sz="1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Malgun Gothic"/>
              </a:rPr>
              <a:t>정책서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3" name="Rounded Rectangle 16">
            <a:extLst>
              <a:ext uri="{FF2B5EF4-FFF2-40B4-BE49-F238E27FC236}">
                <a16:creationId xmlns:a16="http://schemas.microsoft.com/office/drawing/2014/main" id="{3B14FC6D-CC47-93B3-2212-032C40127AAA}"/>
              </a:ext>
            </a:extLst>
          </p:cNvPr>
          <p:cNvSpPr/>
          <p:nvPr/>
        </p:nvSpPr>
        <p:spPr>
          <a:xfrm>
            <a:off x="5708624" y="4441202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상위유스케이스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4" name="Rounded Rectangle 18">
            <a:extLst>
              <a:ext uri="{FF2B5EF4-FFF2-40B4-BE49-F238E27FC236}">
                <a16:creationId xmlns:a16="http://schemas.microsoft.com/office/drawing/2014/main" id="{6F531371-9941-E6DC-9F9A-8E25C76BB173}"/>
              </a:ext>
            </a:extLst>
          </p:cNvPr>
          <p:cNvSpPr/>
          <p:nvPr/>
        </p:nvSpPr>
        <p:spPr>
          <a:xfrm>
            <a:off x="5708624" y="4730220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>
                <a:solidFill>
                  <a:srgbClr val="FFFFFF"/>
                </a:solidFill>
                <a:latin typeface="Malgun Gothic"/>
              </a:rPr>
              <a:t>EARS </a:t>
            </a:r>
            <a:r>
              <a:rPr sz="1000" dirty="0" err="1">
                <a:solidFill>
                  <a:srgbClr val="FFFFFF"/>
                </a:solidFill>
                <a:latin typeface="Malgun Gothic"/>
              </a:rPr>
              <a:t>기능요구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5" name="Rounded Rectangle 20">
            <a:extLst>
              <a:ext uri="{FF2B5EF4-FFF2-40B4-BE49-F238E27FC236}">
                <a16:creationId xmlns:a16="http://schemas.microsoft.com/office/drawing/2014/main" id="{993B5C8B-9BBE-86AF-6955-8D3CD93B345B}"/>
              </a:ext>
            </a:extLst>
          </p:cNvPr>
          <p:cNvSpPr/>
          <p:nvPr/>
        </p:nvSpPr>
        <p:spPr>
          <a:xfrm>
            <a:off x="5708624" y="5019238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8A6C1E"/>
                </a:solidFill>
                <a:latin typeface="Malgun Gothic"/>
              </a:rPr>
              <a:t>도메인모델</a:t>
            </a:r>
            <a:r>
              <a:rPr sz="1000" dirty="0">
                <a:solidFill>
                  <a:srgbClr val="8A6C1E"/>
                </a:solidFill>
                <a:latin typeface="Malgun Gothic"/>
              </a:rPr>
              <a:t> ERD</a:t>
            </a:r>
          </a:p>
        </p:txBody>
      </p:sp>
      <p:sp>
        <p:nvSpPr>
          <p:cNvPr id="66" name="Rounded Rectangle 23">
            <a:extLst>
              <a:ext uri="{FF2B5EF4-FFF2-40B4-BE49-F238E27FC236}">
                <a16:creationId xmlns:a16="http://schemas.microsoft.com/office/drawing/2014/main" id="{51EA7F26-D673-134D-A740-777BAB5738EE}"/>
              </a:ext>
            </a:extLst>
          </p:cNvPr>
          <p:cNvSpPr/>
          <p:nvPr/>
        </p:nvSpPr>
        <p:spPr>
          <a:xfrm>
            <a:off x="5708624" y="5308256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비즈니스프로세스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7" name="Rounded Rectangle 25">
            <a:extLst>
              <a:ext uri="{FF2B5EF4-FFF2-40B4-BE49-F238E27FC236}">
                <a16:creationId xmlns:a16="http://schemas.microsoft.com/office/drawing/2014/main" id="{9B435DE9-1F3F-1D88-A9BB-92D5A12FCAF9}"/>
              </a:ext>
            </a:extLst>
          </p:cNvPr>
          <p:cNvSpPr/>
          <p:nvPr/>
        </p:nvSpPr>
        <p:spPr>
          <a:xfrm>
            <a:off x="5708624" y="5597275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err="1">
                <a:solidFill>
                  <a:srgbClr val="8A6C1E"/>
                </a:solidFill>
                <a:latin typeface="Malgun Gothic"/>
              </a:rPr>
              <a:t>상태머</a:t>
            </a:r>
            <a:r>
              <a:rPr lang="ko-KR" altLang="en-US" sz="1000">
                <a:solidFill>
                  <a:srgbClr val="8A6C1E"/>
                </a:solidFill>
                <a:latin typeface="Malgun Gothic"/>
              </a:rPr>
              <a:t>신</a:t>
            </a:r>
            <a:endParaRPr lang="en-US" altLang="ko-KR" sz="1000" dirty="0">
              <a:solidFill>
                <a:srgbClr val="8A6C1E"/>
              </a:solidFill>
              <a:latin typeface="Malgun Gothic"/>
            </a:endParaRPr>
          </a:p>
        </p:txBody>
      </p:sp>
      <p:sp>
        <p:nvSpPr>
          <p:cNvPr id="68" name="Rounded Rectangle 27">
            <a:extLst>
              <a:ext uri="{FF2B5EF4-FFF2-40B4-BE49-F238E27FC236}">
                <a16:creationId xmlns:a16="http://schemas.microsoft.com/office/drawing/2014/main" id="{3CBBC266-4F93-F297-5731-31FCB2B6A207}"/>
              </a:ext>
            </a:extLst>
          </p:cNvPr>
          <p:cNvSpPr/>
          <p:nvPr/>
        </p:nvSpPr>
        <p:spPr>
          <a:xfrm>
            <a:off x="5708624" y="5891057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이벤트플로우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9" name="Rounded Rectangle 13">
            <a:extLst>
              <a:ext uri="{FF2B5EF4-FFF2-40B4-BE49-F238E27FC236}">
                <a16:creationId xmlns:a16="http://schemas.microsoft.com/office/drawing/2014/main" id="{C2586702-CDAE-6E37-1110-006D4801A92D}"/>
              </a:ext>
            </a:extLst>
          </p:cNvPr>
          <p:cNvSpPr/>
          <p:nvPr/>
        </p:nvSpPr>
        <p:spPr>
          <a:xfrm>
            <a:off x="8003391" y="4147010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>
                <a:solidFill>
                  <a:srgbClr val="FFFFFF"/>
                </a:solidFill>
                <a:latin typeface="Malgun Gothic"/>
              </a:rPr>
              <a:t>GWT </a:t>
            </a:r>
            <a:r>
              <a:rPr sz="1000" dirty="0" err="1">
                <a:solidFill>
                  <a:srgbClr val="FFFFFF"/>
                </a:solidFill>
                <a:latin typeface="Malgun Gothic"/>
              </a:rPr>
              <a:t>수용기준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0" name="Rounded Rectangle 15">
            <a:extLst>
              <a:ext uri="{FF2B5EF4-FFF2-40B4-BE49-F238E27FC236}">
                <a16:creationId xmlns:a16="http://schemas.microsoft.com/office/drawing/2014/main" id="{414BB298-BF8A-6F5A-937B-91781C761449}"/>
              </a:ext>
            </a:extLst>
          </p:cNvPr>
          <p:cNvSpPr/>
          <p:nvPr/>
        </p:nvSpPr>
        <p:spPr>
          <a:xfrm>
            <a:off x="8003391" y="4436028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세부유스케이스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1" name="Rounded Rectangle 17">
            <a:extLst>
              <a:ext uri="{FF2B5EF4-FFF2-40B4-BE49-F238E27FC236}">
                <a16:creationId xmlns:a16="http://schemas.microsoft.com/office/drawing/2014/main" id="{50BF51F6-D152-0E12-4172-D3B29D1991B1}"/>
              </a:ext>
            </a:extLst>
          </p:cNvPr>
          <p:cNvSpPr/>
          <p:nvPr/>
        </p:nvSpPr>
        <p:spPr>
          <a:xfrm>
            <a:off x="8003391" y="4725046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8A6C1E"/>
                </a:solidFill>
                <a:latin typeface="Malgun Gothic"/>
              </a:rPr>
              <a:t>인터페이스명세</a:t>
            </a:r>
            <a:endParaRPr sz="1000" dirty="0">
              <a:solidFill>
                <a:srgbClr val="8A6C1E"/>
              </a:solidFill>
              <a:latin typeface="Malgun Gothic"/>
            </a:endParaRPr>
          </a:p>
        </p:txBody>
      </p:sp>
      <p:sp>
        <p:nvSpPr>
          <p:cNvPr id="72" name="Rounded Rectangle 20">
            <a:extLst>
              <a:ext uri="{FF2B5EF4-FFF2-40B4-BE49-F238E27FC236}">
                <a16:creationId xmlns:a16="http://schemas.microsoft.com/office/drawing/2014/main" id="{D447CDEF-4A17-326D-21E6-E8A280BF6F95}"/>
              </a:ext>
            </a:extLst>
          </p:cNvPr>
          <p:cNvSpPr/>
          <p:nvPr/>
        </p:nvSpPr>
        <p:spPr>
          <a:xfrm>
            <a:off x="8003391" y="5014064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시퀀스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3" name="Rounded Rectangle 23">
            <a:extLst>
              <a:ext uri="{FF2B5EF4-FFF2-40B4-BE49-F238E27FC236}">
                <a16:creationId xmlns:a16="http://schemas.microsoft.com/office/drawing/2014/main" id="{97771FF2-5DD7-ED26-FD9A-70E16CC01B60}"/>
              </a:ext>
            </a:extLst>
          </p:cNvPr>
          <p:cNvSpPr/>
          <p:nvPr/>
        </p:nvSpPr>
        <p:spPr>
          <a:xfrm>
            <a:off x="8003391" y="5303082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8A6C1E"/>
                </a:solidFill>
                <a:latin typeface="Malgun Gothic"/>
              </a:rPr>
              <a:t>화면레이아웃</a:t>
            </a:r>
            <a:endParaRPr sz="1000" dirty="0">
              <a:solidFill>
                <a:srgbClr val="8A6C1E"/>
              </a:solidFill>
              <a:latin typeface="Malgun Gothic"/>
            </a:endParaRPr>
          </a:p>
        </p:txBody>
      </p:sp>
      <p:sp>
        <p:nvSpPr>
          <p:cNvPr id="74" name="Rounded Rectangle 27">
            <a:extLst>
              <a:ext uri="{FF2B5EF4-FFF2-40B4-BE49-F238E27FC236}">
                <a16:creationId xmlns:a16="http://schemas.microsoft.com/office/drawing/2014/main" id="{42ADCC54-C788-E619-D3B5-5E79034EFF04}"/>
              </a:ext>
            </a:extLst>
          </p:cNvPr>
          <p:cNvSpPr/>
          <p:nvPr/>
        </p:nvSpPr>
        <p:spPr>
          <a:xfrm>
            <a:off x="8003391" y="5592101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클래스설계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5" name="Rounded Rectangle 30">
            <a:extLst>
              <a:ext uri="{FF2B5EF4-FFF2-40B4-BE49-F238E27FC236}">
                <a16:creationId xmlns:a16="http://schemas.microsoft.com/office/drawing/2014/main" id="{F968726B-7920-3F25-E51F-29B2BC5327B4}"/>
              </a:ext>
            </a:extLst>
          </p:cNvPr>
          <p:cNvSpPr/>
          <p:nvPr/>
        </p:nvSpPr>
        <p:spPr>
          <a:xfrm>
            <a:off x="8003391" y="5885883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dirty="0" err="1">
                <a:solidFill>
                  <a:srgbClr val="FFFFFF"/>
                </a:solidFill>
                <a:latin typeface="Malgun Gothic"/>
              </a:rPr>
              <a:t>프로그램목록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6" name="Rounded Rectangle 13">
            <a:extLst>
              <a:ext uri="{FF2B5EF4-FFF2-40B4-BE49-F238E27FC236}">
                <a16:creationId xmlns:a16="http://schemas.microsoft.com/office/drawing/2014/main" id="{47016622-346D-2C30-A625-9F4678124EA2}"/>
              </a:ext>
            </a:extLst>
          </p:cNvPr>
          <p:cNvSpPr/>
          <p:nvPr/>
        </p:nvSpPr>
        <p:spPr>
          <a:xfrm>
            <a:off x="10307677" y="4147010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ko-KR" altLang="en-US" sz="1000" dirty="0">
                <a:solidFill>
                  <a:srgbClr val="8A6C1E"/>
                </a:solidFill>
                <a:latin typeface="Malgun Gothic"/>
              </a:rPr>
              <a:t>코드구현</a:t>
            </a:r>
            <a:endParaRPr sz="1000" dirty="0">
              <a:solidFill>
                <a:srgbClr val="8A6C1E"/>
              </a:solidFill>
              <a:latin typeface="Malgun Gothic"/>
            </a:endParaRPr>
          </a:p>
        </p:txBody>
      </p:sp>
      <p:sp>
        <p:nvSpPr>
          <p:cNvPr id="77" name="Rounded Rectangle 15">
            <a:extLst>
              <a:ext uri="{FF2B5EF4-FFF2-40B4-BE49-F238E27FC236}">
                <a16:creationId xmlns:a16="http://schemas.microsoft.com/office/drawing/2014/main" id="{7B6C915B-8285-D83E-52F7-4A6260748A6F}"/>
              </a:ext>
            </a:extLst>
          </p:cNvPr>
          <p:cNvSpPr/>
          <p:nvPr/>
        </p:nvSpPr>
        <p:spPr>
          <a:xfrm>
            <a:off x="10307677" y="4436028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ko-KR" altLang="en-US" sz="1000" dirty="0">
                <a:solidFill>
                  <a:srgbClr val="FFFFFF"/>
                </a:solidFill>
                <a:latin typeface="Malgun Gothic"/>
              </a:rPr>
              <a:t>자동검증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8" name="Rounded Rectangle 17">
            <a:extLst>
              <a:ext uri="{FF2B5EF4-FFF2-40B4-BE49-F238E27FC236}">
                <a16:creationId xmlns:a16="http://schemas.microsoft.com/office/drawing/2014/main" id="{96CC5529-0133-57C7-241B-FFA1667709E1}"/>
              </a:ext>
            </a:extLst>
          </p:cNvPr>
          <p:cNvSpPr/>
          <p:nvPr/>
        </p:nvSpPr>
        <p:spPr>
          <a:xfrm>
            <a:off x="10307677" y="4725046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ko-KR" altLang="en-US" sz="1000" dirty="0">
                <a:solidFill>
                  <a:srgbClr val="8A6C1E"/>
                </a:solidFill>
                <a:latin typeface="Malgun Gothic"/>
              </a:rPr>
              <a:t>단위테스트</a:t>
            </a:r>
            <a:endParaRPr sz="1000" dirty="0">
              <a:solidFill>
                <a:srgbClr val="8A6C1E"/>
              </a:solidFill>
              <a:latin typeface="Malgun Gothic"/>
            </a:endParaRPr>
          </a:p>
        </p:txBody>
      </p:sp>
      <p:sp>
        <p:nvSpPr>
          <p:cNvPr id="79" name="Rounded Rectangle 20">
            <a:extLst>
              <a:ext uri="{FF2B5EF4-FFF2-40B4-BE49-F238E27FC236}">
                <a16:creationId xmlns:a16="http://schemas.microsoft.com/office/drawing/2014/main" id="{557C446F-1982-6691-CFB3-CFC4A6CB5F29}"/>
              </a:ext>
            </a:extLst>
          </p:cNvPr>
          <p:cNvSpPr/>
          <p:nvPr/>
        </p:nvSpPr>
        <p:spPr>
          <a:xfrm>
            <a:off x="10307677" y="5014064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ko-KR" altLang="en-US" sz="1000" dirty="0">
                <a:solidFill>
                  <a:srgbClr val="FFFFFF"/>
                </a:solidFill>
                <a:latin typeface="Malgun Gothic"/>
              </a:rPr>
              <a:t>클래스설계</a:t>
            </a:r>
            <a:r>
              <a:rPr lang="en-US" altLang="ko-KR" sz="1000" dirty="0">
                <a:solidFill>
                  <a:srgbClr val="FFFFFF"/>
                </a:solidFill>
                <a:latin typeface="Malgun Gothic"/>
              </a:rPr>
              <a:t>(</a:t>
            </a:r>
            <a:r>
              <a:rPr lang="ko-KR" altLang="en-US" sz="1000" dirty="0">
                <a:solidFill>
                  <a:srgbClr val="FFFFFF"/>
                </a:solidFill>
                <a:latin typeface="Malgun Gothic"/>
              </a:rPr>
              <a:t>보완</a:t>
            </a:r>
            <a:r>
              <a:rPr lang="en-US" altLang="ko-KR" sz="1000" dirty="0">
                <a:solidFill>
                  <a:srgbClr val="FFFFFF"/>
                </a:solidFill>
                <a:latin typeface="Malgun Gothic"/>
              </a:rPr>
              <a:t>)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0" name="Rounded Rectangle 23">
            <a:extLst>
              <a:ext uri="{FF2B5EF4-FFF2-40B4-BE49-F238E27FC236}">
                <a16:creationId xmlns:a16="http://schemas.microsoft.com/office/drawing/2014/main" id="{69EFD795-A1B5-9492-DCEE-D8F56B738120}"/>
              </a:ext>
            </a:extLst>
          </p:cNvPr>
          <p:cNvSpPr/>
          <p:nvPr/>
        </p:nvSpPr>
        <p:spPr>
          <a:xfrm>
            <a:off x="10307677" y="5303082"/>
            <a:ext cx="1446286" cy="2700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Malgun Gothic"/>
              </a:rPr>
              <a:t>ERD, </a:t>
            </a:r>
            <a:r>
              <a:rPr lang="ko-KR" altLang="en-US" sz="1000">
                <a:solidFill>
                  <a:srgbClr val="FFFFFF"/>
                </a:solidFill>
                <a:latin typeface="Malgun Gothic"/>
              </a:rPr>
              <a:t>상태머신</a:t>
            </a:r>
            <a:r>
              <a:rPr lang="en-US" altLang="ko-KR" sz="1000">
                <a:solidFill>
                  <a:srgbClr val="FFFFFF"/>
                </a:solidFill>
                <a:latin typeface="Malgun Gothic"/>
              </a:rPr>
              <a:t>(</a:t>
            </a:r>
            <a:r>
              <a:rPr lang="ko-KR" altLang="en-US" sz="1000">
                <a:solidFill>
                  <a:srgbClr val="FFFFFF"/>
                </a:solidFill>
                <a:latin typeface="Malgun Gothic"/>
              </a:rPr>
              <a:t>보완</a:t>
            </a:r>
            <a:r>
              <a:rPr lang="en-US" altLang="ko-KR" sz="1000" dirty="0">
                <a:solidFill>
                  <a:srgbClr val="FFFFFF"/>
                </a:solidFill>
                <a:latin typeface="Malgun Gothic"/>
              </a:rPr>
              <a:t>)</a:t>
            </a:r>
            <a:endParaRPr sz="100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8" name="Rounded Rectangle 3">
            <a:extLst>
              <a:ext uri="{FF2B5EF4-FFF2-40B4-BE49-F238E27FC236}">
                <a16:creationId xmlns:a16="http://schemas.microsoft.com/office/drawing/2014/main" id="{702992DA-C2EC-8060-1DE2-E8D8301374B1}"/>
              </a:ext>
            </a:extLst>
          </p:cNvPr>
          <p:cNvSpPr/>
          <p:nvPr/>
        </p:nvSpPr>
        <p:spPr>
          <a:xfrm>
            <a:off x="5708628" y="1582927"/>
            <a:ext cx="1446284" cy="269831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Malgun Gothic"/>
              </a:rPr>
              <a:t>아키텍처</a:t>
            </a:r>
            <a:endParaRPr sz="1000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89" name="Rounded Rectangle 4">
            <a:extLst>
              <a:ext uri="{FF2B5EF4-FFF2-40B4-BE49-F238E27FC236}">
                <a16:creationId xmlns:a16="http://schemas.microsoft.com/office/drawing/2014/main" id="{D8FDE8EB-443B-830A-80E0-A43854725852}"/>
              </a:ext>
            </a:extLst>
          </p:cNvPr>
          <p:cNvSpPr/>
          <p:nvPr/>
        </p:nvSpPr>
        <p:spPr>
          <a:xfrm>
            <a:off x="5708628" y="2184981"/>
            <a:ext cx="1446284" cy="269831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Malgun Gothic"/>
              </a:rPr>
              <a:t>이벤트</a:t>
            </a:r>
            <a:endParaRPr sz="1000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90" name="Rounded Rectangle 3">
            <a:extLst>
              <a:ext uri="{FF2B5EF4-FFF2-40B4-BE49-F238E27FC236}">
                <a16:creationId xmlns:a16="http://schemas.microsoft.com/office/drawing/2014/main" id="{75590E8F-94A1-D8F8-9D65-5435401B68DA}"/>
              </a:ext>
            </a:extLst>
          </p:cNvPr>
          <p:cNvSpPr/>
          <p:nvPr/>
        </p:nvSpPr>
        <p:spPr>
          <a:xfrm>
            <a:off x="5708628" y="1883657"/>
            <a:ext cx="1446284" cy="269831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Malgun Gothic"/>
              </a:rPr>
              <a:t>데이터</a:t>
            </a:r>
            <a:endParaRPr sz="1000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92" name="Rounded Rectangle 3">
            <a:extLst>
              <a:ext uri="{FF2B5EF4-FFF2-40B4-BE49-F238E27FC236}">
                <a16:creationId xmlns:a16="http://schemas.microsoft.com/office/drawing/2014/main" id="{9188D3D4-63A5-9AE2-E30E-2674FEE49B88}"/>
              </a:ext>
            </a:extLst>
          </p:cNvPr>
          <p:cNvSpPr/>
          <p:nvPr/>
        </p:nvSpPr>
        <p:spPr>
          <a:xfrm>
            <a:off x="8003396" y="1883657"/>
            <a:ext cx="1446284" cy="269831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000" dirty="0">
                <a:solidFill>
                  <a:schemeClr val="bg1"/>
                </a:solidFill>
                <a:latin typeface="Malgun Gothic"/>
              </a:rPr>
              <a:t>API</a:t>
            </a:r>
            <a:endParaRPr sz="1000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93" name="Rounded Rectangle 4">
            <a:extLst>
              <a:ext uri="{FF2B5EF4-FFF2-40B4-BE49-F238E27FC236}">
                <a16:creationId xmlns:a16="http://schemas.microsoft.com/office/drawing/2014/main" id="{B96A97F1-438A-5162-621E-150091F0CD16}"/>
              </a:ext>
            </a:extLst>
          </p:cNvPr>
          <p:cNvSpPr/>
          <p:nvPr/>
        </p:nvSpPr>
        <p:spPr>
          <a:xfrm>
            <a:off x="8003396" y="2184981"/>
            <a:ext cx="1446284" cy="269831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000" dirty="0">
                <a:solidFill>
                  <a:schemeClr val="bg1"/>
                </a:solidFill>
                <a:latin typeface="Malgun Gothic"/>
              </a:rPr>
              <a:t>UX Writing</a:t>
            </a:r>
            <a:endParaRPr sz="1000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94" name="Rounded Rectangle 3">
            <a:extLst>
              <a:ext uri="{FF2B5EF4-FFF2-40B4-BE49-F238E27FC236}">
                <a16:creationId xmlns:a16="http://schemas.microsoft.com/office/drawing/2014/main" id="{8F90A5B0-B06F-9913-CC91-1837780DDE5F}"/>
              </a:ext>
            </a:extLst>
          </p:cNvPr>
          <p:cNvSpPr/>
          <p:nvPr/>
        </p:nvSpPr>
        <p:spPr>
          <a:xfrm>
            <a:off x="10307682" y="1582927"/>
            <a:ext cx="1446284" cy="269831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Malgun Gothic"/>
              </a:rPr>
              <a:t>디자인시스템</a:t>
            </a:r>
            <a:endParaRPr sz="1000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95" name="Rounded Rectangle 4">
            <a:extLst>
              <a:ext uri="{FF2B5EF4-FFF2-40B4-BE49-F238E27FC236}">
                <a16:creationId xmlns:a16="http://schemas.microsoft.com/office/drawing/2014/main" id="{B7085C69-A3FA-4240-4F23-75B30EE3EEA1}"/>
              </a:ext>
            </a:extLst>
          </p:cNvPr>
          <p:cNvSpPr/>
          <p:nvPr/>
        </p:nvSpPr>
        <p:spPr>
          <a:xfrm>
            <a:off x="10307682" y="1883657"/>
            <a:ext cx="1446284" cy="269831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Malgun Gothic"/>
              </a:rPr>
              <a:t>코딩</a:t>
            </a:r>
            <a:endParaRPr sz="1000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96" name="Rounded Rectangle 4">
            <a:extLst>
              <a:ext uri="{FF2B5EF4-FFF2-40B4-BE49-F238E27FC236}">
                <a16:creationId xmlns:a16="http://schemas.microsoft.com/office/drawing/2014/main" id="{70B59E16-8766-7AFD-CDEE-99194C704224}"/>
              </a:ext>
            </a:extLst>
          </p:cNvPr>
          <p:cNvSpPr/>
          <p:nvPr/>
        </p:nvSpPr>
        <p:spPr>
          <a:xfrm>
            <a:off x="10307682" y="2184981"/>
            <a:ext cx="1446284" cy="269831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Malgun Gothic"/>
              </a:rPr>
              <a:t>테스트</a:t>
            </a:r>
            <a:endParaRPr sz="1000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CDA71C-601A-A05A-A95F-525A8053530E}"/>
              </a:ext>
            </a:extLst>
          </p:cNvPr>
          <p:cNvSpPr txBox="1"/>
          <p:nvPr/>
        </p:nvSpPr>
        <p:spPr>
          <a:xfrm>
            <a:off x="320040" y="137160"/>
            <a:ext cx="11521440" cy="43184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FFFFFF"/>
                </a:solidFill>
                <a:latin typeface="Malgun Gothic"/>
              </a:rPr>
              <a:t>방법론 단계별 산출물</a:t>
            </a:r>
          </a:p>
        </p:txBody>
      </p:sp>
      <p:sp>
        <p:nvSpPr>
          <p:cNvPr id="105" name="Rounded Rectangle 3">
            <a:extLst>
              <a:ext uri="{FF2B5EF4-FFF2-40B4-BE49-F238E27FC236}">
                <a16:creationId xmlns:a16="http://schemas.microsoft.com/office/drawing/2014/main" id="{81F76B84-9BF1-E2B6-851C-7D449097902E}"/>
              </a:ext>
            </a:extLst>
          </p:cNvPr>
          <p:cNvSpPr/>
          <p:nvPr/>
        </p:nvSpPr>
        <p:spPr>
          <a:xfrm>
            <a:off x="438034" y="1582927"/>
            <a:ext cx="391587" cy="871885"/>
          </a:xfrm>
          <a:prstGeom prst="roundRect">
            <a:avLst>
              <a:gd name="adj" fmla="val 10000"/>
            </a:avLst>
          </a:prstGeom>
          <a:solidFill>
            <a:srgbClr val="241C05"/>
          </a:solidFill>
          <a:ln w="1651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Malgun Gothic"/>
              </a:rPr>
              <a:t>컨벤션</a:t>
            </a:r>
            <a:endParaRPr sz="1000" b="1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106" name="Rounded Rectangle 8">
            <a:extLst>
              <a:ext uri="{FF2B5EF4-FFF2-40B4-BE49-F238E27FC236}">
                <a16:creationId xmlns:a16="http://schemas.microsoft.com/office/drawing/2014/main" id="{40E7B2B3-36E6-C8ED-6035-2D5802DF453B}"/>
              </a:ext>
            </a:extLst>
          </p:cNvPr>
          <p:cNvSpPr/>
          <p:nvPr/>
        </p:nvSpPr>
        <p:spPr>
          <a:xfrm>
            <a:off x="438034" y="3106243"/>
            <a:ext cx="391587" cy="448054"/>
          </a:xfrm>
          <a:prstGeom prst="roundRect">
            <a:avLst>
              <a:gd name="adj" fmla="val 10000"/>
            </a:avLst>
          </a:prstGeom>
          <a:solidFill>
            <a:srgbClr val="162418"/>
          </a:solidFill>
          <a:ln w="20320">
            <a:solidFill>
              <a:srgbClr val="3A6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dirty="0">
                <a:solidFill>
                  <a:srgbClr val="8FD9A3"/>
                </a:solidFill>
                <a:latin typeface="Malgun Gothic"/>
              </a:rPr>
              <a:t>단계</a:t>
            </a:r>
            <a:endParaRPr sz="1000" dirty="0">
              <a:solidFill>
                <a:srgbClr val="8FD9A3"/>
              </a:solidFill>
              <a:latin typeface="Malgun Gothic"/>
            </a:endParaRPr>
          </a:p>
        </p:txBody>
      </p:sp>
      <p:sp>
        <p:nvSpPr>
          <p:cNvPr id="107" name="Rounded Rectangle 13">
            <a:extLst>
              <a:ext uri="{FF2B5EF4-FFF2-40B4-BE49-F238E27FC236}">
                <a16:creationId xmlns:a16="http://schemas.microsoft.com/office/drawing/2014/main" id="{D314DDF6-AEB1-FBA8-9BB1-0ECA6467D95A}"/>
              </a:ext>
            </a:extLst>
          </p:cNvPr>
          <p:cNvSpPr/>
          <p:nvPr/>
        </p:nvSpPr>
        <p:spPr>
          <a:xfrm>
            <a:off x="438034" y="4147009"/>
            <a:ext cx="391587" cy="2008873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2000" rIns="73152" bIns="72000" rtlCol="0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Malgun Gothic"/>
              </a:rPr>
              <a:t>설계</a:t>
            </a:r>
            <a:endParaRPr lang="en-US" altLang="ko-KR" sz="1000" b="1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Malgun Gothic"/>
              </a:rPr>
              <a:t> 산출물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15DBB8E8-AEDF-406F-2B83-6E04FA93EE57}"/>
              </a:ext>
            </a:extLst>
          </p:cNvPr>
          <p:cNvSpPr/>
          <p:nvPr/>
        </p:nvSpPr>
        <p:spPr>
          <a:xfrm>
            <a:off x="320040" y="687600"/>
            <a:ext cx="11521440" cy="640800"/>
          </a:xfrm>
          <a:prstGeom prst="roundRect">
            <a:avLst>
              <a:gd name="adj" fmla="val 8000"/>
            </a:avLst>
          </a:prstGeom>
          <a:solidFill>
            <a:srgbClr val="0432FF">
              <a:alpha val="6465"/>
            </a:srgbClr>
          </a:solidFill>
          <a:ln w="12700">
            <a:solidFill>
              <a:srgbClr val="043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2000" rIns="164592" bIns="365760" rtlCol="0" anchor="t"/>
          <a:lstStyle/>
          <a:p>
            <a:pPr>
              <a:lnSpc>
                <a:spcPct val="125000"/>
              </a:lnSpc>
            </a:pPr>
            <a:r>
              <a:rPr lang="ko-KR" altLang="en-US" sz="1300" dirty="0">
                <a:solidFill>
                  <a:schemeClr val="bg1"/>
                </a:solidFill>
                <a:latin typeface="+mn-ea"/>
              </a:rPr>
              <a:t>각 단계별로 </a:t>
            </a:r>
            <a:r>
              <a:rPr lang="en-US" altLang="ko-KR" sz="1300" dirty="0"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300" dirty="0">
                <a:solidFill>
                  <a:schemeClr val="bg1"/>
                </a:solidFill>
                <a:latin typeface="+mn-ea"/>
              </a:rPr>
              <a:t>협업하여 만들어 내는 산출물의 종류와 작성 흐름은 아래와 같습니다</a:t>
            </a:r>
            <a:r>
              <a:rPr lang="en-US" altLang="ko-KR" sz="1300" dirty="0">
                <a:solidFill>
                  <a:schemeClr val="bg1"/>
                </a:solidFill>
                <a:latin typeface="+mn-ea"/>
              </a:rPr>
              <a:t>.</a:t>
            </a:r>
            <a:br>
              <a:rPr lang="en-US" altLang="ko-KR" sz="1300" dirty="0">
                <a:solidFill>
                  <a:schemeClr val="bg1"/>
                </a:solidFill>
                <a:latin typeface="+mn-ea"/>
              </a:rPr>
            </a:br>
            <a:r>
              <a:rPr lang="en-US" altLang="ko-KR" sz="13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300" dirty="0">
                <a:solidFill>
                  <a:schemeClr val="bg1"/>
                </a:solidFill>
                <a:latin typeface="+mn-ea"/>
              </a:rPr>
              <a:t>설계 산출물</a:t>
            </a:r>
            <a:r>
              <a:rPr lang="en-US" altLang="ko-KR" sz="1300" dirty="0">
                <a:solidFill>
                  <a:schemeClr val="bg1"/>
                </a:solidFill>
                <a:latin typeface="+mn-ea"/>
              </a:rPr>
              <a:t>:</a:t>
            </a:r>
            <a:r>
              <a:rPr lang="ko-KR" altLang="en-US" sz="1300" dirty="0">
                <a:solidFill>
                  <a:schemeClr val="bg1"/>
                </a:solidFill>
                <a:latin typeface="+mn-ea"/>
              </a:rPr>
              <a:t> 시스템의 요구</a:t>
            </a:r>
            <a:r>
              <a:rPr lang="en-US" altLang="ko-KR" sz="1300" dirty="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300" dirty="0">
                <a:solidFill>
                  <a:schemeClr val="bg1"/>
                </a:solidFill>
                <a:latin typeface="+mn-ea"/>
              </a:rPr>
              <a:t>구조</a:t>
            </a:r>
            <a:r>
              <a:rPr lang="en-US" altLang="ko-KR" sz="1300" dirty="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300" dirty="0">
                <a:solidFill>
                  <a:schemeClr val="bg1"/>
                </a:solidFill>
                <a:latin typeface="+mn-ea"/>
              </a:rPr>
              <a:t>구현 결과 </a:t>
            </a:r>
            <a:r>
              <a:rPr lang="en-US" altLang="ko-KR" sz="1300" dirty="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+mn-ea"/>
              </a:rPr>
              <a:t> 컨벤션</a:t>
            </a:r>
            <a:r>
              <a:rPr lang="en-US" altLang="ko-KR" sz="1300" dirty="0">
                <a:solidFill>
                  <a:schemeClr val="bg1"/>
                </a:solidFill>
                <a:latin typeface="+mn-ea"/>
              </a:rPr>
              <a:t>:</a:t>
            </a:r>
            <a:r>
              <a:rPr lang="ko-KR" altLang="en-US" sz="1300" dirty="0">
                <a:solidFill>
                  <a:schemeClr val="bg1"/>
                </a:solidFill>
                <a:latin typeface="+mn-ea"/>
              </a:rPr>
              <a:t>  표준화 기준</a:t>
            </a:r>
            <a:r>
              <a:rPr lang="en-US" altLang="ko-KR" sz="1300" dirty="0">
                <a:solidFill>
                  <a:schemeClr val="bg1"/>
                </a:solidFill>
                <a:latin typeface="+mn-ea"/>
              </a:rPr>
              <a:t>)</a:t>
            </a:r>
            <a:br>
              <a:rPr lang="en-US" altLang="ko-KR" sz="1300" dirty="0">
                <a:solidFill>
                  <a:schemeClr val="bg1"/>
                </a:solidFill>
                <a:latin typeface="+mn-ea"/>
              </a:rPr>
            </a:br>
            <a:endParaRPr lang="en-US" altLang="ko-KR" sz="13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528299-B76E-2F6B-137F-DB48C52F591E}"/>
              </a:ext>
            </a:extLst>
          </p:cNvPr>
          <p:cNvSpPr txBox="1"/>
          <p:nvPr/>
        </p:nvSpPr>
        <p:spPr>
          <a:xfrm>
            <a:off x="1104652" y="6351508"/>
            <a:ext cx="303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* EARS = Easy Approach to Requirements Syntax</a:t>
            </a:r>
            <a:b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</a:b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* GWT= </a:t>
            </a:r>
            <a:r>
              <a:rPr lang="ko-KR" altLang="ko-KR" sz="900" dirty="0" err="1">
                <a:solidFill>
                  <a:schemeClr val="bg1">
                    <a:lumMod val="7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Given-When-Then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 </a:t>
            </a:r>
            <a:endParaRPr kumimoji="1" lang="ko-KR" altLang="en-US" sz="900" dirty="0">
              <a:solidFill>
                <a:schemeClr val="bg1">
                  <a:lumMod val="7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82445B4-FF5B-B96E-6CD6-B4D85362338F}"/>
              </a:ext>
            </a:extLst>
          </p:cNvPr>
          <p:cNvSpPr/>
          <p:nvPr/>
        </p:nvSpPr>
        <p:spPr>
          <a:xfrm>
            <a:off x="0" y="1411385"/>
            <a:ext cx="12191695" cy="18288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 err="1">
                <a:solidFill>
                  <a:srgbClr val="FFFFFF"/>
                </a:solidFill>
                <a:latin typeface="Malgun Gothic"/>
              </a:rPr>
              <a:t>착수</a:t>
            </a:r>
            <a:r>
              <a:rPr lang="ko-KR" altLang="en-US" sz="2400" b="1" dirty="0">
                <a:solidFill>
                  <a:srgbClr val="FFFFFF"/>
                </a:solidFill>
                <a:latin typeface="Malgun Gothic"/>
              </a:rPr>
              <a:t>단계</a:t>
            </a:r>
            <a:r>
              <a:rPr sz="2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b="1" dirty="0">
                <a:solidFill>
                  <a:srgbClr val="FFFFFF"/>
                </a:solidFill>
                <a:latin typeface="Malgun Gothic"/>
              </a:rPr>
              <a:t>—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이해관계자와</a:t>
            </a:r>
            <a:r>
              <a:rPr dirty="0">
                <a:solidFill>
                  <a:srgbClr val="FFFFFF"/>
                </a:solidFill>
                <a:latin typeface="Malgun Gothic"/>
              </a:rPr>
              <a:t>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프로젝트</a:t>
            </a:r>
            <a:r>
              <a:rPr dirty="0">
                <a:solidFill>
                  <a:srgbClr val="FFFFFF"/>
                </a:solidFill>
                <a:latin typeface="Malgun Gothic"/>
              </a:rPr>
              <a:t>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이해</a:t>
            </a:r>
            <a:r>
              <a:rPr dirty="0">
                <a:solidFill>
                  <a:srgbClr val="FFFFFF"/>
                </a:solidFill>
                <a:latin typeface="Malgun Gothic"/>
              </a:rPr>
              <a:t>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공유</a:t>
            </a:r>
            <a:endParaRPr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0040" y="685800"/>
            <a:ext cx="11521440" cy="640800"/>
          </a:xfrm>
          <a:prstGeom prst="roundRect">
            <a:avLst>
              <a:gd name="adj" fmla="val 8000"/>
            </a:avLst>
          </a:prstGeom>
          <a:solidFill>
            <a:srgbClr val="2A1A1A"/>
          </a:solidFill>
          <a:ln w="12700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2000" rIns="164592" bIns="365760" rtlCol="0" anchor="t"/>
          <a:lstStyle/>
          <a:p>
            <a:pPr>
              <a:lnSpc>
                <a:spcPct val="125000"/>
              </a:lnSpc>
            </a:pP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산출물의 초점이 "B2C 커머스 플랫폼 </a:t>
            </a:r>
            <a:r>
              <a:rPr lang="ko-KR" altLang="ko-KR" sz="1300" dirty="0" err="1">
                <a:solidFill>
                  <a:srgbClr val="E0B0AD"/>
                </a:solidFill>
                <a:latin typeface="+mn-ea"/>
              </a:rPr>
              <a:t>구축"이</a:t>
            </a: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 아니라 "방법론 </a:t>
            </a:r>
            <a:r>
              <a:rPr lang="ko-KR" altLang="ko-KR" sz="1300" dirty="0" err="1">
                <a:solidFill>
                  <a:srgbClr val="E0B0AD"/>
                </a:solidFill>
                <a:latin typeface="+mn-ea"/>
              </a:rPr>
              <a:t>검증·파일럿"에</a:t>
            </a: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 </a:t>
            </a:r>
            <a:r>
              <a:rPr lang="ko-KR" altLang="ko-KR" sz="1300" dirty="0" err="1">
                <a:solidFill>
                  <a:srgbClr val="E0B0AD"/>
                </a:solidFill>
                <a:latin typeface="+mn-ea"/>
              </a:rPr>
              <a:t>맞춰짐</a:t>
            </a:r>
            <a:endParaRPr lang="en-US" altLang="ko-KR" sz="1300" dirty="0">
              <a:solidFill>
                <a:srgbClr val="E0B0AD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→ </a:t>
            </a:r>
            <a:r>
              <a:rPr lang="ko-KR" altLang="en-US" sz="1300" dirty="0">
                <a:solidFill>
                  <a:srgbClr val="E0B0AD"/>
                </a:solidFill>
                <a:latin typeface="+mn-ea"/>
              </a:rPr>
              <a:t> </a:t>
            </a: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B2C 커머스 플랫폼 프로젝트 관점으로 문서 보완(일반화)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3420" y="946403"/>
            <a:ext cx="1677818" cy="310896"/>
          </a:xfrm>
          <a:prstGeom prst="roundRect">
            <a:avLst>
              <a:gd name="adj" fmla="val 8000"/>
            </a:avLst>
          </a:prstGeom>
          <a:solidFill>
            <a:srgbClr val="40201E"/>
          </a:solidFill>
          <a:ln w="13970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F8A80"/>
                </a:solidFill>
                <a:latin typeface="Malgun Gothic"/>
              </a:rPr>
              <a:t>⚠</a:t>
            </a:r>
            <a:r>
              <a:rPr lang="ko-KR" altLang="en-US" sz="1050" b="1" dirty="0">
                <a:solidFill>
                  <a:srgbClr val="FF8A80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FF8A80"/>
                </a:solidFill>
                <a:latin typeface="Malgun Gothic"/>
              </a:rPr>
              <a:t>시행착오·문제점</a:t>
            </a:r>
            <a:endParaRPr sz="1050" b="1" dirty="0">
              <a:solidFill>
                <a:srgbClr val="FF8A80"/>
              </a:solidFill>
              <a:latin typeface="Malgun Gothi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411385"/>
            <a:ext cx="12191695" cy="18288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530257"/>
            <a:ext cx="16002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>
                <a:solidFill>
                  <a:srgbClr val="8AB4F8"/>
                </a:solidFill>
                <a:latin typeface="Malgun Gothic"/>
              </a:rPr>
              <a:t>① </a:t>
            </a:r>
            <a:r>
              <a:rPr sz="1250" b="1" dirty="0" err="1">
                <a:solidFill>
                  <a:srgbClr val="8AB4F8"/>
                </a:solidFill>
                <a:latin typeface="Malgun Gothic"/>
              </a:rPr>
              <a:t>산출물</a:t>
            </a:r>
            <a:r>
              <a:rPr sz="1250" b="1" dirty="0">
                <a:solidFill>
                  <a:srgbClr val="8AB4F8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8AB4F8"/>
                </a:solidFill>
                <a:latin typeface="Malgun Gothic"/>
              </a:rPr>
              <a:t>흐름</a:t>
            </a:r>
            <a:endParaRPr sz="1250" b="1" dirty="0">
              <a:solidFill>
                <a:srgbClr val="8AB4F8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1530257"/>
            <a:ext cx="7452359" cy="2970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dirty="0">
                <a:solidFill>
                  <a:srgbClr val="81C995"/>
                </a:solidFill>
                <a:latin typeface="Malgun Gothic"/>
              </a:rPr>
              <a:t>② </a:t>
            </a:r>
            <a:r>
              <a:rPr lang="ko-KR" altLang="en-US" sz="1450" b="1" dirty="0">
                <a:solidFill>
                  <a:srgbClr val="81C995"/>
                </a:solidFill>
                <a:latin typeface="Malgun Gothic"/>
              </a:rPr>
              <a:t>산출물</a:t>
            </a:r>
            <a:endParaRPr sz="1450" b="1" dirty="0">
              <a:solidFill>
                <a:srgbClr val="81C995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59" y="1530257"/>
            <a:ext cx="14173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D54F"/>
                </a:solidFill>
                <a:latin typeface="Malgun Gothic"/>
              </a:rPr>
              <a:t>③ 연관 컨벤션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944632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2A2408"/>
          </a:solidFill>
          <a:ln w="13970">
            <a:solidFill>
              <a:srgbClr val="B8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문제정의서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1120140" y="2530121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0040" y="2772027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2A2408"/>
          </a:solidFill>
          <a:ln w="13970">
            <a:solidFill>
              <a:srgbClr val="B8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목표KPI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1120140" y="4184912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0040" y="3599422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이해관계자맵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9" name="Connector 18"/>
          <p:cNvCxnSpPr>
            <a:cxnSpLocks/>
          </p:cNvCxnSpPr>
          <p:nvPr/>
        </p:nvCxnSpPr>
        <p:spPr>
          <a:xfrm>
            <a:off x="1120140" y="5012308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0040" y="4426818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범위</a:t>
            </a:r>
            <a:r>
              <a:rPr sz="950" b="1" dirty="0">
                <a:solidFill>
                  <a:srgbClr val="FFFFFF"/>
                </a:solidFill>
                <a:latin typeface="Malgun Gothic"/>
              </a:rPr>
              <a:t>(Scope)</a:t>
            </a:r>
          </a:p>
        </p:txBody>
      </p:sp>
      <p:cxnSp>
        <p:nvCxnSpPr>
          <p:cNvPr id="21" name="Connector 20"/>
          <p:cNvCxnSpPr>
            <a:cxnSpLocks/>
          </p:cNvCxnSpPr>
          <p:nvPr/>
        </p:nvCxnSpPr>
        <p:spPr>
          <a:xfrm>
            <a:off x="1120140" y="3357516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0040" y="5254214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대안비교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>
            <a:off x="1120140" y="5839704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0040" y="6081607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리스크가정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424159" y="1944632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1397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88888"/>
                </a:solidFill>
                <a:latin typeface="Malgun Gothic"/>
              </a:rPr>
              <a:t>해당 없음</a:t>
            </a:r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0751E100-B97D-2894-1C1B-7D426DEB3DB6}"/>
              </a:ext>
            </a:extLst>
          </p:cNvPr>
          <p:cNvSpPr/>
          <p:nvPr/>
        </p:nvSpPr>
        <p:spPr>
          <a:xfrm>
            <a:off x="2148840" y="1411382"/>
            <a:ext cx="13716" cy="5400000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11">
            <a:extLst>
              <a:ext uri="{FF2B5EF4-FFF2-40B4-BE49-F238E27FC236}">
                <a16:creationId xmlns:a16="http://schemas.microsoft.com/office/drawing/2014/main" id="{E9738E04-D27E-0510-31EC-AA06CBF10F55}"/>
              </a:ext>
            </a:extLst>
          </p:cNvPr>
          <p:cNvSpPr/>
          <p:nvPr/>
        </p:nvSpPr>
        <p:spPr>
          <a:xfrm>
            <a:off x="10227563" y="1411382"/>
            <a:ext cx="13716" cy="5400000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31">
            <a:extLst>
              <a:ext uri="{FF2B5EF4-FFF2-40B4-BE49-F238E27FC236}">
                <a16:creationId xmlns:a16="http://schemas.microsoft.com/office/drawing/2014/main" id="{C75A65EE-F01B-DF69-3AA0-2594EEC35324}"/>
              </a:ext>
            </a:extLst>
          </p:cNvPr>
          <p:cNvSpPr/>
          <p:nvPr/>
        </p:nvSpPr>
        <p:spPr>
          <a:xfrm>
            <a:off x="2468880" y="1944632"/>
            <a:ext cx="7452359" cy="4608575"/>
          </a:xfrm>
          <a:prstGeom prst="roundRect">
            <a:avLst>
              <a:gd name="adj" fmla="val 8000"/>
            </a:avLst>
          </a:prstGeom>
          <a:solidFill>
            <a:srgbClr val="10151A"/>
          </a:solidFill>
          <a:ln w="19050">
            <a:solidFill>
              <a:srgbClr val="4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r>
              <a:rPr sz="1100" dirty="0">
                <a:solidFill>
                  <a:srgbClr val="777777"/>
                </a:solidFill>
                <a:latin typeface="Malgun Gothic"/>
              </a:rPr>
              <a:t>🖼</a:t>
            </a:r>
          </a:p>
        </p:txBody>
      </p:sp>
      <p:pic>
        <p:nvPicPr>
          <p:cNvPr id="13" name="목표">
            <a:extLst>
              <a:ext uri="{FF2B5EF4-FFF2-40B4-BE49-F238E27FC236}">
                <a16:creationId xmlns:a16="http://schemas.microsoft.com/office/drawing/2014/main" id="{5761C606-133B-7571-EE6D-2C18CDCDA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755" y="2227552"/>
            <a:ext cx="2287390" cy="262218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8" name="이혜관졔자">
            <a:extLst>
              <a:ext uri="{FF2B5EF4-FFF2-40B4-BE49-F238E27FC236}">
                <a16:creationId xmlns:a16="http://schemas.microsoft.com/office/drawing/2014/main" id="{BEFE1E42-197A-F204-4568-D09B521C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546" y="2227553"/>
            <a:ext cx="2389771" cy="260934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4" name="범위">
            <a:extLst>
              <a:ext uri="{FF2B5EF4-FFF2-40B4-BE49-F238E27FC236}">
                <a16:creationId xmlns:a16="http://schemas.microsoft.com/office/drawing/2014/main" id="{DB47107A-2A1D-CBDB-5007-92AF9BADB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718" y="2227552"/>
            <a:ext cx="2317643" cy="26345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5" name="대안비교">
            <a:extLst>
              <a:ext uri="{FF2B5EF4-FFF2-40B4-BE49-F238E27FC236}">
                <a16:creationId xmlns:a16="http://schemas.microsoft.com/office/drawing/2014/main" id="{113F24EA-9FCA-C089-CAA1-8F0982D3C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762" y="2227552"/>
            <a:ext cx="2317644" cy="26345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6" name="리스크">
            <a:extLst>
              <a:ext uri="{FF2B5EF4-FFF2-40B4-BE49-F238E27FC236}">
                <a16:creationId xmlns:a16="http://schemas.microsoft.com/office/drawing/2014/main" id="{F11E5323-B5C1-9529-FBA0-4D281E8FC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6805" y="2227552"/>
            <a:ext cx="2526611" cy="26345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B9AE74-ABC6-67C3-7860-F80865DE8B04}"/>
              </a:ext>
            </a:extLst>
          </p:cNvPr>
          <p:cNvSpPr/>
          <p:nvPr/>
        </p:nvSpPr>
        <p:spPr>
          <a:xfrm>
            <a:off x="2761612" y="2232411"/>
            <a:ext cx="6884660" cy="2615440"/>
          </a:xfrm>
          <a:prstGeom prst="rect">
            <a:avLst/>
          </a:prstGeom>
          <a:solidFill>
            <a:schemeClr val="accent6">
              <a:lumMod val="20000"/>
              <a:lumOff val="80000"/>
              <a:alpha val="48871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2" name="문제정의서">
            <a:extLst>
              <a:ext uri="{FF2B5EF4-FFF2-40B4-BE49-F238E27FC236}">
                <a16:creationId xmlns:a16="http://schemas.microsoft.com/office/drawing/2014/main" id="{04C125A3-C9DE-F677-9C0F-5E0221D7C4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0821" y="2596576"/>
            <a:ext cx="3695627" cy="384403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 err="1">
                <a:solidFill>
                  <a:srgbClr val="FFFFFF"/>
                </a:solidFill>
                <a:latin typeface="Malgun Gothic"/>
              </a:rPr>
              <a:t>범위정의</a:t>
            </a:r>
            <a:r>
              <a:rPr lang="ko-KR" altLang="en-US" sz="2400" b="1" dirty="0">
                <a:solidFill>
                  <a:srgbClr val="FFFFFF"/>
                </a:solidFill>
                <a:latin typeface="Malgun Gothic"/>
              </a:rPr>
              <a:t> 단계</a:t>
            </a:r>
            <a:r>
              <a:rPr sz="2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b="1" dirty="0">
                <a:solidFill>
                  <a:srgbClr val="FFFFFF"/>
                </a:solidFill>
                <a:latin typeface="Malgun Gothic"/>
              </a:rPr>
              <a:t>— </a:t>
            </a:r>
            <a:r>
              <a:rPr b="1" dirty="0" err="1">
                <a:solidFill>
                  <a:srgbClr val="FFFFFF"/>
                </a:solidFill>
                <a:latin typeface="Malgun Gothic"/>
              </a:rPr>
              <a:t>시스템구조와</a:t>
            </a:r>
            <a:r>
              <a:rPr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FFFFFF"/>
                </a:solidFill>
                <a:latin typeface="Malgun Gothic"/>
              </a:rPr>
              <a:t>도메인의</a:t>
            </a:r>
            <a:r>
              <a:rPr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FFFFFF"/>
                </a:solidFill>
                <a:latin typeface="Malgun Gothic"/>
              </a:rPr>
              <a:t>역할정의</a:t>
            </a:r>
            <a:endParaRPr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0040" y="685800"/>
            <a:ext cx="11521440" cy="640078"/>
          </a:xfrm>
          <a:prstGeom prst="roundRect">
            <a:avLst>
              <a:gd name="adj" fmla="val 8000"/>
            </a:avLst>
          </a:prstGeom>
          <a:solidFill>
            <a:srgbClr val="2A1A1A"/>
          </a:solidFill>
          <a:ln w="12700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2000" rIns="164592" bIns="365760" rtlCol="0" anchor="t"/>
          <a:lstStyle/>
          <a:p>
            <a:pPr>
              <a:lnSpc>
                <a:spcPct val="125000"/>
              </a:lnSpc>
            </a:pPr>
            <a:r>
              <a:rPr lang="ko-KR" altLang="ko-KR" sz="1300" dirty="0" err="1">
                <a:solidFill>
                  <a:srgbClr val="E0B0AD"/>
                </a:solidFill>
                <a:latin typeface="+mn-ea"/>
              </a:rPr>
              <a:t>착수·범위정의</a:t>
            </a: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 산출물만으론 도메인별 주요 </a:t>
            </a:r>
            <a:r>
              <a:rPr lang="ko-KR" altLang="ko-KR" sz="1300" dirty="0" err="1">
                <a:solidFill>
                  <a:srgbClr val="E0B0AD"/>
                </a:solidFill>
                <a:latin typeface="+mn-ea"/>
              </a:rPr>
              <a:t>역할·책임</a:t>
            </a: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 정의 부족</a:t>
            </a:r>
            <a:endParaRPr lang="en-US" altLang="ko-KR" sz="1300" dirty="0">
              <a:solidFill>
                <a:srgbClr val="E0B0AD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→ </a:t>
            </a:r>
            <a:r>
              <a:rPr lang="ko-KR" altLang="en-US" sz="1300" dirty="0">
                <a:solidFill>
                  <a:srgbClr val="E0B0AD"/>
                </a:solidFill>
                <a:latin typeface="+mn-ea"/>
              </a:rPr>
              <a:t> </a:t>
            </a:r>
            <a:r>
              <a:rPr lang="ko-KR" altLang="en-US" sz="1300" dirty="0" err="1">
                <a:solidFill>
                  <a:srgbClr val="E0B0AD"/>
                </a:solidFill>
                <a:latin typeface="+mn-ea"/>
              </a:rPr>
              <a:t>업무인터뷰결과서</a:t>
            </a:r>
            <a:r>
              <a:rPr lang="ko-KR" altLang="en-US" sz="1300" dirty="0">
                <a:solidFill>
                  <a:srgbClr val="E0B0AD"/>
                </a:solidFill>
                <a:latin typeface="+mn-ea"/>
              </a:rPr>
              <a:t> 산출물을 추가하여 도메인정의서 품질 보완</a:t>
            </a:r>
            <a:endParaRPr lang="ko-KR" altLang="ko-KR" sz="1300" dirty="0">
              <a:solidFill>
                <a:srgbClr val="E0B0AD"/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530768"/>
            <a:ext cx="16002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>
                <a:solidFill>
                  <a:srgbClr val="8AB4F8"/>
                </a:solidFill>
                <a:latin typeface="Malgun Gothic"/>
              </a:rPr>
              <a:t>① </a:t>
            </a:r>
            <a:r>
              <a:rPr sz="1250" b="1" dirty="0" err="1">
                <a:solidFill>
                  <a:srgbClr val="8AB4F8"/>
                </a:solidFill>
                <a:latin typeface="Malgun Gothic"/>
              </a:rPr>
              <a:t>산출물</a:t>
            </a:r>
            <a:r>
              <a:rPr sz="1250" b="1" dirty="0">
                <a:solidFill>
                  <a:srgbClr val="8AB4F8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8AB4F8"/>
                </a:solidFill>
                <a:latin typeface="Malgun Gothic"/>
              </a:rPr>
              <a:t>흐름</a:t>
            </a:r>
            <a:endParaRPr sz="1250" b="1" dirty="0">
              <a:solidFill>
                <a:srgbClr val="8AB4F8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1530768"/>
            <a:ext cx="7452359" cy="2970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dirty="0">
                <a:solidFill>
                  <a:srgbClr val="81C995"/>
                </a:solidFill>
                <a:latin typeface="Malgun Gothic"/>
              </a:rPr>
              <a:t>② </a:t>
            </a:r>
            <a:r>
              <a:rPr lang="ko-KR" altLang="en-US" sz="1450" b="1" dirty="0">
                <a:solidFill>
                  <a:srgbClr val="81C995"/>
                </a:solidFill>
                <a:latin typeface="Malgun Gothic"/>
              </a:rPr>
              <a:t>산출물</a:t>
            </a:r>
            <a:endParaRPr sz="1450" b="1" dirty="0">
              <a:solidFill>
                <a:srgbClr val="81C995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59" y="1530768"/>
            <a:ext cx="14173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D54F"/>
                </a:solidFill>
                <a:latin typeface="Malgun Gothic"/>
              </a:rPr>
              <a:t>③ 연관 컨벤션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411896"/>
            <a:ext cx="13716" cy="5400000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41280" y="1411896"/>
            <a:ext cx="13716" cy="5400000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0040" y="1944632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2A2408"/>
          </a:solidFill>
          <a:ln w="13970">
            <a:solidFill>
              <a:srgbClr val="B8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업무인터뷰결과서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1120140" y="2530121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0040" y="2772027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제약사항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1120140" y="3357516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0040" y="3599422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>
                <a:solidFill>
                  <a:srgbClr val="FFFFFF"/>
                </a:solidFill>
                <a:latin typeface="Malgun Gothic"/>
              </a:rPr>
              <a:t>NFR</a:t>
            </a:r>
          </a:p>
        </p:txBody>
      </p:sp>
      <p:cxnSp>
        <p:nvCxnSpPr>
          <p:cNvPr id="19" name="Connector 18"/>
          <p:cNvCxnSpPr>
            <a:cxnSpLocks/>
          </p:cNvCxnSpPr>
          <p:nvPr/>
        </p:nvCxnSpPr>
        <p:spPr>
          <a:xfrm>
            <a:off x="1120140" y="4184912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0040" y="4426818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컴포넌트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21" name="Connector 20"/>
          <p:cNvCxnSpPr>
            <a:cxnSpLocks/>
          </p:cNvCxnSpPr>
          <p:nvPr/>
        </p:nvCxnSpPr>
        <p:spPr>
          <a:xfrm>
            <a:off x="1120140" y="5012308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0040" y="5254214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시스템구성도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>
            <a:off x="1120140" y="5839704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0040" y="6081607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도메인정의서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424159" y="1944632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41C05"/>
          </a:solidFill>
          <a:ln w="1397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rtlCol="0" anchor="ctr"/>
          <a:lstStyle/>
          <a:p>
            <a:pPr algn="ctr"/>
            <a:r>
              <a:rPr sz="1000" b="1" dirty="0" err="1">
                <a:solidFill>
                  <a:srgbClr val="FFD54F"/>
                </a:solidFill>
                <a:latin typeface="Malgun Gothic"/>
              </a:rPr>
              <a:t>용어</a:t>
            </a:r>
            <a:r>
              <a:rPr sz="1000" b="1" dirty="0">
                <a:solidFill>
                  <a:srgbClr val="FFD54F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FFD54F"/>
                </a:solidFill>
                <a:latin typeface="Malgun Gothic"/>
              </a:rPr>
              <a:t>컨벤션</a:t>
            </a:r>
            <a:endParaRPr sz="1000" b="1" dirty="0">
              <a:solidFill>
                <a:srgbClr val="FFD54F"/>
              </a:solidFill>
              <a:latin typeface="Malgun Gothic"/>
            </a:endParaRPr>
          </a:p>
          <a:p>
            <a:pPr algn="ctr">
              <a:lnSpc>
                <a:spcPct val="110000"/>
              </a:lnSpc>
            </a:pPr>
            <a:r>
              <a:rPr lang="ko-KR" altLang="en-US" sz="850" dirty="0">
                <a:solidFill>
                  <a:srgbClr val="C9B56A"/>
                </a:solidFill>
                <a:latin typeface="Malgun Gothic"/>
              </a:rPr>
              <a:t>도</a:t>
            </a:r>
            <a:r>
              <a:rPr sz="850" dirty="0" err="1">
                <a:solidFill>
                  <a:srgbClr val="C9B56A"/>
                </a:solidFill>
                <a:latin typeface="Malgun Gothic"/>
              </a:rPr>
              <a:t>메인정의서</a:t>
            </a:r>
            <a:r>
              <a:rPr sz="850" dirty="0">
                <a:solidFill>
                  <a:srgbClr val="C9B56A"/>
                </a:solidFill>
                <a:latin typeface="Malgun Gothic"/>
              </a:rPr>
              <a:t>, EARS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24159" y="2574371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41C05"/>
          </a:solidFill>
          <a:ln w="1397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rtlCol="0" anchor="ctr"/>
          <a:lstStyle/>
          <a:p>
            <a:pPr algn="ctr"/>
            <a:r>
              <a:rPr lang="ko-KR" altLang="en-US" sz="1000" b="1" dirty="0">
                <a:solidFill>
                  <a:srgbClr val="FFD54F"/>
                </a:solidFill>
                <a:latin typeface="Malgun Gothic"/>
              </a:rPr>
              <a:t>보안</a:t>
            </a:r>
            <a:r>
              <a:rPr sz="1000" b="1" dirty="0">
                <a:solidFill>
                  <a:srgbClr val="FFD54F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FFD54F"/>
                </a:solidFill>
                <a:latin typeface="Malgun Gothic"/>
              </a:rPr>
              <a:t>컨벤션</a:t>
            </a:r>
            <a:endParaRPr sz="1000" b="1" dirty="0">
              <a:solidFill>
                <a:srgbClr val="FFD54F"/>
              </a:solidFill>
              <a:latin typeface="Malgun Gothic"/>
            </a:endParaRPr>
          </a:p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C9B56A"/>
                </a:solidFill>
                <a:latin typeface="Malgun Gothic"/>
              </a:rPr>
              <a:t>NFR</a:t>
            </a:r>
            <a:endParaRPr sz="850" dirty="0">
              <a:solidFill>
                <a:srgbClr val="C9B56A"/>
              </a:solidFill>
              <a:latin typeface="Malgun Gothic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6209EC5-D842-0F34-FC92-4BE3E8E721FD}"/>
              </a:ext>
            </a:extLst>
          </p:cNvPr>
          <p:cNvSpPr/>
          <p:nvPr/>
        </p:nvSpPr>
        <p:spPr>
          <a:xfrm>
            <a:off x="0" y="1411200"/>
            <a:ext cx="12191695" cy="18288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6">
            <a:extLst>
              <a:ext uri="{FF2B5EF4-FFF2-40B4-BE49-F238E27FC236}">
                <a16:creationId xmlns:a16="http://schemas.microsoft.com/office/drawing/2014/main" id="{095FFB52-24AF-4BF4-7069-702EFF1C4639}"/>
              </a:ext>
            </a:extLst>
          </p:cNvPr>
          <p:cNvSpPr/>
          <p:nvPr/>
        </p:nvSpPr>
        <p:spPr>
          <a:xfrm>
            <a:off x="10083420" y="946403"/>
            <a:ext cx="1677818" cy="310896"/>
          </a:xfrm>
          <a:prstGeom prst="roundRect">
            <a:avLst>
              <a:gd name="adj" fmla="val 8000"/>
            </a:avLst>
          </a:prstGeom>
          <a:solidFill>
            <a:srgbClr val="40201E"/>
          </a:solidFill>
          <a:ln w="13970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F8A80"/>
                </a:solidFill>
                <a:latin typeface="Malgun Gothic"/>
              </a:rPr>
              <a:t>⚠</a:t>
            </a:r>
            <a:r>
              <a:rPr lang="ko-KR" altLang="en-US" sz="1050" b="1" dirty="0">
                <a:solidFill>
                  <a:srgbClr val="FF8A80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FF8A80"/>
                </a:solidFill>
                <a:latin typeface="Malgun Gothic"/>
              </a:rPr>
              <a:t>시행착오·문제점</a:t>
            </a:r>
            <a:endParaRPr sz="1050" b="1" dirty="0">
              <a:solidFill>
                <a:srgbClr val="FF8A80"/>
              </a:solidFill>
              <a:latin typeface="Malgun Gothic"/>
            </a:endParaRPr>
          </a:p>
        </p:txBody>
      </p:sp>
      <p:sp>
        <p:nvSpPr>
          <p:cNvPr id="37" name="Rounded Rectangle 31">
            <a:extLst>
              <a:ext uri="{FF2B5EF4-FFF2-40B4-BE49-F238E27FC236}">
                <a16:creationId xmlns:a16="http://schemas.microsoft.com/office/drawing/2014/main" id="{049B9762-E511-C3BD-82EE-744595A0AA25}"/>
              </a:ext>
            </a:extLst>
          </p:cNvPr>
          <p:cNvSpPr/>
          <p:nvPr/>
        </p:nvSpPr>
        <p:spPr>
          <a:xfrm>
            <a:off x="2468880" y="1944632"/>
            <a:ext cx="7452359" cy="4608575"/>
          </a:xfrm>
          <a:prstGeom prst="roundRect">
            <a:avLst>
              <a:gd name="adj" fmla="val 8000"/>
            </a:avLst>
          </a:prstGeom>
          <a:solidFill>
            <a:srgbClr val="10151A"/>
          </a:solidFill>
          <a:ln w="19050">
            <a:solidFill>
              <a:srgbClr val="4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endParaRPr sz="1100" dirty="0">
              <a:solidFill>
                <a:srgbClr val="777777"/>
              </a:solidFill>
              <a:latin typeface="Malgun Gothic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93136D7A-12C8-63B5-1365-0B61E63DB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463" y="2225583"/>
            <a:ext cx="2460035" cy="26597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051FAC78-A93E-3191-4DA6-74B1C6FB2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41" y="2225583"/>
            <a:ext cx="2281901" cy="26597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C700B3D5-88D2-531E-4162-DB37CDB36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285" y="2225583"/>
            <a:ext cx="2092064" cy="26597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7B3136D-60C0-8862-2791-DBCFF7B38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792" y="2225583"/>
            <a:ext cx="2092063" cy="26597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2DB5382-6243-6308-61DF-169A7D4D46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6159"/>
          <a:stretch>
            <a:fillRect/>
          </a:stretch>
        </p:blipFill>
        <p:spPr>
          <a:xfrm>
            <a:off x="7120299" y="2225583"/>
            <a:ext cx="2515299" cy="263655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58303DC6-1CAE-571C-0A53-3535AB59D805}"/>
              </a:ext>
            </a:extLst>
          </p:cNvPr>
          <p:cNvSpPr/>
          <p:nvPr/>
        </p:nvSpPr>
        <p:spPr>
          <a:xfrm>
            <a:off x="2739563" y="2225667"/>
            <a:ext cx="6896035" cy="2672752"/>
          </a:xfrm>
          <a:prstGeom prst="rect">
            <a:avLst/>
          </a:prstGeom>
          <a:solidFill>
            <a:schemeClr val="accent6">
              <a:lumMod val="20000"/>
              <a:lumOff val="80000"/>
              <a:alpha val="48871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6CE0853-3BAA-B7B6-05F0-E23FCE17D0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8306" y="2604545"/>
            <a:ext cx="3697911" cy="38559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 err="1">
                <a:solidFill>
                  <a:srgbClr val="FFFFFF"/>
                </a:solidFill>
                <a:latin typeface="Malgun Gothic"/>
              </a:rPr>
              <a:t>구조설계</a:t>
            </a:r>
            <a:r>
              <a:rPr sz="2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/>
              </a:rPr>
              <a:t>단계 </a:t>
            </a:r>
            <a:r>
              <a:rPr b="1" dirty="0">
                <a:solidFill>
                  <a:srgbClr val="FFFFFF"/>
                </a:solidFill>
                <a:latin typeface="Malgun Gothic"/>
              </a:rPr>
              <a:t>— </a:t>
            </a:r>
            <a:r>
              <a:rPr b="1" dirty="0" err="1">
                <a:solidFill>
                  <a:srgbClr val="FFFFFF"/>
                </a:solidFill>
                <a:latin typeface="Malgun Gothic"/>
              </a:rPr>
              <a:t>도메인</a:t>
            </a:r>
            <a:r>
              <a:rPr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FFFFFF"/>
                </a:solidFill>
                <a:latin typeface="Malgun Gothic"/>
              </a:rPr>
              <a:t>내부구조</a:t>
            </a:r>
            <a:r>
              <a:rPr lang="ko-KR" altLang="en-US" b="1" dirty="0">
                <a:solidFill>
                  <a:srgbClr val="FFFFFF"/>
                </a:solidFill>
                <a:latin typeface="Malgun Gothic"/>
              </a:rPr>
              <a:t> 및 협의 정의</a:t>
            </a:r>
            <a:endParaRPr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0040" y="685800"/>
            <a:ext cx="11521440" cy="640078"/>
          </a:xfrm>
          <a:prstGeom prst="roundRect">
            <a:avLst>
              <a:gd name="adj" fmla="val 8000"/>
            </a:avLst>
          </a:prstGeom>
          <a:solidFill>
            <a:srgbClr val="2A1A1A"/>
          </a:solidFill>
          <a:ln w="12700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2000" rIns="164592" bIns="365760" rtlCol="0" anchor="t"/>
          <a:lstStyle/>
          <a:p>
            <a:pPr>
              <a:lnSpc>
                <a:spcPct val="125000"/>
              </a:lnSpc>
            </a:pP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도메인 내부 업무 규칙을 분류하는 공통 기준 산출물 부재로 상위</a:t>
            </a:r>
            <a:r>
              <a:rPr lang="ko-KR" altLang="en-US" sz="1300" dirty="0">
                <a:solidFill>
                  <a:srgbClr val="E0B0AD"/>
                </a:solidFill>
                <a:latin typeface="+mn-ea"/>
              </a:rPr>
              <a:t> </a:t>
            </a:r>
            <a:r>
              <a:rPr lang="ko-KR" altLang="ko-KR" sz="1300" dirty="0" err="1">
                <a:solidFill>
                  <a:srgbClr val="E0B0AD"/>
                </a:solidFill>
                <a:latin typeface="+mn-ea"/>
              </a:rPr>
              <a:t>유스케이스</a:t>
            </a: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 작성이 막힘</a:t>
            </a:r>
            <a:endParaRPr lang="en-US" altLang="ko-KR" sz="1300" dirty="0">
              <a:solidFill>
                <a:srgbClr val="E0B0AD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→ </a:t>
            </a:r>
            <a:r>
              <a:rPr lang="ko-KR" altLang="en-US" sz="1300" dirty="0">
                <a:solidFill>
                  <a:srgbClr val="E0B0AD"/>
                </a:solidFill>
                <a:latin typeface="+mn-ea"/>
              </a:rPr>
              <a:t> </a:t>
            </a: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설계의 핵심 방향성을 잡기 위한 산출물 필요(도메인별로 자산만의 방향성 수립 필요)</a:t>
            </a:r>
          </a:p>
          <a:p>
            <a:pPr>
              <a:lnSpc>
                <a:spcPct val="125000"/>
              </a:lnSpc>
            </a:pPr>
            <a:r>
              <a:rPr lang="en-US" altLang="ko-KR" sz="1300" dirty="0">
                <a:solidFill>
                  <a:srgbClr val="E0B0AD"/>
                </a:solidFill>
                <a:latin typeface="+mn-ea"/>
              </a:rPr>
              <a:t>	</a:t>
            </a:r>
            <a:endParaRPr lang="ko-KR" altLang="ko-KR" sz="1300" dirty="0">
              <a:solidFill>
                <a:srgbClr val="E0B0AD"/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530000"/>
            <a:ext cx="16002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>
                <a:solidFill>
                  <a:srgbClr val="8AB4F8"/>
                </a:solidFill>
                <a:latin typeface="Malgun Gothic"/>
              </a:rPr>
              <a:t>① </a:t>
            </a:r>
            <a:r>
              <a:rPr sz="1250" b="1" dirty="0" err="1">
                <a:solidFill>
                  <a:srgbClr val="8AB4F8"/>
                </a:solidFill>
                <a:latin typeface="Malgun Gothic"/>
              </a:rPr>
              <a:t>산출물</a:t>
            </a:r>
            <a:r>
              <a:rPr sz="1250" b="1" dirty="0">
                <a:solidFill>
                  <a:srgbClr val="8AB4F8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8AB4F8"/>
                </a:solidFill>
                <a:latin typeface="Malgun Gothic"/>
              </a:rPr>
              <a:t>흐름</a:t>
            </a:r>
            <a:endParaRPr sz="1250" b="1" dirty="0">
              <a:solidFill>
                <a:srgbClr val="8AB4F8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1530000"/>
            <a:ext cx="7452359" cy="2970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dirty="0">
                <a:solidFill>
                  <a:srgbClr val="81C995"/>
                </a:solidFill>
                <a:latin typeface="Malgun Gothic"/>
              </a:rPr>
              <a:t>② </a:t>
            </a:r>
            <a:r>
              <a:rPr lang="ko-KR" altLang="en-US" sz="1450" b="1" dirty="0">
                <a:solidFill>
                  <a:srgbClr val="81C995"/>
                </a:solidFill>
                <a:latin typeface="Malgun Gothic"/>
              </a:rPr>
              <a:t>산출물</a:t>
            </a:r>
            <a:endParaRPr sz="1450" b="1" dirty="0">
              <a:solidFill>
                <a:srgbClr val="81C995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59" y="1530000"/>
            <a:ext cx="14173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D54F"/>
                </a:solidFill>
                <a:latin typeface="Malgun Gothic"/>
              </a:rPr>
              <a:t>③ 연관 컨벤션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411200"/>
            <a:ext cx="13716" cy="5400000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41280" y="1411200"/>
            <a:ext cx="13716" cy="5400000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0040" y="1944632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2A2408"/>
          </a:solidFill>
          <a:ln w="13970">
            <a:solidFill>
              <a:srgbClr val="B8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도메인</a:t>
            </a:r>
            <a:r>
              <a:rPr lang="en-US" sz="95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950" b="1" dirty="0" err="1">
                <a:solidFill>
                  <a:srgbClr val="FFFFFF"/>
                </a:solidFill>
                <a:latin typeface="Malgun Gothic"/>
              </a:rPr>
              <a:t>정책서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1120140" y="2461172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0040" y="2634128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상위유스케이스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>
            <a:off x="1120140" y="3150668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0040" y="3323624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>
                <a:solidFill>
                  <a:srgbClr val="FFFFFF"/>
                </a:solidFill>
                <a:latin typeface="Malgun Gothic"/>
              </a:rPr>
              <a:t>EARS </a:t>
            </a:r>
            <a:r>
              <a:rPr sz="950" b="1" dirty="0" err="1">
                <a:solidFill>
                  <a:srgbClr val="FFFFFF"/>
                </a:solidFill>
                <a:latin typeface="Malgun Gothic"/>
              </a:rPr>
              <a:t>기능요구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1120140" y="3840164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0040" y="4013120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도메인모델</a:t>
            </a:r>
            <a:r>
              <a:rPr sz="950" b="1" dirty="0">
                <a:solidFill>
                  <a:srgbClr val="FFFFFF"/>
                </a:solidFill>
                <a:latin typeface="Malgun Gothic"/>
              </a:rPr>
              <a:t> ERD</a:t>
            </a:r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>
            <a:off x="1120140" y="4529660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0040" y="4702616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비즈니스프로세스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>
            <a:off x="1120140" y="5219156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20040" y="5392112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상태머</a:t>
            </a:r>
            <a:r>
              <a:rPr lang="ko-KR" altLang="en-US" sz="950" b="1" dirty="0">
                <a:solidFill>
                  <a:srgbClr val="FFFFFF"/>
                </a:solidFill>
                <a:latin typeface="Malgun Gothic"/>
              </a:rPr>
              <a:t>신</a:t>
            </a:r>
            <a:endParaRPr lang="en-US" altLang="ko-KR"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27" name="Connector 26"/>
          <p:cNvCxnSpPr>
            <a:cxnSpLocks/>
          </p:cNvCxnSpPr>
          <p:nvPr/>
        </p:nvCxnSpPr>
        <p:spPr>
          <a:xfrm>
            <a:off x="1120140" y="5908652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0040" y="6081607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이벤트플로우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0424159" y="1944632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41C05"/>
          </a:solidFill>
          <a:ln w="1397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rtlCol="0" anchor="ctr"/>
          <a:lstStyle/>
          <a:p>
            <a:pPr algn="ctr"/>
            <a:r>
              <a:rPr sz="1000" b="1" dirty="0" err="1">
                <a:solidFill>
                  <a:srgbClr val="FFD54F"/>
                </a:solidFill>
                <a:latin typeface="Malgun Gothic"/>
              </a:rPr>
              <a:t>데이터모델링</a:t>
            </a:r>
            <a:endParaRPr sz="1000" b="1" dirty="0">
              <a:solidFill>
                <a:srgbClr val="FFD54F"/>
              </a:solidFill>
              <a:latin typeface="Malgun Gothic"/>
            </a:endParaRPr>
          </a:p>
          <a:p>
            <a:pPr algn="ctr">
              <a:lnSpc>
                <a:spcPct val="110000"/>
              </a:lnSpc>
            </a:pPr>
            <a:r>
              <a:rPr sz="850" dirty="0">
                <a:solidFill>
                  <a:srgbClr val="C9B56A"/>
                </a:solidFill>
                <a:latin typeface="Malgun Gothic"/>
              </a:rPr>
              <a:t>ERD, </a:t>
            </a:r>
            <a:r>
              <a:rPr sz="850" dirty="0" err="1">
                <a:solidFill>
                  <a:srgbClr val="C9B56A"/>
                </a:solidFill>
                <a:latin typeface="Malgun Gothic"/>
              </a:rPr>
              <a:t>상태머신</a:t>
            </a:r>
            <a:endParaRPr sz="850" dirty="0">
              <a:solidFill>
                <a:srgbClr val="C9B56A"/>
              </a:solidFill>
              <a:latin typeface="Malgun Gothic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0424159" y="2552811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41C05"/>
          </a:solidFill>
          <a:ln w="1397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rtlCol="0" anchor="ctr"/>
          <a:lstStyle/>
          <a:p>
            <a:pPr algn="ctr"/>
            <a:r>
              <a:rPr sz="1000" b="1" dirty="0" err="1">
                <a:solidFill>
                  <a:srgbClr val="FFD54F"/>
                </a:solidFill>
                <a:latin typeface="Malgun Gothic"/>
              </a:rPr>
              <a:t>이벤트설계</a:t>
            </a:r>
            <a:endParaRPr sz="1000" b="1" dirty="0">
              <a:solidFill>
                <a:srgbClr val="FFD54F"/>
              </a:solidFill>
              <a:latin typeface="Malgun Gothic"/>
            </a:endParaRPr>
          </a:p>
          <a:p>
            <a:pPr algn="ctr">
              <a:lnSpc>
                <a:spcPct val="110000"/>
              </a:lnSpc>
            </a:pPr>
            <a:r>
              <a:rPr sz="850" dirty="0" err="1">
                <a:solidFill>
                  <a:srgbClr val="C9B56A"/>
                </a:solidFill>
                <a:latin typeface="Malgun Gothic"/>
              </a:rPr>
              <a:t>이벤트플로우</a:t>
            </a:r>
            <a:endParaRPr sz="850" dirty="0">
              <a:solidFill>
                <a:srgbClr val="C9B56A"/>
              </a:solidFill>
              <a:latin typeface="Malgun Gothic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E0A377A-12C8-C4AA-C844-42162829A85B}"/>
              </a:ext>
            </a:extLst>
          </p:cNvPr>
          <p:cNvSpPr/>
          <p:nvPr/>
        </p:nvSpPr>
        <p:spPr>
          <a:xfrm>
            <a:off x="0" y="1411200"/>
            <a:ext cx="12191695" cy="18288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6">
            <a:extLst>
              <a:ext uri="{FF2B5EF4-FFF2-40B4-BE49-F238E27FC236}">
                <a16:creationId xmlns:a16="http://schemas.microsoft.com/office/drawing/2014/main" id="{BC647C78-B3A0-E5D4-952F-C1B105C63579}"/>
              </a:ext>
            </a:extLst>
          </p:cNvPr>
          <p:cNvSpPr/>
          <p:nvPr/>
        </p:nvSpPr>
        <p:spPr>
          <a:xfrm>
            <a:off x="10083420" y="946403"/>
            <a:ext cx="1677818" cy="310896"/>
          </a:xfrm>
          <a:prstGeom prst="roundRect">
            <a:avLst>
              <a:gd name="adj" fmla="val 8000"/>
            </a:avLst>
          </a:prstGeom>
          <a:solidFill>
            <a:srgbClr val="40201E"/>
          </a:solidFill>
          <a:ln w="13970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F8A80"/>
                </a:solidFill>
                <a:latin typeface="Malgun Gothic"/>
              </a:rPr>
              <a:t>⚠</a:t>
            </a:r>
            <a:r>
              <a:rPr lang="ko-KR" altLang="en-US" sz="1050" b="1" dirty="0">
                <a:solidFill>
                  <a:srgbClr val="FF8A80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FF8A80"/>
                </a:solidFill>
                <a:latin typeface="Malgun Gothic"/>
              </a:rPr>
              <a:t>시행착오·문제점</a:t>
            </a:r>
            <a:endParaRPr sz="1050" b="1" dirty="0">
              <a:solidFill>
                <a:srgbClr val="FF8A80"/>
              </a:solidFill>
              <a:latin typeface="Malgun Gothic"/>
            </a:endParaRPr>
          </a:p>
        </p:txBody>
      </p:sp>
      <p:sp>
        <p:nvSpPr>
          <p:cNvPr id="41" name="Rounded Rectangle 31">
            <a:extLst>
              <a:ext uri="{FF2B5EF4-FFF2-40B4-BE49-F238E27FC236}">
                <a16:creationId xmlns:a16="http://schemas.microsoft.com/office/drawing/2014/main" id="{6B19EE5D-6F3B-EAB2-7A4F-BD623D7F2ECF}"/>
              </a:ext>
            </a:extLst>
          </p:cNvPr>
          <p:cNvSpPr/>
          <p:nvPr/>
        </p:nvSpPr>
        <p:spPr>
          <a:xfrm>
            <a:off x="2468880" y="1944632"/>
            <a:ext cx="7452359" cy="4608575"/>
          </a:xfrm>
          <a:prstGeom prst="roundRect">
            <a:avLst>
              <a:gd name="adj" fmla="val 8000"/>
            </a:avLst>
          </a:prstGeom>
          <a:solidFill>
            <a:srgbClr val="10151A"/>
          </a:solidFill>
          <a:ln w="19050">
            <a:solidFill>
              <a:srgbClr val="4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endParaRPr sz="1100" dirty="0">
              <a:solidFill>
                <a:srgbClr val="777777"/>
              </a:solidFill>
              <a:latin typeface="Malgun Gothic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13D8EB8-69D7-A148-8708-3DC12FB1E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242" y="2213720"/>
            <a:ext cx="2080682" cy="26453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2177B75-564B-FB93-58B8-229A6A00C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39" y="2213720"/>
            <a:ext cx="2077191" cy="26453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B0209827-8F08-4AC1-8C73-6B9716236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745" y="2213721"/>
            <a:ext cx="2046616" cy="260637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CCF3B82-13D2-D9FF-29CE-4F086F332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2676" y="2213720"/>
            <a:ext cx="2046616" cy="26453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A686814F-4467-34B6-C612-1981F0242E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607" y="2213720"/>
            <a:ext cx="2046616" cy="26453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D211B42-F890-91E9-8021-F910489EEEF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8180"/>
          <a:stretch>
            <a:fillRect/>
          </a:stretch>
        </p:blipFill>
        <p:spPr>
          <a:xfrm>
            <a:off x="7142540" y="2216825"/>
            <a:ext cx="2493058" cy="26453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954C485C-4252-2D12-BA09-ACE4912CC02D}"/>
              </a:ext>
            </a:extLst>
          </p:cNvPr>
          <p:cNvSpPr txBox="1"/>
          <p:nvPr/>
        </p:nvSpPr>
        <p:spPr>
          <a:xfrm>
            <a:off x="10302665" y="6317407"/>
            <a:ext cx="1805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EARS = Easy Approach to Requirements Syntax </a:t>
            </a:r>
            <a:endParaRPr kumimoji="1"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DBD72C-2DC1-1264-3B13-EABB9BE20539}"/>
              </a:ext>
            </a:extLst>
          </p:cNvPr>
          <p:cNvSpPr/>
          <p:nvPr/>
        </p:nvSpPr>
        <p:spPr>
          <a:xfrm>
            <a:off x="2733892" y="2216825"/>
            <a:ext cx="6901706" cy="2642207"/>
          </a:xfrm>
          <a:prstGeom prst="rect">
            <a:avLst/>
          </a:prstGeom>
          <a:solidFill>
            <a:schemeClr val="accent6">
              <a:lumMod val="20000"/>
              <a:lumOff val="80000"/>
              <a:alpha val="48871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D9972E6-73AE-AAB2-6682-2294041C46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8538" y="2598931"/>
            <a:ext cx="3697911" cy="385594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6" name="Rounded Rectangle 30">
            <a:extLst>
              <a:ext uri="{FF2B5EF4-FFF2-40B4-BE49-F238E27FC236}">
                <a16:creationId xmlns:a16="http://schemas.microsoft.com/office/drawing/2014/main" id="{ED84EDE2-0BCE-6274-49EE-08DC2B7A78AF}"/>
              </a:ext>
            </a:extLst>
          </p:cNvPr>
          <p:cNvSpPr/>
          <p:nvPr/>
        </p:nvSpPr>
        <p:spPr>
          <a:xfrm>
            <a:off x="10424159" y="32004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41C05"/>
          </a:solidFill>
          <a:ln w="1397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rtlCol="0" anchor="ctr"/>
          <a:lstStyle/>
          <a:p>
            <a:pPr algn="ctr"/>
            <a:r>
              <a:rPr sz="1000" b="1" dirty="0" err="1">
                <a:solidFill>
                  <a:srgbClr val="FFD54F"/>
                </a:solidFill>
                <a:latin typeface="Malgun Gothic"/>
              </a:rPr>
              <a:t>아키텍처</a:t>
            </a:r>
            <a:r>
              <a:rPr sz="1000" b="1" dirty="0">
                <a:solidFill>
                  <a:srgbClr val="FFD54F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FFD54F"/>
                </a:solidFill>
                <a:latin typeface="Malgun Gothic"/>
              </a:rPr>
              <a:t>컨벤션</a:t>
            </a:r>
            <a:endParaRPr sz="1000" b="1" dirty="0">
              <a:solidFill>
                <a:srgbClr val="FFD54F"/>
              </a:solidFill>
              <a:latin typeface="Malgun Gothic"/>
            </a:endParaRPr>
          </a:p>
          <a:p>
            <a:pPr algn="ctr">
              <a:lnSpc>
                <a:spcPct val="110000"/>
              </a:lnSpc>
            </a:pPr>
            <a:r>
              <a:rPr sz="850" dirty="0" err="1">
                <a:solidFill>
                  <a:srgbClr val="C9B56A"/>
                </a:solidFill>
                <a:latin typeface="Malgun Gothic"/>
              </a:rPr>
              <a:t>컴포넌트</a:t>
            </a:r>
            <a:r>
              <a:rPr sz="850" dirty="0">
                <a:solidFill>
                  <a:srgbClr val="C9B56A"/>
                </a:solidFill>
                <a:latin typeface="Malgun Gothic"/>
              </a:rPr>
              <a:t>, </a:t>
            </a:r>
            <a:r>
              <a:rPr lang="ko-KR" altLang="en-US" sz="850" dirty="0">
                <a:solidFill>
                  <a:srgbClr val="C9B56A"/>
                </a:solidFill>
                <a:latin typeface="Malgun Gothic"/>
              </a:rPr>
              <a:t>제약사항</a:t>
            </a:r>
            <a:endParaRPr sz="850" dirty="0">
              <a:solidFill>
                <a:srgbClr val="C9B56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2400" b="1" dirty="0" err="1">
                <a:solidFill>
                  <a:srgbClr val="FFFFFF"/>
                </a:solidFill>
                <a:latin typeface="Malgun Gothic"/>
              </a:rPr>
              <a:t>상세설계</a:t>
            </a:r>
            <a:r>
              <a:rPr lang="ko-KR" altLang="en-US" sz="2400" b="1" dirty="0">
                <a:solidFill>
                  <a:srgbClr val="FFFFFF"/>
                </a:solidFill>
                <a:latin typeface="Malgun Gothic"/>
              </a:rPr>
              <a:t> 단계</a:t>
            </a:r>
            <a:r>
              <a:rPr sz="2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b="1" dirty="0">
                <a:solidFill>
                  <a:srgbClr val="FFFFFF"/>
                </a:solidFill>
                <a:latin typeface="Malgun Gothic"/>
              </a:rPr>
              <a:t>— </a:t>
            </a:r>
            <a:r>
              <a:rPr lang="ko-KR" altLang="en-US" b="1" dirty="0">
                <a:solidFill>
                  <a:srgbClr val="FFFFFF"/>
                </a:solidFill>
                <a:latin typeface="Malgun Gothic"/>
              </a:rPr>
              <a:t>구현 가능한 설계 및 실행계획</a:t>
            </a:r>
            <a:r>
              <a:rPr lang="en-US" altLang="ko-KR" b="1" dirty="0">
                <a:solidFill>
                  <a:srgbClr val="FFFFFF"/>
                </a:solidFill>
                <a:latin typeface="Malgun Gothic"/>
              </a:rPr>
              <a:t>(WBS)</a:t>
            </a:r>
            <a:endParaRPr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0040" y="685800"/>
            <a:ext cx="11521440" cy="640078"/>
          </a:xfrm>
          <a:prstGeom prst="roundRect">
            <a:avLst>
              <a:gd name="adj" fmla="val 8000"/>
            </a:avLst>
          </a:prstGeom>
          <a:solidFill>
            <a:srgbClr val="2A1A1A"/>
          </a:solidFill>
          <a:ln w="12700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2000" rIns="164592" bIns="365760" rtlCol="0" anchor="t"/>
          <a:lstStyle/>
          <a:p>
            <a:pPr>
              <a:lnSpc>
                <a:spcPct val="125000"/>
              </a:lnSpc>
            </a:pPr>
            <a:r>
              <a:rPr lang="ko-KR" altLang="en-US" sz="1300" dirty="0">
                <a:solidFill>
                  <a:srgbClr val="E0B0AD"/>
                </a:solidFill>
                <a:latin typeface="Malgun Gothic"/>
              </a:rPr>
              <a:t>텍스트 기반 화면정의서는 문서 가독성 저하로 업무협의시 문제발생</a:t>
            </a:r>
            <a:endParaRPr lang="ko-KR" altLang="ko-KR" sz="1300" dirty="0">
              <a:solidFill>
                <a:srgbClr val="E0B0AD"/>
              </a:solidFill>
              <a:latin typeface="Malgun Gothic"/>
            </a:endParaRPr>
          </a:p>
          <a:p>
            <a:pPr>
              <a:lnSpc>
                <a:spcPct val="125000"/>
              </a:lnSpc>
            </a:pPr>
            <a:r>
              <a:rPr lang="ko-KR" altLang="ko-KR" sz="1300" dirty="0">
                <a:solidFill>
                  <a:srgbClr val="E0B0AD"/>
                </a:solidFill>
                <a:latin typeface="Malgun Gothic"/>
              </a:rPr>
              <a:t>→ </a:t>
            </a:r>
            <a:r>
              <a:rPr lang="ko-KR" altLang="en-US" sz="1300" dirty="0">
                <a:solidFill>
                  <a:srgbClr val="E0B0AD"/>
                </a:solidFill>
                <a:latin typeface="Malgun Gothic"/>
              </a:rPr>
              <a:t> </a:t>
            </a:r>
            <a:r>
              <a:rPr lang="ko-KR" altLang="ko-KR" sz="1300" dirty="0" err="1">
                <a:solidFill>
                  <a:srgbClr val="E0B0AD"/>
                </a:solidFill>
                <a:latin typeface="Malgun Gothic"/>
              </a:rPr>
              <a:t>Figma</a:t>
            </a:r>
            <a:r>
              <a:rPr lang="ko-KR" altLang="en-US" sz="1300" dirty="0">
                <a:solidFill>
                  <a:srgbClr val="E0B0AD"/>
                </a:solidFill>
                <a:latin typeface="Malgun Gothic"/>
              </a:rPr>
              <a:t> 또는 </a:t>
            </a:r>
            <a:r>
              <a:rPr lang="ko-KR" altLang="ko-KR" sz="1300" dirty="0">
                <a:solidFill>
                  <a:srgbClr val="E0B0AD"/>
                </a:solidFill>
                <a:latin typeface="Malgun Gothic"/>
              </a:rPr>
              <a:t>HTML </a:t>
            </a:r>
            <a:r>
              <a:rPr lang="ko-KR" altLang="en-US" sz="1300" dirty="0">
                <a:solidFill>
                  <a:srgbClr val="E0B0AD"/>
                </a:solidFill>
                <a:latin typeface="Malgun Gothic"/>
              </a:rPr>
              <a:t>기반으로 산출물 </a:t>
            </a:r>
            <a:r>
              <a:rPr lang="ko-KR" altLang="ko-KR" sz="1300" dirty="0">
                <a:solidFill>
                  <a:srgbClr val="E0B0AD"/>
                </a:solidFill>
                <a:latin typeface="Malgun Gothic"/>
              </a:rPr>
              <a:t>전환 POC 진행 중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411200"/>
            <a:ext cx="12191695" cy="18288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530000"/>
            <a:ext cx="16002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>
                <a:solidFill>
                  <a:srgbClr val="8AB4F8"/>
                </a:solidFill>
                <a:latin typeface="Malgun Gothic"/>
              </a:rPr>
              <a:t>① </a:t>
            </a:r>
            <a:r>
              <a:rPr sz="1250" b="1" dirty="0" err="1">
                <a:solidFill>
                  <a:srgbClr val="8AB4F8"/>
                </a:solidFill>
                <a:latin typeface="Malgun Gothic"/>
              </a:rPr>
              <a:t>산출물</a:t>
            </a:r>
            <a:r>
              <a:rPr sz="1250" b="1" dirty="0">
                <a:solidFill>
                  <a:srgbClr val="8AB4F8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8AB4F8"/>
                </a:solidFill>
                <a:latin typeface="Malgun Gothic"/>
              </a:rPr>
              <a:t>흐름</a:t>
            </a:r>
            <a:endParaRPr sz="1250" b="1" dirty="0">
              <a:solidFill>
                <a:srgbClr val="8AB4F8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1530000"/>
            <a:ext cx="7452359" cy="2970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dirty="0">
                <a:solidFill>
                  <a:srgbClr val="81C995"/>
                </a:solidFill>
                <a:latin typeface="Malgun Gothic"/>
              </a:rPr>
              <a:t>② </a:t>
            </a:r>
            <a:r>
              <a:rPr lang="ko-KR" altLang="en-US" sz="1450" b="1" dirty="0">
                <a:solidFill>
                  <a:srgbClr val="81C995"/>
                </a:solidFill>
                <a:latin typeface="Malgun Gothic"/>
              </a:rPr>
              <a:t>산출물</a:t>
            </a:r>
            <a:endParaRPr sz="1450" b="1" dirty="0">
              <a:solidFill>
                <a:srgbClr val="81C995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59" y="1530000"/>
            <a:ext cx="14173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D54F"/>
                </a:solidFill>
                <a:latin typeface="Malgun Gothic"/>
              </a:rPr>
              <a:t>③ 연관 컨벤션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411200"/>
            <a:ext cx="13716" cy="5400000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41280" y="1411200"/>
            <a:ext cx="13716" cy="5400000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0040" y="1944632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>
                <a:solidFill>
                  <a:srgbClr val="FFFFFF"/>
                </a:solidFill>
                <a:latin typeface="Malgun Gothic"/>
              </a:rPr>
              <a:t>GWT </a:t>
            </a:r>
            <a:r>
              <a:rPr sz="950" b="1" dirty="0" err="1">
                <a:solidFill>
                  <a:srgbClr val="FFFFFF"/>
                </a:solidFill>
                <a:latin typeface="Malgun Gothic"/>
              </a:rPr>
              <a:t>수용기준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1120140" y="2461172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0040" y="2634128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세부유스케이스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1120140" y="3150668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0040" y="3323624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인터페이스명세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1120140" y="3840164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0040" y="4013120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시퀀스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>
            <a:off x="1120140" y="4529660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0040" y="4702616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2A2408"/>
          </a:solidFill>
          <a:ln w="13970">
            <a:solidFill>
              <a:srgbClr val="B8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화면레이아웃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27" name="Connector 26"/>
          <p:cNvCxnSpPr>
            <a:cxnSpLocks/>
          </p:cNvCxnSpPr>
          <p:nvPr/>
        </p:nvCxnSpPr>
        <p:spPr>
          <a:xfrm>
            <a:off x="1120140" y="5219156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0040" y="5392112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클래스설계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1120140" y="5908652"/>
            <a:ext cx="0" cy="12801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0040" y="6081607"/>
            <a:ext cx="1600200" cy="4716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397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프로그램목록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0424159" y="1944632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41C05"/>
          </a:solidFill>
          <a:ln w="1397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rtlCol="0" anchor="ctr"/>
          <a:lstStyle/>
          <a:p>
            <a:pPr algn="ctr"/>
            <a:r>
              <a:rPr sz="1000" b="1" dirty="0">
                <a:solidFill>
                  <a:srgbClr val="FFD54F"/>
                </a:solidFill>
                <a:latin typeface="Malgun Gothic"/>
              </a:rPr>
              <a:t>API </a:t>
            </a:r>
            <a:r>
              <a:rPr sz="1000" b="1" dirty="0" err="1">
                <a:solidFill>
                  <a:srgbClr val="FFD54F"/>
                </a:solidFill>
                <a:latin typeface="Malgun Gothic"/>
              </a:rPr>
              <a:t>설계</a:t>
            </a:r>
            <a:endParaRPr sz="1000" b="1" dirty="0">
              <a:solidFill>
                <a:srgbClr val="FFD54F"/>
              </a:solidFill>
              <a:latin typeface="Malgun Gothic"/>
            </a:endParaRPr>
          </a:p>
          <a:p>
            <a:pPr algn="ctr">
              <a:lnSpc>
                <a:spcPct val="110000"/>
              </a:lnSpc>
            </a:pPr>
            <a:r>
              <a:rPr lang="ko-KR" altLang="en-US" sz="850" dirty="0">
                <a:solidFill>
                  <a:srgbClr val="C9B56A"/>
                </a:solidFill>
                <a:latin typeface="Malgun Gothic"/>
              </a:rPr>
              <a:t>인터페이스</a:t>
            </a:r>
            <a:r>
              <a:rPr lang="en-US" altLang="ko-KR" sz="850" dirty="0">
                <a:solidFill>
                  <a:srgbClr val="C9B56A"/>
                </a:solidFill>
                <a:latin typeface="Malgun Gothic"/>
              </a:rPr>
              <a:t>,</a:t>
            </a:r>
            <a:r>
              <a:rPr lang="ko-KR" altLang="en-US" sz="850" dirty="0">
                <a:solidFill>
                  <a:srgbClr val="C9B56A"/>
                </a:solidFill>
                <a:latin typeface="Malgun Gothic"/>
              </a:rPr>
              <a:t> 시퀀스</a:t>
            </a:r>
            <a:endParaRPr sz="850" dirty="0">
              <a:solidFill>
                <a:srgbClr val="C9B56A"/>
              </a:solidFill>
              <a:latin typeface="Malgun Gothic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424159" y="2542948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41C05"/>
          </a:solidFill>
          <a:ln w="1397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rtlCol="0" anchor="ctr"/>
          <a:lstStyle/>
          <a:p>
            <a:pPr algn="ctr"/>
            <a:r>
              <a:rPr sz="1000" b="1" dirty="0" err="1">
                <a:solidFill>
                  <a:srgbClr val="FFD54F"/>
                </a:solidFill>
                <a:latin typeface="Malgun Gothic"/>
              </a:rPr>
              <a:t>디자인</a:t>
            </a:r>
            <a:r>
              <a:rPr lang="ko-KR" altLang="en-US" sz="1000" b="1" dirty="0">
                <a:solidFill>
                  <a:srgbClr val="FFD54F"/>
                </a:solidFill>
                <a:latin typeface="Malgun Gothic"/>
              </a:rPr>
              <a:t> 시스템</a:t>
            </a:r>
            <a:endParaRPr sz="1000" b="1" dirty="0">
              <a:solidFill>
                <a:srgbClr val="FFD54F"/>
              </a:solidFill>
              <a:latin typeface="Malgun Gothic"/>
            </a:endParaRPr>
          </a:p>
          <a:p>
            <a:pPr algn="ctr">
              <a:lnSpc>
                <a:spcPct val="110000"/>
              </a:lnSpc>
            </a:pPr>
            <a:r>
              <a:rPr sz="850" dirty="0" err="1">
                <a:solidFill>
                  <a:srgbClr val="C9B56A"/>
                </a:solidFill>
                <a:latin typeface="Malgun Gothic"/>
              </a:rPr>
              <a:t>화면레이아웃</a:t>
            </a:r>
            <a:endParaRPr sz="850" dirty="0">
              <a:solidFill>
                <a:srgbClr val="C9B56A"/>
              </a:solidFill>
              <a:latin typeface="Malgun Gothic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412291" y="373958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41C05"/>
          </a:solidFill>
          <a:ln w="1397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rtlCol="0" anchor="ctr"/>
          <a:lstStyle/>
          <a:p>
            <a:pPr algn="ctr"/>
            <a:r>
              <a:rPr lang="ko-KR" altLang="en-US" sz="1000" b="1" dirty="0">
                <a:solidFill>
                  <a:srgbClr val="FFD54F"/>
                </a:solidFill>
                <a:latin typeface="Malgun Gothic"/>
              </a:rPr>
              <a:t>코</a:t>
            </a:r>
            <a:r>
              <a:rPr sz="1000" b="1" dirty="0" err="1">
                <a:solidFill>
                  <a:srgbClr val="FFD54F"/>
                </a:solidFill>
                <a:latin typeface="Malgun Gothic"/>
              </a:rPr>
              <a:t>딩</a:t>
            </a:r>
            <a:r>
              <a:rPr sz="1000" b="1" dirty="0">
                <a:solidFill>
                  <a:srgbClr val="FFD54F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FFD54F"/>
                </a:solidFill>
                <a:latin typeface="Malgun Gothic"/>
              </a:rPr>
              <a:t>컨벤션</a:t>
            </a:r>
            <a:endParaRPr sz="1000" b="1" dirty="0">
              <a:solidFill>
                <a:srgbClr val="FFD54F"/>
              </a:solidFill>
              <a:latin typeface="Malgun Gothic"/>
            </a:endParaRPr>
          </a:p>
          <a:p>
            <a:pPr algn="ctr">
              <a:lnSpc>
                <a:spcPct val="110000"/>
              </a:lnSpc>
            </a:pPr>
            <a:r>
              <a:rPr sz="850" dirty="0" err="1">
                <a:solidFill>
                  <a:srgbClr val="C9B56A"/>
                </a:solidFill>
                <a:latin typeface="Malgun Gothic"/>
              </a:rPr>
              <a:t>클래스설계</a:t>
            </a:r>
            <a:r>
              <a:rPr sz="850" dirty="0">
                <a:solidFill>
                  <a:srgbClr val="C9B56A"/>
                </a:solidFill>
                <a:latin typeface="Malgun Gothic"/>
              </a:rPr>
              <a:t>, </a:t>
            </a:r>
            <a:r>
              <a:rPr sz="850" dirty="0" err="1">
                <a:solidFill>
                  <a:srgbClr val="C9B56A"/>
                </a:solidFill>
                <a:latin typeface="Malgun Gothic"/>
              </a:rPr>
              <a:t>코드</a:t>
            </a:r>
            <a:endParaRPr sz="850" dirty="0">
              <a:solidFill>
                <a:srgbClr val="C9B56A"/>
              </a:solidFill>
              <a:latin typeface="Malgun Gothic"/>
            </a:endParaRPr>
          </a:p>
        </p:txBody>
      </p:sp>
      <p:sp>
        <p:nvSpPr>
          <p:cNvPr id="41" name="Rounded Rectangle 6">
            <a:extLst>
              <a:ext uri="{FF2B5EF4-FFF2-40B4-BE49-F238E27FC236}">
                <a16:creationId xmlns:a16="http://schemas.microsoft.com/office/drawing/2014/main" id="{39F74D5E-B423-0508-228D-36CB7D22EAFF}"/>
              </a:ext>
            </a:extLst>
          </p:cNvPr>
          <p:cNvSpPr/>
          <p:nvPr/>
        </p:nvSpPr>
        <p:spPr>
          <a:xfrm>
            <a:off x="10026502" y="945866"/>
            <a:ext cx="1677818" cy="310896"/>
          </a:xfrm>
          <a:prstGeom prst="roundRect">
            <a:avLst>
              <a:gd name="adj" fmla="val 8000"/>
            </a:avLst>
          </a:prstGeom>
          <a:solidFill>
            <a:srgbClr val="40201E"/>
          </a:solidFill>
          <a:ln w="13970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F8A80"/>
                </a:solidFill>
                <a:latin typeface="Malgun Gothic"/>
              </a:rPr>
              <a:t>⚠</a:t>
            </a:r>
            <a:r>
              <a:rPr lang="ko-KR" altLang="en-US" sz="1050" b="1" dirty="0">
                <a:solidFill>
                  <a:srgbClr val="FF8A80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FF8A80"/>
                </a:solidFill>
                <a:latin typeface="Malgun Gothic"/>
              </a:rPr>
              <a:t>시행착오·문제점</a:t>
            </a:r>
            <a:endParaRPr sz="1050" b="1" dirty="0">
              <a:solidFill>
                <a:srgbClr val="FF8A80"/>
              </a:solidFill>
              <a:latin typeface="Malgun Gothic"/>
            </a:endParaRPr>
          </a:p>
        </p:txBody>
      </p:sp>
      <p:sp>
        <p:nvSpPr>
          <p:cNvPr id="42" name="Rounded Rectangle 31">
            <a:extLst>
              <a:ext uri="{FF2B5EF4-FFF2-40B4-BE49-F238E27FC236}">
                <a16:creationId xmlns:a16="http://schemas.microsoft.com/office/drawing/2014/main" id="{470AE0B5-50D0-BD31-3EBC-3FB609A8EF28}"/>
              </a:ext>
            </a:extLst>
          </p:cNvPr>
          <p:cNvSpPr/>
          <p:nvPr/>
        </p:nvSpPr>
        <p:spPr>
          <a:xfrm>
            <a:off x="2468880" y="1944632"/>
            <a:ext cx="7452359" cy="4608575"/>
          </a:xfrm>
          <a:prstGeom prst="roundRect">
            <a:avLst>
              <a:gd name="adj" fmla="val 8000"/>
            </a:avLst>
          </a:prstGeom>
          <a:solidFill>
            <a:srgbClr val="10151A"/>
          </a:solidFill>
          <a:ln w="19050">
            <a:solidFill>
              <a:srgbClr val="4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endParaRPr sz="1100" dirty="0">
              <a:solidFill>
                <a:srgbClr val="777777"/>
              </a:solidFill>
              <a:latin typeface="Malgun Gothic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8D6B4A88-6941-AA8B-2AA4-7DF7D9114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300" y="2208981"/>
            <a:ext cx="2182780" cy="277978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5220E479-5C33-E530-AFAB-5FE1ABA38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889" y="2208981"/>
            <a:ext cx="2142195" cy="27280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5727CCD9-6B06-267A-AADA-46EC3B08C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893" y="2208981"/>
            <a:ext cx="2142195" cy="27280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05A2D2F-1C91-EBBE-AD0B-957EAA681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897" y="2208981"/>
            <a:ext cx="2142195" cy="27280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85FB6B79-C417-C8BB-0DFB-0926DE17F3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4901" y="2208982"/>
            <a:ext cx="2162239" cy="275362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CC98688F-A3A2-28AC-91D3-AC1ECB3F13C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5880"/>
          <a:stretch>
            <a:fillRect/>
          </a:stretch>
        </p:blipFill>
        <p:spPr>
          <a:xfrm>
            <a:off x="7158949" y="2216826"/>
            <a:ext cx="2476650" cy="265315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3A6BE56F-D136-9E42-9BFF-DEC1339528B8}"/>
              </a:ext>
            </a:extLst>
          </p:cNvPr>
          <p:cNvSpPr/>
          <p:nvPr/>
        </p:nvSpPr>
        <p:spPr>
          <a:xfrm>
            <a:off x="2761129" y="2200747"/>
            <a:ext cx="6874470" cy="2788014"/>
          </a:xfrm>
          <a:prstGeom prst="rect">
            <a:avLst/>
          </a:prstGeom>
          <a:solidFill>
            <a:schemeClr val="accent6">
              <a:lumMod val="20000"/>
              <a:lumOff val="80000"/>
              <a:alpha val="48871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86CBFC4D-D9FC-7B16-8007-E631D15DA8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2323" y="3460265"/>
            <a:ext cx="3195819" cy="181929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75CCDE3A-742D-39D4-F4A5-FE01785E03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5187" y="2617311"/>
            <a:ext cx="2932709" cy="373481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Rounded Rectangle 36">
            <a:extLst>
              <a:ext uri="{FF2B5EF4-FFF2-40B4-BE49-F238E27FC236}">
                <a16:creationId xmlns:a16="http://schemas.microsoft.com/office/drawing/2014/main" id="{6AA15980-D268-AFC8-BD06-5B419F2D976D}"/>
              </a:ext>
            </a:extLst>
          </p:cNvPr>
          <p:cNvSpPr/>
          <p:nvPr/>
        </p:nvSpPr>
        <p:spPr>
          <a:xfrm>
            <a:off x="10418941" y="3141264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241C05"/>
          </a:solidFill>
          <a:ln w="1397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rtlCol="0" anchor="ctr"/>
          <a:lstStyle/>
          <a:p>
            <a:pPr algn="ctr"/>
            <a:r>
              <a:rPr sz="1000" b="1" dirty="0">
                <a:solidFill>
                  <a:srgbClr val="FFD54F"/>
                </a:solidFill>
                <a:latin typeface="Malgun Gothic"/>
              </a:rPr>
              <a:t>UX</a:t>
            </a:r>
            <a:r>
              <a:rPr lang="ko-KR" altLang="en-US" sz="1000" b="1" dirty="0">
                <a:solidFill>
                  <a:srgbClr val="FFD54F"/>
                </a:solidFill>
                <a:latin typeface="Malgun Gothic"/>
              </a:rPr>
              <a:t> </a:t>
            </a:r>
            <a:r>
              <a:rPr lang="en-US" altLang="ko-KR" sz="1000" b="1" dirty="0">
                <a:solidFill>
                  <a:srgbClr val="FFD54F"/>
                </a:solidFill>
                <a:latin typeface="Malgun Gothic"/>
              </a:rPr>
              <a:t>Writing</a:t>
            </a:r>
            <a:endParaRPr sz="1000" b="1" dirty="0">
              <a:solidFill>
                <a:srgbClr val="FFD54F"/>
              </a:solidFill>
              <a:latin typeface="Malgun Gothic"/>
            </a:endParaRPr>
          </a:p>
          <a:p>
            <a:pPr algn="ctr">
              <a:lnSpc>
                <a:spcPct val="110000"/>
              </a:lnSpc>
            </a:pPr>
            <a:r>
              <a:rPr sz="850" dirty="0" err="1">
                <a:solidFill>
                  <a:srgbClr val="C9B56A"/>
                </a:solidFill>
                <a:latin typeface="Malgun Gothic"/>
              </a:rPr>
              <a:t>화면레이아웃</a:t>
            </a:r>
            <a:endParaRPr sz="850" dirty="0">
              <a:solidFill>
                <a:srgbClr val="C9B56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 err="1">
                <a:solidFill>
                  <a:srgbClr val="FFFFFF"/>
                </a:solidFill>
                <a:latin typeface="Malgun Gothic"/>
              </a:rPr>
              <a:t>구현</a:t>
            </a:r>
            <a:r>
              <a:rPr sz="2400" b="1" dirty="0">
                <a:solidFill>
                  <a:srgbClr val="FFFFFF"/>
                </a:solidFill>
                <a:latin typeface="Malgun Gothic"/>
              </a:rPr>
              <a:t> · </a:t>
            </a:r>
            <a:r>
              <a:rPr sz="2400" b="1" dirty="0" err="1">
                <a:solidFill>
                  <a:srgbClr val="FFFFFF"/>
                </a:solidFill>
                <a:latin typeface="Malgun Gothic"/>
              </a:rPr>
              <a:t>테스트</a:t>
            </a:r>
            <a:r>
              <a:rPr sz="2400" b="1" dirty="0">
                <a:solidFill>
                  <a:srgbClr val="FFFFFF"/>
                </a:solidFill>
                <a:latin typeface="Malgun Gothic"/>
              </a:rPr>
              <a:t> · </a:t>
            </a:r>
            <a:r>
              <a:rPr sz="2400" b="1" dirty="0" err="1">
                <a:solidFill>
                  <a:srgbClr val="FFFFFF"/>
                </a:solidFill>
                <a:latin typeface="Malgun Gothic"/>
              </a:rPr>
              <a:t>안정화</a:t>
            </a:r>
            <a:r>
              <a:rPr lang="ko-KR" altLang="en-US" sz="2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b="1" dirty="0">
                <a:solidFill>
                  <a:srgbClr val="FFFFFF"/>
                </a:solidFill>
                <a:latin typeface="Malgun Gothic"/>
              </a:rPr>
              <a:t>— </a:t>
            </a:r>
            <a:r>
              <a:rPr lang="ko-KR" altLang="en-US" b="1" dirty="0">
                <a:solidFill>
                  <a:srgbClr val="FFFFFF"/>
                </a:solidFill>
                <a:latin typeface="Malgun Gothic"/>
              </a:rPr>
              <a:t>통합점검 및 안착</a:t>
            </a:r>
            <a:endParaRPr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20040" y="685800"/>
            <a:ext cx="11521440" cy="640080"/>
          </a:xfrm>
          <a:prstGeom prst="roundRect">
            <a:avLst>
              <a:gd name="adj" fmla="val 8000"/>
            </a:avLst>
          </a:prstGeom>
          <a:solidFill>
            <a:srgbClr val="2A1A1A"/>
          </a:solidFill>
          <a:ln w="12700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2000" rIns="164592" bIns="365760" rtlCol="0" anchor="t"/>
          <a:lstStyle/>
          <a:p>
            <a:pPr>
              <a:lnSpc>
                <a:spcPct val="125000"/>
              </a:lnSpc>
            </a:pPr>
            <a:r>
              <a:rPr sz="1300" dirty="0" err="1">
                <a:solidFill>
                  <a:srgbClr val="E0B0AD"/>
                </a:solidFill>
                <a:latin typeface="+mn-ea"/>
              </a:rPr>
              <a:t>선행</a:t>
            </a:r>
            <a:r>
              <a:rPr sz="1300" dirty="0">
                <a:solidFill>
                  <a:srgbClr val="E0B0AD"/>
                </a:solidFill>
                <a:latin typeface="+mn-ea"/>
              </a:rPr>
              <a:t> </a:t>
            </a:r>
            <a:r>
              <a:rPr sz="1300" dirty="0" err="1">
                <a:solidFill>
                  <a:srgbClr val="E0B0AD"/>
                </a:solidFill>
                <a:latin typeface="+mn-ea"/>
              </a:rPr>
              <a:t>단계가</a:t>
            </a:r>
            <a:r>
              <a:rPr sz="1300" dirty="0">
                <a:solidFill>
                  <a:srgbClr val="E0B0AD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E0B0AD"/>
                </a:solidFill>
                <a:latin typeface="+mn-ea"/>
              </a:rPr>
              <a:t>작업지연으로</a:t>
            </a:r>
            <a:r>
              <a:rPr sz="1300" dirty="0">
                <a:solidFill>
                  <a:srgbClr val="E0B0AD"/>
                </a:solidFill>
                <a:latin typeface="+mn-ea"/>
              </a:rPr>
              <a:t> </a:t>
            </a:r>
            <a:r>
              <a:rPr lang="ko-KR" altLang="en-US" sz="1300" dirty="0">
                <a:solidFill>
                  <a:srgbClr val="E0B0AD"/>
                </a:solidFill>
                <a:latin typeface="+mn-ea"/>
              </a:rPr>
              <a:t>구현단계 </a:t>
            </a:r>
            <a:r>
              <a:rPr lang="ko-KR" altLang="en-US" sz="1300" dirty="0" err="1">
                <a:solidFill>
                  <a:srgbClr val="E0B0AD"/>
                </a:solidFill>
                <a:latin typeface="+mn-ea"/>
              </a:rPr>
              <a:t>착수전</a:t>
            </a:r>
            <a:br>
              <a:rPr lang="en-US" altLang="ko-KR" sz="1300" dirty="0">
                <a:solidFill>
                  <a:srgbClr val="E0B0AD"/>
                </a:solidFill>
                <a:latin typeface="+mn-ea"/>
              </a:rPr>
            </a:br>
            <a:r>
              <a:rPr lang="ko-KR" altLang="ko-KR" sz="1300" dirty="0">
                <a:solidFill>
                  <a:srgbClr val="E0B0AD"/>
                </a:solidFill>
                <a:latin typeface="+mn-ea"/>
              </a:rPr>
              <a:t>→ </a:t>
            </a:r>
            <a:r>
              <a:rPr lang="ko-KR" altLang="en-US" sz="1300" dirty="0">
                <a:solidFill>
                  <a:srgbClr val="E0B0AD"/>
                </a:solidFill>
                <a:latin typeface="+mn-ea"/>
              </a:rPr>
              <a:t>화면정의서 </a:t>
            </a:r>
            <a:r>
              <a:rPr lang="en-US" altLang="ko-KR" sz="1300" dirty="0">
                <a:solidFill>
                  <a:srgbClr val="E0B0AD"/>
                </a:solidFill>
                <a:latin typeface="+mn-ea"/>
              </a:rPr>
              <a:t>POC</a:t>
            </a:r>
            <a:r>
              <a:rPr lang="ko-KR" altLang="en-US" sz="1300" dirty="0">
                <a:solidFill>
                  <a:srgbClr val="E0B0AD"/>
                </a:solidFill>
                <a:latin typeface="+mn-ea"/>
              </a:rPr>
              <a:t>가 정리되는 </a:t>
            </a:r>
            <a:r>
              <a:rPr lang="en-US" altLang="ko-KR" sz="1300" dirty="0">
                <a:solidFill>
                  <a:srgbClr val="E0B0AD"/>
                </a:solidFill>
                <a:latin typeface="+mn-ea"/>
              </a:rPr>
              <a:t>11</a:t>
            </a:r>
            <a:r>
              <a:rPr lang="ko-KR" altLang="en-US" sz="1300" dirty="0">
                <a:solidFill>
                  <a:srgbClr val="E0B0AD"/>
                </a:solidFill>
                <a:latin typeface="+mn-ea"/>
              </a:rPr>
              <a:t>월 초 착수 예상</a:t>
            </a:r>
            <a:endParaRPr sz="1300" dirty="0">
              <a:solidFill>
                <a:srgbClr val="E0B0AD"/>
              </a:solidFill>
              <a:latin typeface="+mn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76688" y="946403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40201E"/>
          </a:solidFill>
          <a:ln w="13970">
            <a:solidFill>
              <a:srgbClr val="8A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8A80"/>
                </a:solidFill>
                <a:latin typeface="Malgun Gothic"/>
              </a:rPr>
              <a:t>⚠ 착수 지연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1376"/>
            <a:ext cx="12191695" cy="18288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530248"/>
            <a:ext cx="3657600" cy="4916271"/>
          </a:xfrm>
          <a:prstGeom prst="roundRect">
            <a:avLst>
              <a:gd name="adj" fmla="val 8000"/>
            </a:avLst>
          </a:prstGeom>
          <a:solidFill>
            <a:srgbClr val="16241A"/>
          </a:solidFill>
          <a:ln w="16510">
            <a:solidFill>
              <a:srgbClr val="3A6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658264"/>
            <a:ext cx="3328416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S4. 구현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7" y="1676552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15240">
            <a:solidFill>
              <a:srgbClr val="BB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altLang="en-US" sz="950" b="1" dirty="0" err="1">
                <a:solidFill>
                  <a:srgbClr val="BB5555"/>
                </a:solidFill>
                <a:latin typeface="Malgun Gothic"/>
              </a:rPr>
              <a:t>착수전</a:t>
            </a:r>
            <a:endParaRPr sz="950" b="1" dirty="0">
              <a:solidFill>
                <a:srgbClr val="BB5555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2060600"/>
            <a:ext cx="3328416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AA0A6"/>
                </a:solidFill>
                <a:latin typeface="Malgun Gothic"/>
              </a:rPr>
              <a:t>mobile·admin·partner 3앱 + Kotlin API 실제 동작 중이나,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9AA0A6"/>
                </a:solidFill>
                <a:latin typeface="Malgun Gothic"/>
              </a:rPr>
              <a:t>공식 DoD 체크리스트 미등록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2761795"/>
            <a:ext cx="3328416" cy="384048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270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59" y="2761795"/>
            <a:ext cx="310896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9CCD1"/>
                </a:solidFill>
                <a:latin typeface="Malgun Gothic"/>
              </a:rPr>
              <a:t>Mock JSON 작성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3237283"/>
            <a:ext cx="3328416" cy="384048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270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59" y="3237283"/>
            <a:ext cx="310896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9CCD1"/>
                </a:solidFill>
                <a:latin typeface="Malgun Gothic"/>
              </a:rPr>
              <a:t>BE/FE 코드 구현 (Kiro)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3712771"/>
            <a:ext cx="3328416" cy="384048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270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59" y="3712771"/>
            <a:ext cx="310896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9CCD1"/>
                </a:solidFill>
                <a:latin typeface="Malgun Gothic"/>
              </a:rPr>
              <a:t>자동 검증 / 단위테스트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530248"/>
            <a:ext cx="3657600" cy="4916271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1" y="1658264"/>
            <a:ext cx="3328416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S5. 테스트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3367" y="1676552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15240">
            <a:solidFill>
              <a:srgbClr val="BB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BB5555"/>
                </a:solidFill>
                <a:latin typeface="Malgun Gothic"/>
              </a:rPr>
              <a:t>착수 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2060600"/>
            <a:ext cx="3328416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AA0A6"/>
                </a:solidFill>
                <a:latin typeface="Malgun Gothic"/>
              </a:rPr>
              <a:t>선행 단계(S4)가 끝나지 않아 통합테스트·E2E·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9AA0A6"/>
                </a:solidFill>
                <a:latin typeface="Malgun Gothic"/>
              </a:rPr>
              <a:t>Go/No-Go 판단근거 등 산출물 전혀 없음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1" y="2761795"/>
            <a:ext cx="3328416" cy="384048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270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79" y="2761795"/>
            <a:ext cx="310896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9CCD1"/>
                </a:solidFill>
                <a:latin typeface="Malgun Gothic"/>
              </a:rPr>
              <a:t>통합테스트 계획서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1" y="3237283"/>
            <a:ext cx="3328416" cy="384048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270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79" y="3237283"/>
            <a:ext cx="310896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9CCD1"/>
                </a:solidFill>
                <a:latin typeface="Malgun Gothic"/>
              </a:rPr>
              <a:t>GWT 실행 / E2E 시나리오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1" y="3712771"/>
            <a:ext cx="3328416" cy="384048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270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79" y="3712771"/>
            <a:ext cx="310896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9CCD1"/>
                </a:solidFill>
                <a:latin typeface="Malgun Gothic"/>
              </a:rPr>
              <a:t>Go/No-Go 판단근거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1530248"/>
            <a:ext cx="3657600" cy="4916271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1" y="1658264"/>
            <a:ext cx="3328416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S6. 안정화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5288" y="1676552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15240">
            <a:solidFill>
              <a:srgbClr val="BB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BB5555"/>
                </a:solidFill>
                <a:latin typeface="Malgun Gothic"/>
              </a:rPr>
              <a:t>착수 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2060600"/>
            <a:ext cx="3328416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AA0A6"/>
                </a:solidFill>
                <a:latin typeface="Malgun Gothic"/>
              </a:rPr>
              <a:t>S4·S5 미착수로 운영매뉴얼·Go-Live 승인기록·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9AA0A6"/>
                </a:solidFill>
                <a:latin typeface="Malgun Gothic"/>
              </a:rPr>
              <a:t>안정화 결과보고서 등도 전혀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8471" y="2761795"/>
            <a:ext cx="3328416" cy="384048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270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2761795"/>
            <a:ext cx="310896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9CCD1"/>
                </a:solidFill>
                <a:latin typeface="Malgun Gothic"/>
              </a:rPr>
              <a:t>운영매뉴얼(Runbook)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48471" y="3237283"/>
            <a:ext cx="3328416" cy="384048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270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200" y="3237283"/>
            <a:ext cx="310896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9CCD1"/>
                </a:solidFill>
                <a:latin typeface="Malgun Gothic"/>
              </a:rPr>
              <a:t>Go-Live 승인기록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1" y="3712771"/>
            <a:ext cx="3328416" cy="384048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 w="12700">
            <a:solidFill>
              <a:srgbClr val="3A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8200" y="3712771"/>
            <a:ext cx="310896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9CCD1"/>
                </a:solidFill>
                <a:latin typeface="Malgun Gothic"/>
              </a:rPr>
              <a:t>안정화 결과보고서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D132D9A1-49AD-9053-2880-6370FCDE6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1" y="4264541"/>
            <a:ext cx="3108959" cy="201425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95DE30EC-0DB6-2E25-BF95-E4692941B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651" y="4255893"/>
            <a:ext cx="686583" cy="200511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1B351BED-758F-95F0-BA90-22047BEFA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990" y="4255892"/>
            <a:ext cx="686583" cy="2005114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7F0E8349-DE9D-060D-6959-5CF9728AD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312" y="4255892"/>
            <a:ext cx="686583" cy="200511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123B2B3F-0E06-8F73-D397-10B0C901B0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656" y="4255892"/>
            <a:ext cx="686583" cy="2005114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F300F41A-B2C3-6ABC-E906-0242A38AF8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3402" y="4160058"/>
            <a:ext cx="1173509" cy="141379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BD3A8B28-8ECA-0DBC-798E-65A8A94644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3296" y="4479893"/>
            <a:ext cx="1211086" cy="155711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418C97B-C98B-5D94-64BB-AA074D149B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" y="4917274"/>
            <a:ext cx="1466993" cy="1361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520</Words>
  <Application>Microsoft Macintosh PowerPoint</Application>
  <PresentationFormat>와이드스크린</PresentationFormat>
  <Paragraphs>157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맑은 고딕</vt:lpstr>
      <vt:lpstr>Paperlogy 4 Regular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최인철</cp:lastModifiedBy>
  <cp:revision>23</cp:revision>
  <dcterms:created xsi:type="dcterms:W3CDTF">2013-01-27T09:14:16Z</dcterms:created>
  <dcterms:modified xsi:type="dcterms:W3CDTF">2026-10-07T04:48:45Z</dcterms:modified>
  <cp:category/>
</cp:coreProperties>
</file>