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521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2D8E4-0FB1-3642-8680-5F8F3BECCFD8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3546B-1950-A847-BE33-C44BDC9332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533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3546B-1950-A847-BE33-C44BDC9332F4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615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FC2DE"/>
                </a:solidFill>
                <a:latin typeface="Malgun Gothic"/>
              </a:rPr>
              <a:t>기획자 공유용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화면정의서 전환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E93A8"/>
                </a:solidFill>
                <a:latin typeface="Malgun Gothic"/>
              </a:rPr>
              <a:t>docs/주간보고 · 2026-08-24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2179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E93A8"/>
                </a:solidFill>
                <a:latin typeface="Malgun Gothic"/>
              </a:rPr>
              <a:t>runNshop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1장 · 방법론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산출물 작성 순서 다이어그램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128016" cy="841248"/>
          </a:xfrm>
          <a:prstGeom prst="rect">
            <a:avLst/>
          </a:prstGeom>
          <a:solidFill>
            <a:srgbClr val="1F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53619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3E5C"/>
                </a:solidFill>
                <a:latin typeface="Malgun Gothic"/>
              </a:rPr>
              <a:t>① 착수 + 범위정의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82880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문제정의서 → 목표KPI → 이해관계자맵 → 범위 → 대안비교 → 리스크가정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112264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D7 제약사항 → D8 NFR → D9 컴포넌트 → DA 시스템구성도 → DB 도메인정의서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450592"/>
            <a:ext cx="128016" cy="841248"/>
          </a:xfrm>
          <a:prstGeom prst="rect">
            <a:avLst/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2523744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8B86"/>
                </a:solidFill>
                <a:latin typeface="Malgun Gothic"/>
              </a:rPr>
              <a:t>② 구조설계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16352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DC 상위UC → DD 메뉴구조도 → DE EARS → DF ERD → DG 상태머신 → DH 프로세스 → DI 이벤트플로우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099816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▼ Bolt 분할 + Tasks (WBS·RACI·의존성맵·리스크대응·DoD체크리스트)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6152" y="3575304"/>
            <a:ext cx="9705186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16152" y="3575304"/>
            <a:ext cx="128016" cy="841248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3648456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③ 상세설계 + 구현  [Bolt 반복]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41064"/>
            <a:ext cx="9412578" cy="15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24A"/>
                </a:solidFill>
                <a:latin typeface="Malgun Gothic"/>
              </a:rPr>
              <a:t>DJ GWT → DK 세부UC → DL 인터페이스 → DM 시퀀스 → DN 화면 → DO ADR → DP 클래스 → DQ 프로그램목록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24528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24A"/>
                </a:solidFill>
                <a:latin typeface="Malgun Gothic"/>
              </a:rPr>
              <a:t>코드 구현 · 자동검증 · 단위테스트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61288" y="3520440"/>
            <a:ext cx="9814560" cy="950976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D97C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4700016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4700016"/>
            <a:ext cx="128016" cy="841248"/>
          </a:xfrm>
          <a:prstGeom prst="rect">
            <a:avLst/>
          </a:prstGeom>
          <a:solidFill>
            <a:srgbClr val="1F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" y="4773168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3E5C"/>
                </a:solidFill>
                <a:latin typeface="Malgun Gothic"/>
              </a:rPr>
              <a:t>④ 테스트 + 안정화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065776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통합테스트 · E2E · Go/No-Go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34924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운영매뉴얼 · NFR검증 · 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1장 · 방법론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컨벤션 산출물 (축 2) — 수평 참조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3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64D32EDD-2933-1EF5-8179-FCD68A8C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71" y="1124712"/>
            <a:ext cx="8971749" cy="543971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6B0B0673-770F-BE8C-64D0-64473C091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59" y="5739679"/>
            <a:ext cx="1877442" cy="7525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2장 · 기존 화면정의서와 방법론 대응체계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화면정의서 8대 구성요소 ↔ 대응 문서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35907"/>
              </p:ext>
            </p:extLst>
          </p:nvPr>
        </p:nvGraphicFramePr>
        <p:xfrm>
          <a:off x="365760" y="1097280"/>
          <a:ext cx="11475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기존 화면정의서 설명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lang="ko-KR" altLang="en-US" sz="12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방법론 대응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en-US" sz="12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산출물</a:t>
                      </a:r>
                      <a:endParaRPr sz="12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식별 정보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화면ID, 화면명, 메뉴경로,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접근권한, 관련화면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DD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메뉴구조도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(IA) </a:t>
                      </a: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메타블록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화면ID·앱·접근권한·화면전환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와이어프레임/목업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레이아웃 이미지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lang="ko-KR" altLang="en-US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와이어프레임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UI 요소 정의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번호매칭 + 타입/기본값/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필수여부/노출조건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구성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이벤트/기능 정의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클릭·입력 시 동작,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전환 규칙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DK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세부유스케이스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행위흐름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) +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전환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데이터 정의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항목↔필드 매핑,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정렬/필터/페이징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lang="ko-KR" altLang="en-US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화면구성</a:t>
                      </a:r>
                      <a:b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</a:b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“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데이터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소스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(API)”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컬럼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유효성 검증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필수값·형식·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에러 메시지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DJ GWT + DL 인터페이스명세 에러응답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(DN은 링크만 보유)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예외/에러 처리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데이터없음·로딩실패·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권한없음 상태 화면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DN “상태별 UI” 표 + DJ GWT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비고/정책 설명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 의도,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정책서 참조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DK/DN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본문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REQ-ID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참조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,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정책서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원본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806440"/>
            <a:ext cx="11475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1">
                <a:solidFill>
                  <a:srgbClr val="4A5663"/>
                </a:solidFill>
                <a:latin typeface="Malgun Gothic"/>
              </a:rPr>
              <a:t>강조 포인트 — 항목 1·4는 최근 DN에 “화면정의서 메타블록”을 신설하면서 한 곳에 모였습니다. 다만 항목 6(유효성 검증)은</a:t>
            </a:r>
          </a:p>
          <a:p>
            <a:pPr algn="l">
              <a:lnSpc>
                <a:spcPct val="120000"/>
              </a:lnSpc>
            </a:pPr>
            <a:r>
              <a:rPr sz="1030" b="0" i="1">
                <a:solidFill>
                  <a:srgbClr val="4A5663"/>
                </a:solidFill>
                <a:latin typeface="Malgun Gothic"/>
              </a:rPr>
              <a:t>의도적으로 DN에 옮기지 않고 DJ/DL 링크로만 연결 — 검증 규칙이 바뀌어도 DN을 다시 손댈 필요가 없도록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3장 · 대응체계 문서와 기획자 참여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문서별 작성주체 · 기획자 참여방식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7572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산출물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작성주체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기획자 참여방식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DC 상위유스케이스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도메인별 액터·업무 나열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리뷰어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(업무 흐름 확인)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DD 메뉴구조도(IA)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앱별 GNB/LNB 내비게이션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구조 확정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기획자 + 개발자 협업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공동 저자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(유일한 협업 구조설계 산출물)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DK 세부유스케이스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버튼·화면 단위 행위 분해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기획자 + 개발자 협업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주도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(화면 프로토타입을 입력으로 사용)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DL 인터페이스명세 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DM 시퀀스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API 계약 확정 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호출순서·트랜잭션 경계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리뷰어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(DK 요구사항 반영 확인)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DN 화면레이아웃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API 응답을 화면에 매핑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(§0 메타블록으로 식별정보 흡수)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공동 확인/보완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(전환·권한이 기획의도와 일치하는지)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709160"/>
            <a:ext cx="11475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D97C2B"/>
                </a:solidFill>
                <a:latin typeface="Malgun Gothic"/>
              </a:rPr>
              <a:t>기획자 실무 동선은 아래 세 지점에 집중됩니다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676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DD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공동저자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0712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DK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주도 작성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8748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DN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공동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89320"/>
            <a:ext cx="11475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4A5663"/>
                </a:solidFill>
                <a:latin typeface="Malgun Gothic"/>
              </a:rPr>
              <a:t>(DC·DL·DM은 리뷰 중심 — 결과물이 DK 요구사항과 맞는지 확인)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4장 · 샘플 캡처본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DN 화면레이아웃 샘플 — 장바구니(CartPage)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120640" cy="1736598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2" y="121158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121158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0972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메타블록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481328"/>
            <a:ext cx="479145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항목          | 내용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──────────────┼───────────────────────────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화면 ID       | SCR-M-001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앱            | mobile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접근 권한     | 로그인 회원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관련 세부UC   | UC-1, UC-2, UC-23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호출 API      | API-001~005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3064494"/>
            <a:ext cx="5120640" cy="9601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" y="3064494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7784" y="3178794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4088" y="3178794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" y="3178794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" y="306449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화면 전환 · 유효성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448542"/>
            <a:ext cx="4791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[선택상품 주문하기] 클릭 → SCR-M-002 (주문서)</a:t>
            </a:r>
          </a:p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쿠폰/옵션변경 클릭 → 레이어 팝업 (화면 전환 아님)</a:t>
            </a:r>
          </a:p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유효성 검증: GWT §1 장바구니 Bolt · 에러코드는 DL 참조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354830"/>
            <a:ext cx="5120640" cy="189738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8" y="435483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5216" y="446913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446913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77824" y="446913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435483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화면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38878"/>
            <a:ext cx="4791456" cy="1278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영역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데이터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소스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(API)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표시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내용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───────────────┼─────────────────────────┼──────────────</a:t>
            </a: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Header         | —               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장바구니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타이틀+수량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상품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카드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| GET /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cart→vendors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[].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상품명·옵션·가격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·</a:t>
            </a: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               |   items[]       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수량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(+/-)·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삭제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혜택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안내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| GET /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cart→summary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쿠폰수·포인트잔액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금액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요약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| GET /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cart→summary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상품금액·할인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·</a:t>
            </a: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CTA            | —                       | "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선택상품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주문하기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097280"/>
            <a:ext cx="5989320" cy="516636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1097280"/>
            <a:ext cx="598932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70448" y="121158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16752" y="121158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63056" y="121158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1097280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와이어프레임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1481328"/>
            <a:ext cx="5660136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┌───────────────────────────────┐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장바구니  3              🔍 🛒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■ 나이키코리아    배송비 무료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┌──┐ 나이키 페가수스 41  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│img│ 블랙/265      [옵션변경]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└──┘ 179,000원→152,000원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      [-] 1 [+]        [삭제]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💡 사용 가능 쿠폰 2장 [&gt;]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┌ 결제 예상 금액 ────────────┐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상품 금액      469,000원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상품 할인      -48,000원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장바구니 할인   -3,000원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배송비              무료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│──────────────────────────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총 결제예상금액 418,000원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└────────────────────────────┘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├═══════════════════════════════┤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[ 선택상품 주문하기·418,000원 ]│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└───────────────────────────────┘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4장 · 샘플 캡처본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 dirty="0">
                <a:solidFill>
                  <a:srgbClr val="FFFFFF"/>
                </a:solidFill>
                <a:latin typeface="Malgun Gothic"/>
              </a:rPr>
              <a:t>C7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디자인시스템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컨벤션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구조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× mobile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장바구니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화면</a:t>
            </a:r>
            <a:endParaRPr sz="23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68580" y="845820"/>
            <a:ext cx="11292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4A5663"/>
                </a:solidFill>
                <a:latin typeface="Malgun Gothic"/>
              </a:rPr>
              <a:t>C7-디자인시스템/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mobile.md의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문서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구조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(★=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장바구니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화면에서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실제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사용되는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항목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)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와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CartPage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실제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화면을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대조한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예시</a:t>
            </a:r>
            <a:endParaRPr sz="1200" b="0" i="1" dirty="0">
              <a:solidFill>
                <a:srgbClr val="4A5663"/>
              </a:solidFill>
              <a:latin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120640" cy="48463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6928" y="153162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153162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153162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C7-디자인시스템/mobile.md · 문서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801368"/>
            <a:ext cx="4791456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1. Foundation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Color · Typography · Spacing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Border &amp; Radius ★ · Elevation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2. Component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Button ★ · Badge ★ · Input · Card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Section (폼 섹션 카드)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Toast · LayerPopup ★ · Skeleton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3. Layout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L-MAIN · L-DETAIL · L-FORM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(장바구니 = L-FORM: BackHeader+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 Content+StickyBottom CTA)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4. Template → Page 매핑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T-HOME · T-CART ★ · T-ORDER · T-MY …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(T-CART → /cart, Layout=L-FORM)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★ = 장바구니(CartPage)에서 실제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417320"/>
            <a:ext cx="5989320" cy="48463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1417320"/>
            <a:ext cx="598932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70448" y="153162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16752" y="153162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63056" y="153162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417320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 §1 · 실제 렌더링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7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44E5889-2312-6087-7418-409BF1D5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266" y="1835072"/>
            <a:ext cx="1537367" cy="432171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4A3F29E-E67E-AAE4-DBEB-2C47D5D9D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0" y="1801368"/>
            <a:ext cx="1549357" cy="4355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1059</Words>
  <Application>Microsoft Macintosh PowerPoint</Application>
  <PresentationFormat>와이드스크린</PresentationFormat>
  <Paragraphs>193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7</cp:revision>
  <dcterms:created xsi:type="dcterms:W3CDTF">2013-01-27T09:14:16Z</dcterms:created>
  <dcterms:modified xsi:type="dcterms:W3CDTF">2026-08-25T04:34:44Z</dcterms:modified>
  <cp:category/>
</cp:coreProperties>
</file>