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/>
    <p:restoredTop sz="93857"/>
  </p:normalViewPr>
  <p:slideViewPr>
    <p:cSldViewPr snapToGrid="0" snapToObjects="1">
      <p:cViewPr varScale="1">
        <p:scale>
          <a:sx n="114" d="100"/>
          <a:sy n="114" d="100"/>
        </p:scale>
        <p:origin x="5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EE2CA-97E0-F840-9D76-41FDD4FAECBB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18892-1AFA-4942-8674-000C7DC317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859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18892-1AFA-4942-8674-000C7DC3178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969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F901-3F13-1A1C-A6D3-E7A420BF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847B1-4EA1-2938-69D9-E66467B3D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153DFF-5725-FA18-0C20-FAD9315A5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DD335-1031-7A67-F8A2-DAAA1CA8D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18892-1AFA-4942-8674-000C7DC3178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245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E75B6"/>
                </a:solidFill>
                <a:latin typeface="Paperlogy 4 Regular"/>
              </a:rPr>
              <a:t>3TOP · </a:t>
            </a:r>
            <a:r>
              <a:rPr sz="1500" b="1" dirty="0" err="1">
                <a:solidFill>
                  <a:srgbClr val="2E75B6"/>
                </a:solidFill>
                <a:latin typeface="Paperlogy 4 Regular"/>
              </a:rPr>
              <a:t>AI활용</a:t>
            </a:r>
            <a:r>
              <a:rPr sz="1500" b="1" dirty="0">
                <a:solidFill>
                  <a:srgbClr val="2E75B6"/>
                </a:solidFill>
                <a:latin typeface="Paperlogy 4 Regular"/>
              </a:rPr>
              <a:t> </a:t>
            </a:r>
            <a:r>
              <a:rPr sz="1500" b="1" dirty="0" err="1">
                <a:solidFill>
                  <a:srgbClr val="2E75B6"/>
                </a:solidFill>
                <a:latin typeface="Paperlogy 4 Regular"/>
              </a:rPr>
              <a:t>방법론</a:t>
            </a:r>
            <a:endParaRPr sz="1500" b="1" dirty="0">
              <a:solidFill>
                <a:srgbClr val="2E75B6"/>
              </a:solidFill>
              <a:latin typeface="Paperlogy 4 Regula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650000"/>
            <a:ext cx="112745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F3B57"/>
                </a:solidFill>
                <a:latin typeface="Paperlogy 4 Regular"/>
              </a:rPr>
              <a:t>AI </a:t>
            </a:r>
            <a:r>
              <a:rPr sz="4000" b="1" dirty="0" err="1">
                <a:solidFill>
                  <a:srgbClr val="1F3B57"/>
                </a:solidFill>
                <a:latin typeface="Paperlogy 4 Regular"/>
              </a:rPr>
              <a:t>활용</a:t>
            </a:r>
            <a:r>
              <a:rPr sz="4000" b="1" dirty="0">
                <a:solidFill>
                  <a:srgbClr val="1F3B57"/>
                </a:solidFill>
                <a:latin typeface="Paperlogy 4 Regular"/>
              </a:rPr>
              <a:t> </a:t>
            </a:r>
            <a:r>
              <a:rPr sz="4000" b="1" dirty="0" err="1">
                <a:solidFill>
                  <a:srgbClr val="1F3B57"/>
                </a:solidFill>
                <a:latin typeface="Paperlogy 4 Regular"/>
              </a:rPr>
              <a:t>개발</a:t>
            </a:r>
            <a:r>
              <a:rPr sz="4000" b="1" dirty="0">
                <a:solidFill>
                  <a:srgbClr val="1F3B57"/>
                </a:solidFill>
                <a:latin typeface="Paperlogy 4 Regular"/>
              </a:rPr>
              <a:t> </a:t>
            </a:r>
            <a:r>
              <a:rPr sz="4000" b="1" dirty="0" err="1">
                <a:solidFill>
                  <a:srgbClr val="1F3B57"/>
                </a:solidFill>
                <a:latin typeface="Paperlogy 4 Regular"/>
              </a:rPr>
              <a:t>지침서</a:t>
            </a:r>
            <a:endParaRPr sz="4000" b="1" dirty="0">
              <a:solidFill>
                <a:srgbClr val="1F3B57"/>
              </a:solidFill>
              <a:latin typeface="Paperlogy 4 Regula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3650000"/>
            <a:ext cx="1143000" cy="30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780000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E75B6"/>
                </a:solidFill>
                <a:latin typeface="Paperlogy 4 Regular"/>
              </a:rPr>
              <a:t>보고용</a:t>
            </a:r>
            <a:endParaRPr sz="1800" b="1" dirty="0">
              <a:solidFill>
                <a:srgbClr val="2E75B6"/>
              </a:solidFill>
              <a:latin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25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7"/>
                </a:solidFill>
                <a:latin typeface="Paperlogy 4 Regular"/>
              </a:rPr>
              <a:t>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왜</a:t>
            </a:r>
            <a:r>
              <a:rPr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바꿔야 하는가</a:t>
            </a:r>
            <a:endParaRPr sz="2200" b="1" i="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290460"/>
              </p:ext>
            </p:extLst>
          </p:nvPr>
        </p:nvGraphicFramePr>
        <p:xfrm>
          <a:off x="425302" y="1873032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영향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요구사항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변경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유지비용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폭증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재작업에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시간의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30~40%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소모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의존도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높음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1명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이탈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지연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협업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부재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도구를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도입해도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"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쓰는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"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—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생산성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제한적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종료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후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프로젝트에서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처음부터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5302" y="5050465"/>
            <a:ext cx="11274552" cy="120998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lnSpc>
                <a:spcPct val="150000"/>
              </a:lnSpc>
            </a:pP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AI를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"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도구"로만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쓰면 효과가 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제한적이여서</a:t>
            </a:r>
            <a:endParaRPr lang="en-US" altLang="ko-KR" b="1" spc="120" dirty="0">
              <a:solidFill>
                <a:schemeClr val="tx2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b="1" spc="120" dirty="0" err="1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lang="ko-KR" altLang="ko-KR" b="1" spc="120" dirty="0">
                <a:solidFill>
                  <a:schemeClr val="tx2"/>
                </a:solidFill>
                <a:latin typeface="Paperlogy 4 Regular" pitchFamily="2" charset="-127"/>
                <a:ea typeface="Paperlogy 4 Regular" pitchFamily="2" charset="-127"/>
              </a:rPr>
              <a:t> 자산을 이해하고 산출물을 직접 생성하는 구조가 필요</a:t>
            </a:r>
            <a:endParaRPr sz="1600" b="1" i="0" spc="120" dirty="0">
              <a:solidFill>
                <a:schemeClr val="tx2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5D791F15-3A98-6E4E-BEEB-D0BE3DBF7E31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기존 방법론은 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</a:t>
            </a:r>
            <a:r>
              <a:rPr lang="ko-KR" altLang="en-US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를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활용해 산출물을 생성하는 구조가 없어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생산성 개선에 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한계가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2. </a:t>
            </a:r>
            <a:r>
              <a:rPr lang="ko-KR" altLang="en-US" sz="1050" b="1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방안</a:t>
            </a:r>
            <a:endParaRPr sz="1050" b="1" i="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무엇을 </a:t>
            </a:r>
            <a:r>
              <a:rPr lang="ko-KR" altLang="en-US" sz="2200" b="1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바</a:t>
            </a:r>
            <a:r>
              <a:rPr lang="ko-KR" altLang="en-US" sz="2200" b="1" i="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꾸는가</a:t>
            </a:r>
            <a:endParaRPr sz="2200" b="1" i="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사람이 작성하던 산출물을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생성하고, 사람은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검토·의사결정으로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역할을 전환합니다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11154"/>
              </p:ext>
            </p:extLst>
          </p:nvPr>
        </p:nvGraphicFramePr>
        <p:xfrm>
          <a:off x="457200" y="1874519"/>
          <a:ext cx="1127455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5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기존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활용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방법론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문서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AI가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보조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초안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생성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검토·확정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끝나면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AI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입력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 교체 시 다시 처음부터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남아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있으므로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신규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AI+자산으로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즉시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생산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4618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① 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축적된</a:t>
            </a:r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자산</a:t>
            </a:r>
            <a:endParaRPr sz="1200" b="1" i="0" spc="12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sz="1200" b="1" i="0" spc="12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정책서·설계서·코드</a:t>
            </a:r>
            <a:r>
              <a:rPr sz="1200" b="1" i="0" spc="12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802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5C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② AI가 자산 활용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산출물 초안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9869" y="3986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③ 사람이 검토·확정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공식 산출물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8029" y="5129142"/>
            <a:ext cx="2606040" cy="781813"/>
          </a:xfrm>
          <a:prstGeom prst="roundRect">
            <a:avLst>
              <a:gd name="adj" fmla="val 10000"/>
            </a:avLst>
          </a:prstGeom>
          <a:solidFill>
            <a:srgbClr val="B0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④ 재사용 가치 있으면</a:t>
            </a:r>
          </a:p>
          <a:p>
            <a:pPr algn="ctr"/>
            <a:r>
              <a:rPr sz="1200" b="1" i="0" spc="12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→ 자산으로 등록</a:t>
            </a:r>
          </a:p>
        </p:txBody>
      </p:sp>
      <p:cxnSp>
        <p:nvCxnSpPr>
          <p:cNvPr id="12" name="Connector 11"/>
          <p:cNvCxnSpPr>
            <a:cxnSpLocks/>
            <a:stCxn id="8" idx="3"/>
            <a:endCxn id="9" idx="1"/>
          </p:cNvCxnSpPr>
          <p:nvPr/>
        </p:nvCxnSpPr>
        <p:spPr>
          <a:xfrm>
            <a:off x="3752229" y="4377049"/>
            <a:ext cx="68580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9" idx="3"/>
            <a:endCxn id="10" idx="1"/>
          </p:cNvCxnSpPr>
          <p:nvPr/>
        </p:nvCxnSpPr>
        <p:spPr>
          <a:xfrm>
            <a:off x="7044069" y="4377049"/>
            <a:ext cx="68580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10" idx="2"/>
            <a:endCxn id="11" idx="3"/>
          </p:cNvCxnSpPr>
          <p:nvPr/>
        </p:nvCxnSpPr>
        <p:spPr>
          <a:xfrm flipH="1">
            <a:off x="7044069" y="4767955"/>
            <a:ext cx="1988820" cy="752094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11" idx="1"/>
            <a:endCxn id="8" idx="2"/>
          </p:cNvCxnSpPr>
          <p:nvPr/>
        </p:nvCxnSpPr>
        <p:spPr>
          <a:xfrm flipH="1" flipV="1">
            <a:off x="2449209" y="4767955"/>
            <a:ext cx="1988820" cy="752094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3.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원리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무엇이 반복되는가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9770" y="5600700"/>
            <a:ext cx="157734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착수</a:t>
            </a:r>
            <a:endParaRPr sz="14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2012421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24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범위정의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13046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3217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구조설계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19570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3100" y="5600700"/>
            <a:ext cx="1741932" cy="685800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상세설계→구현</a:t>
            </a:r>
            <a:r>
              <a:rPr sz="14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
</a:t>
            </a:r>
            <a:r>
              <a:rPr sz="1200" b="1" i="0" spc="30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(Bolt </a:t>
            </a:r>
            <a:r>
              <a:rPr sz="1200" b="1" i="0" spc="300" dirty="0" err="1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반복</a:t>
            </a:r>
            <a:r>
              <a:rPr sz="1200" b="1" i="0" spc="30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5375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99162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테스트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91898" y="5943600"/>
            <a:ext cx="3240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0090" y="5600700"/>
            <a:ext cx="1576800" cy="685800"/>
          </a:xfrm>
          <a:prstGeom prst="roundRect">
            <a:avLst>
              <a:gd name="adj" fmla="val 10000"/>
            </a:avLst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 spc="30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안정화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90399"/>
              </p:ext>
            </p:extLst>
          </p:nvPr>
        </p:nvGraphicFramePr>
        <p:xfrm>
          <a:off x="457200" y="1875600"/>
          <a:ext cx="1127455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단계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 질문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예시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착수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무엇을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문제정의서, 목표KPI, 범위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범위정의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경계와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틀은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무엇인가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제약사항, NFR, 컴포넌트, 도메인정의서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구조설계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어떻게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나누고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연결하는가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EARS, ERD,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상태머신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WBS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상세설계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구체적으로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어떻게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만드는가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GWT,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시퀀스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화면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클래스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구현</a:t>
                      </a:r>
                      <a:endParaRPr sz="13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코드로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만든다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소스코드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단위테스트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테스트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동작하는가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통합테스트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E2E, Go/No-Go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안정화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서비스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가능한가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운영매뉴얼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성능튜닝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D70091B5-CA5C-D096-0173-80F7E38E38F8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방법론은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Bolt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단위 </a:t>
            </a:r>
            <a:r>
              <a:rPr lang="ko-KR" altLang="ko-KR" sz="1400" b="1" spc="150" dirty="0" err="1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AI구현을</a:t>
            </a:r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 위한 산출물을 정의하고, 각 단계마다 AI 생성 → 휴면검토를 거치도록 설계되어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ko-KR"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4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표준화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역활을</a:t>
            </a:r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어떻게 나누는가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25" y="18496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AI가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어떻게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작성하고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검토자가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무엇을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확인하는가</a:t>
            </a:r>
            <a:r>
              <a:rPr lang="en-US" altLang="ko-KR"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?</a:t>
            </a:r>
            <a:endParaRPr sz="14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241343"/>
              </p:ext>
            </p:extLst>
          </p:nvPr>
        </p:nvGraphicFramePr>
        <p:xfrm>
          <a:off x="458725" y="2173408"/>
          <a:ext cx="1127455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0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종류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방식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검토자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확인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Proposal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문제→목표→대안→결정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서술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방향이 맞는가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Spec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정형화된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구문으로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빠짐없이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나열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요구가 정확한가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Design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다이어그램과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테이블로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시각화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구조가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가능한가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Task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작업을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분해하고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담당·일정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배정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계획이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현실적인가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8725" y="44021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변경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영향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범위가</a:t>
            </a:r>
            <a:r>
              <a:rPr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400" b="1" i="0" spc="120" dirty="0" err="1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얼마인가</a:t>
            </a:r>
            <a:r>
              <a:rPr lang="en-US" altLang="ko-KR" sz="14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?</a:t>
            </a:r>
            <a:endParaRPr sz="14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932900"/>
              </p:ext>
            </p:extLst>
          </p:nvPr>
        </p:nvGraphicFramePr>
        <p:xfrm>
          <a:off x="458725" y="4713531"/>
          <a:ext cx="112745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의미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변경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시</a:t>
                      </a:r>
                      <a:r>
                        <a:rPr sz="13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영향</a:t>
                      </a:r>
                      <a:endParaRPr sz="13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Project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전제조건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 재검토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Domain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도메인의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전제조건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도메인만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재검토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해당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유스케이스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내부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그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Bolt만</a:t>
                      </a:r>
                      <a:r>
                        <a:rPr sz="13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3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재검토</a:t>
                      </a:r>
                      <a:endParaRPr sz="13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623DBDB-54B0-7A61-F071-AAE44213E191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산출물은 종류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(AI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작성 방식</a:t>
            </a:r>
            <a:r>
              <a:rPr lang="en-US" altLang="ko-KR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)·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범위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변경 영향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로 표준화되어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AI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와 검토자가 무엇을 해야 할지 즉시 판단할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수 있습니다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5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효과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무엇이 좋아지는가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748665"/>
              </p:ext>
            </p:extLst>
          </p:nvPr>
        </p:nvGraphicFramePr>
        <p:xfrm>
          <a:off x="429769" y="1874520"/>
          <a:ext cx="11274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기존</a:t>
                      </a:r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방식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활용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개선</a:t>
                      </a:r>
                      <a:r>
                        <a:rPr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300" baseline="0" dirty="0" err="1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효과</a:t>
                      </a:r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산출물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작성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사람이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직접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초안 + 사람 검토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50~70% 시간 단축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의존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핵심인력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부재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→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전체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지연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 기반 → 누구든 AI와 작업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인력 리스크 해소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품질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검증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수동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리뷰만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자동검증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+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사람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판단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검증 비용 절감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지식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종료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후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소멸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자산으로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영구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축적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시 점진 향상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비용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(</a:t>
                      </a:r>
                      <a:r>
                        <a:rPr sz="1200" b="1" i="0" spc="120" baseline="0" dirty="0" err="1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</a:t>
                      </a:r>
                      <a:r>
                        <a:rPr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기준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대비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AI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협업</a:t>
                      </a:r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적용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30% </a:t>
                      </a:r>
                      <a:r>
                        <a:rPr sz="1200" b="0" i="0" spc="120" baseline="0" dirty="0" err="1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절감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9769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50~70%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산출물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작성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시간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단축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32032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2E7D4F"/>
                </a:solidFill>
                <a:latin typeface="Paperlogy 4 Regular" pitchFamily="2" charset="-127"/>
                <a:ea typeface="Paperlogy 4 Regular" pitchFamily="2" charset="-127"/>
              </a:rPr>
              <a:t>30%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목표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비용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절감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4295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인력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교체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지식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손실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36558" y="4949784"/>
            <a:ext cx="2595194" cy="98117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t"/>
          <a:lstStyle/>
          <a:p>
            <a:pPr algn="ctr">
              <a:lnSpc>
                <a:spcPct val="150000"/>
              </a:lnSpc>
            </a:pPr>
            <a:r>
              <a:rPr sz="2600" b="1" i="0" spc="12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↑</a:t>
            </a:r>
          </a:p>
          <a:p>
            <a:pPr algn="ctr">
              <a:lnSpc>
                <a:spcPct val="150000"/>
              </a:lnSpc>
            </a:pP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프로젝트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반복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시</a:t>
            </a:r>
            <a:r>
              <a:rPr sz="1200" b="0" i="0" spc="120" dirty="0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200" b="0" i="0" spc="120" dirty="0" err="1">
                <a:solidFill>
                  <a:srgbClr val="555555"/>
                </a:solidFill>
                <a:latin typeface="Paperlogy 4 Regular" pitchFamily="2" charset="-127"/>
                <a:ea typeface="Paperlogy 4 Regular" pitchFamily="2" charset="-127"/>
              </a:rPr>
              <a:t>생산성</a:t>
            </a:r>
            <a:endParaRPr sz="1200" b="0" i="0" spc="120" dirty="0">
              <a:solidFill>
                <a:srgbClr val="555555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DDDFAEE0-AE2F-126C-F264-C84272A47E70}"/>
              </a:ext>
            </a:extLst>
          </p:cNvPr>
          <p:cNvSpPr/>
          <p:nvPr/>
        </p:nvSpPr>
        <p:spPr>
          <a:xfrm>
            <a:off x="457200" y="1097280"/>
            <a:ext cx="11274552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AI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활용으로 프로젝트의 품질과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속도를 높이고</a:t>
            </a:r>
            <a:r>
              <a:rPr lang="en-US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축적된 자산은 프로젝트의 리스크와 </a:t>
            </a:r>
            <a:r>
              <a:rPr lang="ko-KR" altLang="en-US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비용을 줄입니다</a:t>
            </a:r>
            <a:r>
              <a:rPr lang="en-US" altLang="ko-KR" sz="1400" b="1" spc="15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.</a:t>
            </a:r>
            <a:endParaRPr lang="en-US" altLang="ko-KR"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6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sz="1050" b="1" i="0" spc="120" dirty="0" err="1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확산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어떻게 적용하는가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98000"/>
            <a:ext cx="11274552" cy="594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r>
              <a:rPr lang="ko-KR" altLang="ko-KR" sz="1400" b="1" spc="150" dirty="0">
                <a:solidFill>
                  <a:srgbClr val="1B4F78"/>
                </a:solidFill>
                <a:latin typeface="Paperlogy 4 Regular" pitchFamily="2" charset="-127"/>
                <a:ea typeface="Paperlogy 4 Regular" pitchFamily="2" charset="-127"/>
              </a:rPr>
              <a:t>파일럿으로 방법론을 실증하고 자산세트를 확보한 뒤, 전사 표준으로 확대 적용합니다.</a:t>
            </a:r>
            <a:endParaRPr sz="1400" b="1" spc="150" dirty="0">
              <a:solidFill>
                <a:srgbClr val="1B4F7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5853" y="5102312"/>
            <a:ext cx="2769327" cy="653690"/>
          </a:xfrm>
          <a:prstGeom prst="roundRect">
            <a:avLst>
              <a:gd name="adj" fmla="val 10000"/>
            </a:avLst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1차: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주문·결제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0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(13주)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0084" y="5102312"/>
            <a:ext cx="2887599" cy="653690"/>
          </a:xfrm>
          <a:prstGeom prst="roundRect">
            <a:avLst>
              <a:gd name="adj" fmla="val 10000"/>
            </a:avLst>
          </a:prstGeom>
          <a:solidFill>
            <a:srgbClr val="5CA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2차: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전체</a:t>
            </a:r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도메인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sz="1200" b="0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(26주)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2829" y="5102312"/>
            <a:ext cx="2887599" cy="653690"/>
          </a:xfrm>
          <a:prstGeom prst="roundRect">
            <a:avLst>
              <a:gd name="adj" fmla="val 10000"/>
            </a:avLst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전사</a:t>
            </a:r>
            <a:r>
              <a:rPr sz="1300" b="1" i="0" spc="30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sz="1300" b="1" i="0" spc="300" dirty="0" err="1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</a:rPr>
              <a:t>확장</a:t>
            </a:r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endParaRPr sz="1300" b="1" i="0" spc="300" dirty="0">
              <a:solidFill>
                <a:srgbClr val="FFFFFF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899954" y="5429157"/>
            <a:ext cx="411481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7494516" y="5429157"/>
            <a:ext cx="41148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89FEF0B2-A184-907B-EBC6-0ED268094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905475"/>
              </p:ext>
            </p:extLst>
          </p:nvPr>
        </p:nvGraphicFramePr>
        <p:xfrm>
          <a:off x="428400" y="1875600"/>
          <a:ext cx="11274551" cy="3134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3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54">
                <a:tc>
                  <a:txBody>
                    <a:bodyPr/>
                    <a:lstStyle/>
                    <a:p>
                      <a:pPr algn="ctr"/>
                      <a:endParaRPr sz="1200" b="1" i="0" spc="300" baseline="0" dirty="0">
                        <a:solidFill>
                          <a:srgbClr val="FFFFFF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방법론 검증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범용성 검증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300" baseline="0" dirty="0">
                          <a:solidFill>
                            <a:srgbClr val="FFFFFF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조직표준</a:t>
                      </a:r>
                    </a:p>
                  </a:txBody>
                  <a:tcPr marT="18288" marB="18288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방법론 실증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비용산정 모델 초안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 자산 세트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범용성 검증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산정 모델 확정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자산 전체 세트 완성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비용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30%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절감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목표수치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(SI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프로젝트 적용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범위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 Order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+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Payment </a:t>
                      </a:r>
                      <a:b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연관 도메인은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Mock)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 전체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· 72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 (4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파트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16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검증된 방법론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B2C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자산 세트</a:t>
                      </a:r>
                    </a:p>
                  </a:txBody>
                  <a:tcPr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6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진행</a:t>
                      </a:r>
                      <a:endParaRPr sz="1200" b="1" i="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착수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~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구조설계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Bolt 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반복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테스트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/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안정화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주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(Go/No-Go)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차 자산을 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10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도메인에 재사용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생산성 향상 실측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조직 표준으로 확정 </a:t>
                      </a:r>
                      <a:b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.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 신규 프로젝트 기본 적용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kern="1200" spc="120" baseline="0" dirty="0">
                          <a:solidFill>
                            <a:srgbClr val="1F3B57"/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인력</a:t>
                      </a:r>
                      <a:endParaRPr sz="1200" b="1" i="0" kern="1200" spc="120" baseline="0" dirty="0">
                        <a:solidFill>
                          <a:srgbClr val="1F3B57"/>
                        </a:solidFill>
                        <a:latin typeface="Paperlogy 4 Regular" pitchFamily="2" charset="-127"/>
                        <a:ea typeface="Paperlogy 4 Regular" pitchFamily="2" charset="-127"/>
                        <a:cs typeface="+mn-cs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  <a:endParaRPr lang="en-US" altLang="ko-KR"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4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개 파트</a:t>
                      </a: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, 16</a:t>
                      </a:r>
                      <a:r>
                        <a:rPr lang="ko-KR" altLang="en-US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명</a:t>
                      </a: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b="0" i="0" spc="120" baseline="0" dirty="0">
                          <a:solidFill>
                            <a:srgbClr val="555555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-</a:t>
                      </a:r>
                      <a:endParaRPr lang="ko-KR" altLang="en-US" sz="1200" b="0" i="0" spc="120" baseline="0" dirty="0">
                        <a:solidFill>
                          <a:srgbClr val="555555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T="18288" marB="18288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8327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8857-FD33-EB00-F317-E4493F40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726BF560-316D-C749-AF43-42508E1AB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4" r="2124" b="12452"/>
          <a:stretch>
            <a:fillRect/>
          </a:stretch>
        </p:blipFill>
        <p:spPr>
          <a:xfrm>
            <a:off x="6762310" y="1107156"/>
            <a:ext cx="4936741" cy="431991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8E063B-D599-238A-9D17-F91DC3756ABB}"/>
              </a:ext>
            </a:extLst>
          </p:cNvPr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7</a:t>
            </a:r>
            <a:r>
              <a:rPr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050" b="1" i="0" spc="120" dirty="0">
                <a:solidFill>
                  <a:srgbClr val="2E75B6"/>
                </a:solidFill>
                <a:latin typeface="Paperlogy 4 Regular" pitchFamily="2" charset="-127"/>
                <a:ea typeface="Paperlogy 4 Regular" pitchFamily="2" charset="-127"/>
              </a:rPr>
              <a:t>현황</a:t>
            </a:r>
            <a:endParaRPr sz="1050" b="1" i="0" spc="120" dirty="0">
              <a:solidFill>
                <a:srgbClr val="2E75B6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23887-C0E4-5BB9-151C-A8102A65A3E8}"/>
              </a:ext>
            </a:extLst>
          </p:cNvPr>
          <p:cNvSpPr txBox="1"/>
          <p:nvPr/>
        </p:nvSpPr>
        <p:spPr>
          <a:xfrm>
            <a:off x="457200" y="3657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i="0" spc="120" dirty="0">
                <a:solidFill>
                  <a:srgbClr val="1F3B57"/>
                </a:solidFill>
                <a:latin typeface="Paperlogy 4 Regular" pitchFamily="2" charset="-127"/>
                <a:ea typeface="Paperlogy 4 Regular" pitchFamily="2" charset="-127"/>
              </a:rPr>
              <a:t>어떻게 진행해왔나</a:t>
            </a:r>
            <a:endParaRPr sz="2200" b="1" i="0" spc="120" dirty="0">
              <a:solidFill>
                <a:srgbClr val="1F3B57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FFD7A-4640-2C2F-3E28-7EE0CB355AFD}"/>
              </a:ext>
            </a:extLst>
          </p:cNvPr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12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2E914-54F5-5364-D2D0-F5902C5AE2CD}"/>
              </a:ext>
            </a:extLst>
          </p:cNvPr>
          <p:cNvSpPr txBox="1"/>
          <p:nvPr/>
        </p:nvSpPr>
        <p:spPr>
          <a:xfrm>
            <a:off x="556187" y="1054915"/>
            <a:ext cx="560602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300" dirty="0"/>
              <a:t>■ </a:t>
            </a:r>
            <a:r>
              <a:rPr lang="ko-KR" altLang="ko-KR" sz="1300" dirty="0" err="1"/>
              <a:t>AI활용</a:t>
            </a:r>
            <a:r>
              <a:rPr lang="ko-KR" altLang="ko-KR" sz="1300" dirty="0"/>
              <a:t> 방법론 기반 자산화 진행현황</a:t>
            </a:r>
          </a:p>
          <a:p>
            <a:endParaRPr lang="ko-KR" altLang="ko-KR" sz="1300" dirty="0"/>
          </a:p>
          <a:p>
            <a:r>
              <a:rPr lang="ko-KR" altLang="ko-KR" sz="1300" dirty="0"/>
              <a:t>1. 방법론 수립 (7/6</a:t>
            </a:r>
            <a:r>
              <a:rPr lang="ko-KR" altLang="en-US" sz="1300" dirty="0"/>
              <a:t> </a:t>
            </a:r>
            <a:r>
              <a:rPr lang="ko-KR" altLang="ko-KR" sz="1300" dirty="0"/>
              <a:t>~</a:t>
            </a:r>
            <a:r>
              <a:rPr lang="ko-KR" altLang="en-US" sz="1300" dirty="0"/>
              <a:t> </a:t>
            </a:r>
            <a:r>
              <a:rPr lang="ko-KR" altLang="ko-KR" sz="1300" dirty="0"/>
              <a:t>24)</a:t>
            </a:r>
          </a:p>
          <a:p>
            <a:r>
              <a:rPr lang="ko-KR" altLang="ko-KR" sz="1300" dirty="0"/>
              <a:t>   - </a:t>
            </a:r>
            <a:r>
              <a:rPr lang="ko-KR" altLang="ko-KR" sz="1300" dirty="0" err="1"/>
              <a:t>AI를</a:t>
            </a:r>
            <a:r>
              <a:rPr lang="ko-KR" altLang="ko-KR" sz="1300" dirty="0"/>
              <a:t> 활용한 산출물 자산화를 위해 체계적 방법론 필요성 확인</a:t>
            </a:r>
          </a:p>
          <a:p>
            <a:r>
              <a:rPr lang="ko-KR" altLang="ko-KR" sz="1300" dirty="0"/>
              <a:t>   - </a:t>
            </a:r>
            <a:r>
              <a:rPr lang="ko-KR" altLang="ko-KR" sz="1300" dirty="0" err="1"/>
              <a:t>AI활용</a:t>
            </a:r>
            <a:r>
              <a:rPr lang="ko-KR" altLang="ko-KR" sz="1300" dirty="0"/>
              <a:t> 개발공정 지침서 v2.0 초안 수립</a:t>
            </a:r>
          </a:p>
          <a:p>
            <a:endParaRPr lang="ko-KR" altLang="ko-KR" sz="1300" dirty="0"/>
          </a:p>
          <a:p>
            <a:r>
              <a:rPr lang="ko-KR" altLang="ko-KR" sz="1300" dirty="0"/>
              <a:t>2. 유형별 방법론 적용 및 개선점 도출 (7/24</a:t>
            </a:r>
            <a:r>
              <a:rPr lang="ko-KR" altLang="en-US" sz="1300" dirty="0"/>
              <a:t> </a:t>
            </a:r>
            <a:r>
              <a:rPr lang="ko-KR" altLang="ko-KR" sz="1300" dirty="0"/>
              <a:t>~</a:t>
            </a:r>
            <a:r>
              <a:rPr lang="ko-KR" altLang="en-US" sz="1300" dirty="0"/>
              <a:t> </a:t>
            </a:r>
            <a:r>
              <a:rPr lang="ko-KR" altLang="ko-KR" sz="1300" dirty="0"/>
              <a:t>31)</a:t>
            </a:r>
          </a:p>
          <a:p>
            <a:r>
              <a:rPr lang="ko-KR" altLang="ko-KR" sz="1300" dirty="0"/>
              <a:t>   - 산출물을 유형(</a:t>
            </a:r>
            <a:r>
              <a:rPr lang="ko-KR" altLang="ko-KR" sz="1300" dirty="0" err="1"/>
              <a:t>Proposal</a:t>
            </a:r>
            <a:r>
              <a:rPr lang="ko-KR" altLang="ko-KR" sz="1300" dirty="0"/>
              <a:t>/</a:t>
            </a:r>
            <a:r>
              <a:rPr lang="ko-KR" altLang="ko-KR" sz="1300" dirty="0" err="1"/>
              <a:t>Spec</a:t>
            </a:r>
            <a:r>
              <a:rPr lang="ko-KR" altLang="ko-KR" sz="1300" dirty="0"/>
              <a:t>/</a:t>
            </a:r>
            <a:r>
              <a:rPr lang="ko-KR" altLang="ko-KR" sz="1300" dirty="0" err="1"/>
              <a:t>Design</a:t>
            </a:r>
            <a:r>
              <a:rPr lang="ko-KR" altLang="ko-KR" sz="1300" dirty="0"/>
              <a:t>/</a:t>
            </a:r>
            <a:r>
              <a:rPr lang="ko-KR" altLang="ko-KR" sz="1300" dirty="0" err="1"/>
              <a:t>Task</a:t>
            </a:r>
            <a:r>
              <a:rPr lang="ko-KR" altLang="ko-KR" sz="1300" dirty="0"/>
              <a:t>)별로 작성 시도</a:t>
            </a:r>
          </a:p>
          <a:p>
            <a:r>
              <a:rPr lang="ko-KR" altLang="ko-KR" sz="1300" dirty="0"/>
              <a:t>   - 개선점: 산출물 간 </a:t>
            </a:r>
            <a:r>
              <a:rPr lang="ko-KR" altLang="ko-KR" sz="1300" dirty="0" err="1"/>
              <a:t>선후행</a:t>
            </a:r>
            <a:r>
              <a:rPr lang="ko-KR" altLang="ko-KR" sz="1300" dirty="0"/>
              <a:t> 의존관계를 고려한 작성순서 체계 필요</a:t>
            </a:r>
          </a:p>
          <a:p>
            <a:r>
              <a:rPr lang="ko-KR" altLang="ko-KR" sz="1300" dirty="0"/>
              <a:t>   </a:t>
            </a:r>
            <a:r>
              <a:rPr lang="en-US" altLang="ko-KR" sz="1300" dirty="0"/>
              <a:t>(</a:t>
            </a:r>
            <a:r>
              <a:rPr lang="ko-KR" altLang="en-US" sz="1300" dirty="0"/>
              <a:t>일부 </a:t>
            </a:r>
            <a:r>
              <a:rPr lang="en-US" altLang="ko-KR" sz="1300" dirty="0"/>
              <a:t>Spec </a:t>
            </a:r>
            <a:r>
              <a:rPr lang="ko-KR" altLang="en-US" sz="1300" dirty="0"/>
              <a:t>산출물이 아직 미확정인 </a:t>
            </a:r>
            <a:r>
              <a:rPr lang="en-US" altLang="ko-KR" sz="1300" dirty="0"/>
              <a:t>Design</a:t>
            </a:r>
            <a:r>
              <a:rPr lang="ko-KR" altLang="en-US" sz="1300" dirty="0" err="1"/>
              <a:t>를</a:t>
            </a:r>
            <a:r>
              <a:rPr lang="ko-KR" altLang="en-US" sz="1300" dirty="0"/>
              <a:t> 참조해야 하는 순환</a:t>
            </a:r>
            <a:r>
              <a:rPr lang="en-US" altLang="ko-KR" sz="1300" dirty="0"/>
              <a:t>)</a:t>
            </a:r>
          </a:p>
          <a:p>
            <a:endParaRPr lang="ko-KR" altLang="ko-KR" sz="1300" dirty="0"/>
          </a:p>
          <a:p>
            <a:r>
              <a:rPr lang="ko-KR" altLang="ko-KR" sz="1300" dirty="0"/>
              <a:t>3. 단계별(작성순서) 방법론으로 전환 (8/3~현재)</a:t>
            </a:r>
          </a:p>
          <a:p>
            <a:r>
              <a:rPr lang="ko-KR" altLang="ko-KR" sz="1300" dirty="0"/>
              <a:t>   - 의존관계 기반으로 재구성</a:t>
            </a:r>
          </a:p>
          <a:p>
            <a:r>
              <a:rPr lang="ko-KR" altLang="ko-KR" sz="1300" dirty="0"/>
              <a:t>     (</a:t>
            </a:r>
            <a:r>
              <a:rPr lang="ko-KR" altLang="ko-KR" sz="1300" dirty="0" err="1"/>
              <a:t>착수→범위정의→구조설계→상세설계→구현→테스트→안정화</a:t>
            </a:r>
            <a:r>
              <a:rPr lang="ko-KR" altLang="ko-KR" sz="1300" dirty="0"/>
              <a:t>)</a:t>
            </a:r>
          </a:p>
          <a:p>
            <a:r>
              <a:rPr lang="ko-KR" altLang="ko-KR" sz="1300" dirty="0"/>
              <a:t>   - 선행 산출물 확정 후 다음 산출물 작성 → 순환 참조 해소</a:t>
            </a:r>
          </a:p>
          <a:p>
            <a:r>
              <a:rPr lang="ko-KR" altLang="ko-KR" sz="1300" dirty="0"/>
              <a:t>   - 지침서 v2.3 적용 중</a:t>
            </a:r>
            <a:br>
              <a:rPr lang="ko-KR" altLang="ko-KR" sz="1300" dirty="0"/>
            </a:br>
            <a:endParaRPr lang="ko-KR" altLang="ko-KR" sz="1300" dirty="0"/>
          </a:p>
          <a:p>
            <a:r>
              <a:rPr lang="ko-KR" altLang="ko-KR" sz="1300" dirty="0"/>
              <a:t>4. 현재 진행 상태</a:t>
            </a:r>
          </a:p>
          <a:p>
            <a:r>
              <a:rPr lang="ko-KR" altLang="ko-KR" sz="1300" dirty="0"/>
              <a:t>   - S0(착수) ~ S2(구조설계): 완료 — 산출물 23개 확정</a:t>
            </a:r>
          </a:p>
          <a:p>
            <a:r>
              <a:rPr lang="ko-KR" altLang="ko-KR" sz="1300" dirty="0"/>
              <a:t>   - S3(상세설계): 1차 파트(</a:t>
            </a:r>
            <a:r>
              <a:rPr lang="ko-KR" altLang="ko-KR" sz="1300" dirty="0" err="1"/>
              <a:t>Order+Payment</a:t>
            </a:r>
            <a:r>
              <a:rPr lang="ko-KR" altLang="ko-KR" sz="1300" dirty="0"/>
              <a:t>) 대상 진입 준비 중</a:t>
            </a:r>
          </a:p>
          <a:p>
            <a:endParaRPr lang="ko-KR" altLang="ko-KR" sz="1300" dirty="0"/>
          </a:p>
          <a:p>
            <a:r>
              <a:rPr lang="ko-KR" altLang="ko-KR" sz="1300" dirty="0"/>
              <a:t>5. 향후 계획</a:t>
            </a:r>
          </a:p>
          <a:p>
            <a:r>
              <a:rPr lang="ko-KR" altLang="ko-KR" sz="1300" dirty="0"/>
              <a:t>   - 8~9월: S3 완료 → 구현 착수</a:t>
            </a:r>
          </a:p>
          <a:p>
            <a:r>
              <a:rPr lang="ko-KR" altLang="ko-KR" sz="1300" dirty="0"/>
              <a:t>   - 10월: 2차 파트 확장 + 신규 인력 합류 시 방법론 </a:t>
            </a:r>
            <a:r>
              <a:rPr lang="ko-KR" altLang="ko-KR" sz="1300" dirty="0" err="1"/>
              <a:t>온보딩</a:t>
            </a:r>
            <a:r>
              <a:rPr lang="ko-KR" altLang="ko-KR" sz="1300" dirty="0"/>
              <a:t> 검증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9314A4-15E9-A399-1CEC-F38115E391C5}"/>
              </a:ext>
            </a:extLst>
          </p:cNvPr>
          <p:cNvSpPr/>
          <p:nvPr/>
        </p:nvSpPr>
        <p:spPr>
          <a:xfrm>
            <a:off x="6613450" y="1733482"/>
            <a:ext cx="1307809" cy="45065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29ECD9-23C5-5990-4780-47F5C77A80B4}"/>
              </a:ext>
            </a:extLst>
          </p:cNvPr>
          <p:cNvSpPr/>
          <p:nvPr/>
        </p:nvSpPr>
        <p:spPr>
          <a:xfrm>
            <a:off x="6613450" y="2258114"/>
            <a:ext cx="1307809" cy="78279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8F1B41-2B7E-378D-5244-9A344F674888}"/>
              </a:ext>
            </a:extLst>
          </p:cNvPr>
          <p:cNvSpPr/>
          <p:nvPr/>
        </p:nvSpPr>
        <p:spPr>
          <a:xfrm>
            <a:off x="6615329" y="3148676"/>
            <a:ext cx="1320108" cy="117877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3825A7-D41F-C988-1486-9D6B49EEE979}"/>
              </a:ext>
            </a:extLst>
          </p:cNvPr>
          <p:cNvSpPr/>
          <p:nvPr/>
        </p:nvSpPr>
        <p:spPr>
          <a:xfrm>
            <a:off x="6613449" y="4710220"/>
            <a:ext cx="1307809" cy="71684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0E823-7371-809B-218E-DE7D28C4516F}"/>
              </a:ext>
            </a:extLst>
          </p:cNvPr>
          <p:cNvSpPr txBox="1"/>
          <p:nvPr/>
        </p:nvSpPr>
        <p:spPr>
          <a:xfrm>
            <a:off x="5847908" y="4667690"/>
            <a:ext cx="7360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  <a:t>자료</a:t>
            </a:r>
            <a:br>
              <a:rPr kumimoji="1" lang="en-US" altLang="ko-KR" sz="1200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 </a:t>
            </a:r>
            <a:r>
              <a:rPr kumimoji="1"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RFP</a:t>
            </a:r>
          </a:p>
          <a:p>
            <a:pPr algn="ctr"/>
            <a:r>
              <a:rPr kumimoji="1"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정책서</a:t>
            </a:r>
            <a:endParaRPr kumimoji="1"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 자산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AF9CAA-63A4-944C-BD91-3B35C1753845}"/>
              </a:ext>
            </a:extLst>
          </p:cNvPr>
          <p:cNvSpPr txBox="1"/>
          <p:nvPr/>
        </p:nvSpPr>
        <p:spPr>
          <a:xfrm>
            <a:off x="5762850" y="3373549"/>
            <a:ext cx="8211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  <a:t>산출물</a:t>
            </a:r>
            <a:br>
              <a:rPr kumimoji="1" lang="en-US" altLang="ko-KR" sz="1200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 </a:t>
            </a:r>
            <a:r>
              <a:rPr kumimoji="1"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out(</a:t>
            </a:r>
            <a:r>
              <a:rPr kumimoji="1"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자산</a:t>
            </a:r>
            <a:r>
              <a:rPr kumimoji="1"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)</a:t>
            </a:r>
          </a:p>
          <a:p>
            <a:pPr algn="ctr"/>
            <a:r>
              <a:rPr kumimoji="1"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prompt</a:t>
            </a:r>
            <a:endParaRPr kumimoji="1"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1A8E4-6F84-71AE-F2E2-381DC3A88741}"/>
              </a:ext>
            </a:extLst>
          </p:cNvPr>
          <p:cNvSpPr txBox="1"/>
          <p:nvPr/>
        </p:nvSpPr>
        <p:spPr>
          <a:xfrm>
            <a:off x="5762850" y="2302221"/>
            <a:ext cx="8211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  <a:t>방법론</a:t>
            </a:r>
            <a:br>
              <a:rPr kumimoji="1" lang="en-US" altLang="ko-KR" sz="1200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en-US" altLang="ko-K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streering</a:t>
            </a:r>
            <a:endParaRPr kumimoji="1"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prompt</a:t>
            </a:r>
            <a:endParaRPr kumimoji="1" lang="ko-KR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F29E22-A1BA-F80F-C3FE-41ED4CE0D8C1}"/>
              </a:ext>
            </a:extLst>
          </p:cNvPr>
          <p:cNvSpPr txBox="1"/>
          <p:nvPr/>
        </p:nvSpPr>
        <p:spPr>
          <a:xfrm>
            <a:off x="5762850" y="1750340"/>
            <a:ext cx="821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b="1" dirty="0" err="1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  <a:t>구현물</a:t>
            </a:r>
            <a:br>
              <a:rPr kumimoji="1" lang="en-US" altLang="ko-KR" sz="1200" b="1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ko-KR" altLang="en-US" sz="1200" b="1" dirty="0">
                <a:solidFill>
                  <a:srgbClr val="00B050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apps</a:t>
            </a:r>
            <a:endParaRPr kumimoji="1" lang="ko-KR" altLang="en-US" sz="1100" dirty="0">
              <a:solidFill>
                <a:srgbClr val="00B050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88F958-5A30-61CC-88BA-3CAAAAF1F5F3}"/>
              </a:ext>
            </a:extLst>
          </p:cNvPr>
          <p:cNvSpPr txBox="1"/>
          <p:nvPr/>
        </p:nvSpPr>
        <p:spPr>
          <a:xfrm>
            <a:off x="6255950" y="5592391"/>
            <a:ext cx="5430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‘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방법론</a:t>
            </a:r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’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을 기준으로 </a:t>
            </a:r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‘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자료</a:t>
            </a:r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’</a:t>
            </a:r>
            <a:r>
              <a:rPr kumimoji="1" lang="ko-KR" altLang="en-US" sz="1600" spc="130" dirty="0" err="1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를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 참조해서 </a:t>
            </a:r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‘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산출물</a:t>
            </a:r>
            <a:r>
              <a:rPr kumimoji="1" lang="en-US" altLang="ko-KR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’</a:t>
            </a:r>
            <a:r>
              <a:rPr kumimoji="1" lang="ko-KR" altLang="en-US" sz="1600" spc="130" dirty="0">
                <a:solidFill>
                  <a:srgbClr val="0070C0"/>
                </a:solidFill>
                <a:latin typeface="Paperlogy 4 Regular" pitchFamily="2" charset="-127"/>
                <a:ea typeface="Paperlogy 4 Regular" pitchFamily="2" charset="-127"/>
              </a:rPr>
              <a:t>을 생성해줘</a:t>
            </a:r>
          </a:p>
        </p:txBody>
      </p:sp>
    </p:spTree>
    <p:extLst>
      <p:ext uri="{BB962C8B-B14F-4D97-AF65-F5344CB8AC3E}">
        <p14:creationId xmlns:p14="http://schemas.microsoft.com/office/powerpoint/2010/main" val="410937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989</Words>
  <Application>Microsoft Macintosh PowerPoint</Application>
  <PresentationFormat>와이드스크린</PresentationFormat>
  <Paragraphs>200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Paperlogy 4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15</cp:revision>
  <dcterms:created xsi:type="dcterms:W3CDTF">2013-01-27T09:14:16Z</dcterms:created>
  <dcterms:modified xsi:type="dcterms:W3CDTF">2026-08-12T06:26:12Z</dcterms:modified>
  <cp:category/>
</cp:coreProperties>
</file>