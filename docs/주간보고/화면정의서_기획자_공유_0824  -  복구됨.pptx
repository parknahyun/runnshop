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31"/>
    <p:restoredTop sz="94571"/>
  </p:normalViewPr>
  <p:slideViewPr>
    <p:cSldViewPr snapToGrid="0" snapToObjects="1">
      <p:cViewPr varScale="1">
        <p:scale>
          <a:sx n="115" d="100"/>
          <a:sy n="115" d="100"/>
        </p:scale>
        <p:origin x="1016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8/24/26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4160520"/>
            <a:ext cx="12191695" cy="54864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22960" y="2103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1" i="0">
                <a:solidFill>
                  <a:srgbClr val="9FC2DE"/>
                </a:solidFill>
                <a:latin typeface="Malgun Gothic"/>
              </a:rPr>
              <a:t>기획자 공유용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514600"/>
            <a:ext cx="1060704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4000" b="1" i="0">
                <a:solidFill>
                  <a:srgbClr val="FFFFFF"/>
                </a:solidFill>
                <a:latin typeface="Malgun Gothic"/>
              </a:rPr>
              <a:t>화면정의서 전환 안내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621792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docs/주간보고 · 2026-08-24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0" y="6217920"/>
            <a:ext cx="20116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1200" b="0" i="0">
                <a:solidFill>
                  <a:srgbClr val="7E93A8"/>
                </a:solidFill>
                <a:latin typeface="Malgun Gothic"/>
              </a:rPr>
              <a:t>runNshop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산출물 작성 순서 다이어그램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77240" y="1463040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777240" y="1463040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069848" y="1536192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① 착수 + 범위정의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9848" y="182880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문제정의서 → 목표KPI → 이해관계자맵 → 범위 → 대안비교 → 리스크가정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69848" y="2112264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D7 제약사항 → D8 NFR → D9 컴포넌트 → DA 시스템구성도 → DB 도메인정의서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" y="2450592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77240" y="2450592"/>
            <a:ext cx="128016" cy="841248"/>
          </a:xfrm>
          <a:prstGeom prst="rect">
            <a:avLst/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69848" y="2523744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2E8B86"/>
                </a:solidFill>
                <a:latin typeface="Malgun Gothic"/>
              </a:rPr>
              <a:t>② 구조설계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9848" y="2816352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DC 상위UC → DD 메뉴구조도 → DE EARS → DF ERD → DG 상태머신 → DH 프로세스 → DI 이벤트플로우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" y="3099816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 i="0">
                <a:solidFill>
                  <a:srgbClr val="3A424A"/>
                </a:solidFill>
                <a:latin typeface="Malgun Gothic"/>
              </a:rPr>
              <a:t>▼ Bolt 분할 + Tasks (WBS·RACI·의존성맵·리스크대응·DoD체크리스트)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16152" y="3575304"/>
            <a:ext cx="9705186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216152" y="3575304"/>
            <a:ext cx="128016" cy="841248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508760" y="3648456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③ 상세설계 + 구현  [Bolt 반복]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08760" y="3941064"/>
            <a:ext cx="9412578" cy="15747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DJ GWT → DK 세부UC → DL 인터페이스 → DM 시퀀스 → DN 화면 → DO ADR → DP 클래스 → DQ 프로그램목록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224528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980" b="0" i="0">
                <a:solidFill>
                  <a:srgbClr val="3A424A"/>
                </a:solidFill>
                <a:latin typeface="Malgun Gothic"/>
              </a:rPr>
              <a:t>코드 구현 · 자동검증 · 단위테스트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61288" y="3520440"/>
            <a:ext cx="9814560" cy="950976"/>
          </a:xfrm>
          <a:prstGeom prst="roundRect">
            <a:avLst>
              <a:gd name="adj" fmla="val 5000"/>
            </a:avLst>
          </a:prstGeom>
          <a:noFill/>
          <a:ln w="15875">
            <a:solidFill>
              <a:srgbClr val="D97C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ounded Rectangle 25"/>
          <p:cNvSpPr/>
          <p:nvPr/>
        </p:nvSpPr>
        <p:spPr>
          <a:xfrm>
            <a:off x="777240" y="4700016"/>
            <a:ext cx="10652760" cy="841248"/>
          </a:xfrm>
          <a:prstGeom prst="roundRect">
            <a:avLst>
              <a:gd name="adj" fmla="val 5000"/>
            </a:avLst>
          </a:prstGeom>
          <a:solidFill>
            <a:srgbClr val="F4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777240" y="4700016"/>
            <a:ext cx="128016" cy="841248"/>
          </a:xfrm>
          <a:prstGeom prst="rect">
            <a:avLst/>
          </a:prstGeom>
          <a:solidFill>
            <a:srgbClr val="1F3E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69848" y="4773168"/>
            <a:ext cx="101498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1F3E5C"/>
                </a:solidFill>
                <a:latin typeface="Malgun Gothic"/>
              </a:rPr>
              <a:t>④ 테스트 + 안정화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" y="5065776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통합테스트 · E2E · Go/No-Go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69848" y="5349240"/>
            <a:ext cx="10149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3A424A"/>
                </a:solidFill>
                <a:latin typeface="Malgun Gothic"/>
              </a:rPr>
              <a:t>운영매뉴얼 · NFR검증 · Go-Live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1장 · 방법론 설명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컨벤션 산출물 (축 2) — 수평 참조 구조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23" name="Connector 22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2225">
            <a:solidFill>
              <a:srgbClr val="1E6B2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3</a:t>
            </a:r>
          </a:p>
        </p:txBody>
      </p:sp>
      <p:pic>
        <p:nvPicPr>
          <p:cNvPr id="56" name="그림 55">
            <a:extLst>
              <a:ext uri="{FF2B5EF4-FFF2-40B4-BE49-F238E27FC236}">
                <a16:creationId xmlns:a16="http://schemas.microsoft.com/office/drawing/2014/main" id="{64D32EDD-2933-1EF5-8179-FCD68A8C6C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1171" y="1124712"/>
            <a:ext cx="8971749" cy="5439712"/>
          </a:xfrm>
          <a:prstGeom prst="rect">
            <a:avLst/>
          </a:prstGeom>
        </p:spPr>
      </p:pic>
      <p:pic>
        <p:nvPicPr>
          <p:cNvPr id="57" name="그림 56">
            <a:extLst>
              <a:ext uri="{FF2B5EF4-FFF2-40B4-BE49-F238E27FC236}">
                <a16:creationId xmlns:a16="http://schemas.microsoft.com/office/drawing/2014/main" id="{6B0B0673-770F-BE8C-64D0-64473C091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359" y="5739679"/>
            <a:ext cx="1877442" cy="75256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2장 · 기존 화면정의서와 방법론 대응체계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화면정의서 8대 구성요소 ↔ 대응 문서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135907"/>
              </p:ext>
            </p:extLst>
          </p:nvPr>
        </p:nvGraphicFramePr>
        <p:xfrm>
          <a:off x="365760" y="1097280"/>
          <a:ext cx="1147572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375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760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#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항목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기존 화면정의서 설명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lang="ko-KR" altLang="en-US"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방법론 대응</a:t>
                      </a:r>
                      <a:r>
                        <a:rPr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 </a:t>
                      </a:r>
                      <a:r>
                        <a:rPr lang="ko-KR" altLang="en-US" sz="1200" b="1" i="0" dirty="0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  <a:endParaRPr sz="1200" b="1" i="0" dirty="0">
                        <a:solidFill>
                          <a:srgbClr val="FFFFFF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1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식별 정보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화면ID, 화면명, 메뉴경로,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접근권한, 관련화면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DD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메뉴구조도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(IA) </a:t>
                      </a: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메타블록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화면ID·앱·접근권한·화면전환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2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와이어프레임/목업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레이아웃 이미지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lang="ko-KR" altLang="en-US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와이어프레임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3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UI 요소 정의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번호매칭 + 타입/기본값/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필수여부/노출조건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구성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4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이벤트/기능 정의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클릭·입력 시 동작,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화면 전환 규칙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DK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세부유스케이스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행위흐름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) +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전환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5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 정의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항목↔필드 매핑,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정렬/필터/페이징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lang="ko-KR" altLang="en-US"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화면레이아웃</a:t>
                      </a:r>
                      <a: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.</a:t>
                      </a:r>
                      <a:r>
                        <a:rPr lang="ko-KR" altLang="en-US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화면구성</a:t>
                      </a:r>
                      <a:br>
                        <a:rPr lang="en-US" altLang="ko-KR"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</a:b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“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데이터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소스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(API)”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컬럼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6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유효성 검증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필수값·형식·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에러 메시지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DJ GWT + DL 인터페이스명세 에러응답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(DN은 링크만 보유)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7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예외/에러 처리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데이터없음·로딩실패·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권한없음 상태 화면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DN “상태별 UI” 표 + DJ GWT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030" b="1" i="0">
                          <a:solidFill>
                            <a:srgbClr val="142B45"/>
                          </a:solidFill>
                          <a:latin typeface="Malgun Gothic"/>
                        </a:rPr>
                        <a:t>8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비고/정책 설명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 의도,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>
                          <a:solidFill>
                            <a:srgbClr val="3A424A"/>
                          </a:solidFill>
                          <a:latin typeface="Malgun Gothic"/>
                        </a:rPr>
                        <a:t>정책서 참조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DK/DN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본문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REQ-ID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참조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,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정책서</a:t>
                      </a:r>
                      <a:r>
                        <a:rPr sz="1030" b="0" i="0" dirty="0">
                          <a:solidFill>
                            <a:srgbClr val="3A424A"/>
                          </a:solidFill>
                          <a:latin typeface="Malgun Gothic"/>
                        </a:rPr>
                        <a:t> </a:t>
                      </a:r>
                      <a:r>
                        <a:rPr sz="1030" b="0" i="0" dirty="0" err="1">
                          <a:solidFill>
                            <a:srgbClr val="3A424A"/>
                          </a:solidFill>
                          <a:latin typeface="Malgun Gothic"/>
                        </a:rPr>
                        <a:t>원본</a:t>
                      </a:r>
                      <a:endParaRPr sz="1030" b="0" i="0" dirty="0">
                        <a:solidFill>
                          <a:srgbClr val="3A424A"/>
                        </a:solidFill>
                        <a:latin typeface="Malgun Gothic"/>
                      </a:endParaRP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5806440"/>
            <a:ext cx="1147572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강조 포인트 — 항목 1·4는 최근 DN에 “화면정의서 메타블록”을 신설하면서 한 곳에 모였습니다. 다만 항목 6(유효성 검증)은</a:t>
            </a:r>
          </a:p>
          <a:p>
            <a:pPr algn="l">
              <a:lnSpc>
                <a:spcPct val="120000"/>
              </a:lnSpc>
            </a:pPr>
            <a:r>
              <a:rPr sz="1030" b="0" i="1">
                <a:solidFill>
                  <a:srgbClr val="4A5663"/>
                </a:solidFill>
                <a:latin typeface="Malgun Gothic"/>
              </a:rPr>
              <a:t>의도적으로 DN에 옮기지 않고 DJ/DL 링크로만 연결 — 검증 규칙이 바뀌어도 DN을 다시 손댈 필요가 없도록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3장 · 대응체계 문서와 기획자 참여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문서별 작성주체 · 기획자 참여방식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097280"/>
          <a:ext cx="11475720" cy="3438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산출물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목적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작성주체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2000"/>
                        </a:lnSpc>
                      </a:pPr>
                      <a:r>
                        <a:rPr sz="1200" b="1" i="0">
                          <a:solidFill>
                            <a:srgbClr val="FFFFFF"/>
                          </a:solidFill>
                          <a:latin typeface="Malgun Gothic"/>
                        </a:rPr>
                        <a:t>기획자 참여방식</a:t>
                      </a:r>
                    </a:p>
                  </a:txBody>
                  <a:tcPr marL="76200" marR="76200" marT="38100" marB="38100" anchor="ctr">
                    <a:solidFill>
                      <a:srgbClr val="142B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DC 상위유스케이스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도메인별 액터·업무 나열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(업무 흐름 확인)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DD 메뉴구조도(IA)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앱별 GNB/LNB 내비게이션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구조 확정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저자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(유일한 협업 구조설계 산출물)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DK 세부유스케이스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버튼·화면 단위 행위 분해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기획자 + 개발자 협업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주도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(화면 프로토타입을 입력으로 사용)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DL 인터페이스명세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DM 시퀀스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계약 확정 /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호출순서·트랜잭션 경계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리뷰어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(DK 요구사항 반영 확인)</a:t>
                      </a:r>
                    </a:p>
                  </a:txBody>
                  <a:tcPr marL="76200" marR="76200" marT="381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1" i="0">
                          <a:solidFill>
                            <a:srgbClr val="142B45"/>
                          </a:solidFill>
                          <a:latin typeface="Malgun Gothic"/>
                        </a:rPr>
                        <a:t>DN 화면레이아웃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API 응답을 화면에 매핑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(§0 메타블록으로 식별정보 흡수)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시니어개발자+AI 작성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→ 기획자·현업 검토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공동 확인/보완</a:t>
                      </a:r>
                    </a:p>
                    <a:p>
                      <a:pPr algn="l">
                        <a:lnSpc>
                          <a:spcPct val="102000"/>
                        </a:lnSpc>
                      </a:pPr>
                      <a:r>
                        <a:rPr sz="1080" b="0" i="0">
                          <a:solidFill>
                            <a:srgbClr val="3A424A"/>
                          </a:solidFill>
                          <a:latin typeface="Malgun Gothic"/>
                        </a:rPr>
                        <a:t>(전환·권한이 기획의도와 일치하는지)</a:t>
                      </a:r>
                    </a:p>
                  </a:txBody>
                  <a:tcPr marL="76200" marR="76200" marT="38100" marB="38100" anchor="ctr"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5760" y="4709160"/>
            <a:ext cx="11475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300" b="1" i="0">
                <a:solidFill>
                  <a:srgbClr val="D97C2B"/>
                </a:solidFill>
                <a:latin typeface="Malgun Gothic"/>
              </a:rPr>
              <a:t>기획자 실무 동선은 아래 세 지점에 집중됩니다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02676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DD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공동저자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90712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DK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주도 작성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0" y="0"/>
            <a:ext cx="0" cy="0"/>
          </a:xfrm>
          <a:prstGeom prst="line">
            <a:avLst/>
          </a:prstGeom>
          <a:ln w="28575">
            <a:solidFill>
              <a:srgbClr val="4A5663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7787487" y="5074920"/>
            <a:ext cx="2377440" cy="777240"/>
          </a:xfrm>
          <a:prstGeom prst="roundRect">
            <a:avLst>
              <a:gd name="adj" fmla="val 5000"/>
            </a:avLst>
          </a:prstGeom>
          <a:solidFill>
            <a:srgbClr val="2E8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50800" rIns="50800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DN</a:t>
            </a:r>
          </a:p>
          <a:p>
            <a:pPr algn="ctr"/>
            <a:r>
              <a:rPr sz="1400" b="1" i="0">
                <a:solidFill>
                  <a:srgbClr val="FFFFFF"/>
                </a:solidFill>
                <a:latin typeface="Malgun Gothic"/>
              </a:rPr>
              <a:t>공동 확인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5989320"/>
            <a:ext cx="114757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15000"/>
              </a:lnSpc>
            </a:pPr>
            <a:r>
              <a:rPr sz="1050" b="0" i="1">
                <a:solidFill>
                  <a:srgbClr val="4A5663"/>
                </a:solidFill>
                <a:latin typeface="Malgun Gothic"/>
              </a:rPr>
              <a:t>(DC·DL·DM은 리뷰 중심 — 결과물이 DK 요구사항과 맞는지 확인)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>
                <a:solidFill>
                  <a:srgbClr val="FFFFFF"/>
                </a:solidFill>
                <a:latin typeface="Malgun Gothic"/>
              </a:rPr>
              <a:t>DN 화면레이아웃 샘플 — 장바구니(CartPage)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457200" y="1097280"/>
            <a:ext cx="5120640" cy="1736598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457200" y="109728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56692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71323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85953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51560" y="109728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메타블록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" y="1481328"/>
            <a:ext cx="4791456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항목          | 내용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──────────────┼───────────────────────────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화면 ID       | SCR-M-001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앱            | mobile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접근 권한     | 로그인 회원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관련 세부UC   | UC-1, UC-2, UC-23</a:t>
            </a:r>
          </a:p>
          <a:p>
            <a:pPr algn="l">
              <a:lnSpc>
                <a:spcPct val="122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호출 API      | API-001~005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" y="3064494"/>
            <a:ext cx="5120640" cy="9601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48056" y="3064494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557784" y="3178794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704088" y="3178794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850392" y="3178794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42416" y="3064494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전환 · 유효성 검증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" y="3448542"/>
            <a:ext cx="4791456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[선택상품 주문하기] 클릭 → SCR-M-002 (주문서)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쿠폰/옵션변경 클릭 → 레이어 팝업 (화면 전환 아님)</a:t>
            </a:r>
          </a:p>
          <a:p>
            <a:pPr algn="l">
              <a:lnSpc>
                <a:spcPct val="130000"/>
              </a:lnSpc>
            </a:pPr>
            <a:r>
              <a:rPr sz="930" b="0" i="0">
                <a:solidFill>
                  <a:srgbClr val="2A3038"/>
                </a:solidFill>
                <a:latin typeface="Consolas"/>
              </a:rPr>
              <a:t>유효성 검증: GWT §1 장바구니 Bolt · 에러코드는 DL 참조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75488" y="4354830"/>
            <a:ext cx="5120640" cy="189738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475488" y="435483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585216" y="446913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731520" y="446913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Oval 23"/>
          <p:cNvSpPr/>
          <p:nvPr/>
        </p:nvSpPr>
        <p:spPr>
          <a:xfrm>
            <a:off x="877824" y="446913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1069848" y="435483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화면 구성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738878"/>
            <a:ext cx="4791456" cy="12788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영역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데이터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소스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(API)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표시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내용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───────────────┼─────────────────────────┼──────────────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Header         | —            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장바구니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타이틀+수량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카드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cart→vendors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[].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상품명·옵션·가격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·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               |   items[]        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수량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(+/-)·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삭제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혜택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안내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cart→summary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쿠폰수·포인트잔액</a:t>
            </a:r>
            <a:endParaRPr sz="860" b="0" i="0" dirty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2000"/>
              </a:lnSpc>
            </a:pPr>
            <a:r>
              <a:rPr sz="860" b="0" i="0" dirty="0" err="1">
                <a:solidFill>
                  <a:srgbClr val="2A3038"/>
                </a:solidFill>
                <a:latin typeface="Consolas"/>
              </a:rPr>
              <a:t>금액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요약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| GET /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cart→summary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      |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상품금액·할인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·</a:t>
            </a:r>
          </a:p>
          <a:p>
            <a:pPr algn="l">
              <a:lnSpc>
                <a:spcPct val="122000"/>
              </a:lnSpc>
            </a:pPr>
            <a:r>
              <a:rPr sz="860" b="0" i="0" dirty="0">
                <a:solidFill>
                  <a:srgbClr val="2A3038"/>
                </a:solidFill>
                <a:latin typeface="Consolas"/>
              </a:rPr>
              <a:t>CTA            | —                       | "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선택상품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 </a:t>
            </a:r>
            <a:r>
              <a:rPr sz="860" b="0" i="0" dirty="0" err="1">
                <a:solidFill>
                  <a:srgbClr val="2A3038"/>
                </a:solidFill>
                <a:latin typeface="Consolas"/>
              </a:rPr>
              <a:t>주문하기</a:t>
            </a:r>
            <a:r>
              <a:rPr sz="860" b="0" i="0" dirty="0">
                <a:solidFill>
                  <a:srgbClr val="2A3038"/>
                </a:solidFill>
                <a:latin typeface="Consolas"/>
              </a:rPr>
              <a:t>"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760720" y="1097280"/>
            <a:ext cx="5989320" cy="516636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760720" y="109728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Oval 28"/>
          <p:cNvSpPr/>
          <p:nvPr/>
        </p:nvSpPr>
        <p:spPr>
          <a:xfrm>
            <a:off x="5870448" y="121158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Oval 29"/>
          <p:cNvSpPr/>
          <p:nvPr/>
        </p:nvSpPr>
        <p:spPr>
          <a:xfrm>
            <a:off x="6016752" y="121158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Oval 30"/>
          <p:cNvSpPr/>
          <p:nvPr/>
        </p:nvSpPr>
        <p:spPr>
          <a:xfrm>
            <a:off x="6163056" y="121158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355080" y="1097280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DN-화면레이아웃(Order-Payment).md · §1 와이어프레임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25312" y="1481328"/>
            <a:ext cx="5660136" cy="4709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┌───────────────────────────────┐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장바구니  3              🔍 🛒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■ 나이키코리아    배송비 무료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┌──┐ 나이키 페가수스 41  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│img│ 블랙/265      [옵션변경]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└──┘ 179,000원→152,000원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      [-] 1 [+]        [삭제]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💡 사용 가능 쿠폰 2장 [&gt;]     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├───────────────────────────────┤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┌ 결제 예상 금액 ────────────┐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금액      469,000원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상품 할인      -48,000원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장바구니 할인   -3,000원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배송비              무료 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│──────────────────────────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│ 총 결제예상금액 418,000원  │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└────────────────────────────┘ 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├═══════════════════════════════┤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│ [ 선택상품 주문하기·418,000원 ]│</a:t>
            </a:r>
          </a:p>
          <a:p>
            <a:pPr algn="l">
              <a:lnSpc>
                <a:spcPct val="114000"/>
              </a:lnSpc>
            </a:pPr>
            <a:r>
              <a:rPr sz="1050" b="0" i="0">
                <a:solidFill>
                  <a:srgbClr val="2A3038"/>
                </a:solidFill>
                <a:latin typeface="Consolas"/>
              </a:rPr>
              <a:t>└───────────────────────────────┘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109728"/>
            <a:ext cx="105156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50" b="1" i="0">
                <a:solidFill>
                  <a:srgbClr val="D97C2B"/>
                </a:solidFill>
                <a:latin typeface="Malgun Gothic"/>
              </a:rPr>
              <a:t>4장 · 샘플 캡처본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365760"/>
            <a:ext cx="11155680" cy="502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2300" b="1" i="0" dirty="0">
                <a:solidFill>
                  <a:srgbClr val="FFFFFF"/>
                </a:solidFill>
                <a:latin typeface="Malgun Gothic"/>
              </a:rPr>
              <a:t>C7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디자인시스템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컨벤션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구조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× mobile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장바구니</a:t>
            </a:r>
            <a:r>
              <a:rPr sz="2300" b="1" i="0" dirty="0">
                <a:solidFill>
                  <a:srgbClr val="FFFFFF"/>
                </a:solidFill>
                <a:latin typeface="Malgun Gothic"/>
              </a:rPr>
              <a:t> </a:t>
            </a:r>
            <a:r>
              <a:rPr sz="2300" b="1" i="0" dirty="0" err="1">
                <a:solidFill>
                  <a:srgbClr val="FFFFFF"/>
                </a:solidFill>
                <a:latin typeface="Malgun Gothic"/>
              </a:rPr>
              <a:t>화면</a:t>
            </a:r>
            <a:endParaRPr sz="2300" b="1" i="0" dirty="0">
              <a:solidFill>
                <a:srgbClr val="FFFFFF"/>
              </a:solidFill>
              <a:latin typeface="Malgun Gothi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914400"/>
            <a:ext cx="12191695" cy="38100"/>
          </a:xfrm>
          <a:prstGeom prst="rect">
            <a:avLst/>
          </a:prstGeom>
          <a:solidFill>
            <a:srgbClr val="D97C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-68580" y="845820"/>
            <a:ext cx="1129284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 i="1" dirty="0">
                <a:solidFill>
                  <a:srgbClr val="4A5663"/>
                </a:solidFill>
                <a:latin typeface="Malgun Gothic"/>
              </a:rPr>
              <a:t>C7-디자인시스템/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mobile.md의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문서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구조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(★=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장바구니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화면에서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실제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사용되는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항목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)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와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CartPage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실제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화면을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대조한</a:t>
            </a:r>
            <a:r>
              <a:rPr sz="1200" b="0" i="1" dirty="0">
                <a:solidFill>
                  <a:srgbClr val="4A5663"/>
                </a:solidFill>
                <a:latin typeface="Malgun Gothic"/>
              </a:rPr>
              <a:t> </a:t>
            </a:r>
            <a:r>
              <a:rPr sz="1200" b="0" i="1" dirty="0" err="1">
                <a:solidFill>
                  <a:srgbClr val="4A5663"/>
                </a:solidFill>
                <a:latin typeface="Malgun Gothic"/>
              </a:rPr>
              <a:t>예시</a:t>
            </a:r>
            <a:endParaRPr sz="1200" b="0" i="1" dirty="0">
              <a:solidFill>
                <a:srgbClr val="4A5663"/>
              </a:solidFill>
              <a:latin typeface="Malgun Gothic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417320"/>
            <a:ext cx="512064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457200" y="1417320"/>
            <a:ext cx="512064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56692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1323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5953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38912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C7-디자인시스템/mobile.md · 문서 구조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" y="1801368"/>
            <a:ext cx="4791456" cy="43891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1. Foundation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Color · Typography · Spacing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Border &amp; Radius ★ · Elevation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2. Component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Button ★ · Badge ★ · Input · Card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Section (폼 섹션 카드)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Toast · LayerPopup ★ · Skeleton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3. Layout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L-MAIN · L-DETAIL · L-FORM ★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(장바구니 = L-FORM: BackHeader+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 Content+StickyBottom CTA)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4. Template → Page 매핑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T-HOME · T-CART ★ · T-ORDER · T-MY …</a:t>
            </a: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   (T-CART → /cart, Layout=L-FORM)</a:t>
            </a:r>
          </a:p>
          <a:p>
            <a:pPr algn="l">
              <a:lnSpc>
                <a:spcPct val="128000"/>
              </a:lnSpc>
            </a:pPr>
            <a:endParaRPr sz="960" b="0" i="0">
              <a:solidFill>
                <a:srgbClr val="2A3038"/>
              </a:solidFill>
              <a:latin typeface="Consolas"/>
            </a:endParaRPr>
          </a:p>
          <a:p>
            <a:pPr algn="l">
              <a:lnSpc>
                <a:spcPct val="128000"/>
              </a:lnSpc>
            </a:pPr>
            <a:r>
              <a:rPr sz="960" b="0" i="0">
                <a:solidFill>
                  <a:srgbClr val="2A3038"/>
                </a:solidFill>
                <a:latin typeface="Consolas"/>
              </a:rPr>
              <a:t>★ = 장바구니(CartPage)에서 실제 사용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0" y="1417320"/>
            <a:ext cx="5989320" cy="4846320"/>
          </a:xfrm>
          <a:prstGeom prst="rect">
            <a:avLst/>
          </a:prstGeom>
          <a:solidFill>
            <a:srgbClr val="FBFBFA"/>
          </a:solidFill>
          <a:ln w="9525">
            <a:solidFill>
              <a:srgbClr val="C7C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760720" y="1417320"/>
            <a:ext cx="5989320" cy="310896"/>
          </a:xfrm>
          <a:prstGeom prst="rect">
            <a:avLst/>
          </a:prstGeom>
          <a:solidFill>
            <a:srgbClr val="2B2F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5870448" y="1531620"/>
            <a:ext cx="82296" cy="82296"/>
          </a:xfrm>
          <a:prstGeom prst="ellipse">
            <a:avLst/>
          </a:prstGeom>
          <a:solidFill>
            <a:srgbClr val="E05A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Oval 16"/>
          <p:cNvSpPr/>
          <p:nvPr/>
        </p:nvSpPr>
        <p:spPr>
          <a:xfrm>
            <a:off x="6016752" y="1531620"/>
            <a:ext cx="82296" cy="82296"/>
          </a:xfrm>
          <a:prstGeom prst="ellipse">
            <a:avLst/>
          </a:prstGeom>
          <a:solidFill>
            <a:srgbClr val="E0B34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6163056" y="1531620"/>
            <a:ext cx="82296" cy="82296"/>
          </a:xfrm>
          <a:prstGeom prst="ellipse">
            <a:avLst/>
          </a:prstGeom>
          <a:solidFill>
            <a:srgbClr val="4EB3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5080" y="1417320"/>
            <a:ext cx="5257800" cy="31089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 i="0">
                <a:solidFill>
                  <a:srgbClr val="C7CED5"/>
                </a:solidFill>
                <a:latin typeface="Consolas"/>
              </a:rPr>
              <a:t>DN-화면레이아웃 §1 · 실제 렌더링 대응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55680" y="6547104"/>
            <a:ext cx="54864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15000"/>
              </a:lnSpc>
            </a:pPr>
            <a:r>
              <a:rPr sz="950" b="0" i="0">
                <a:solidFill>
                  <a:srgbClr val="9AA4AD"/>
                </a:solidFill>
                <a:latin typeface="Malgun Gothic"/>
              </a:rPr>
              <a:t>7</a:t>
            </a:r>
          </a:p>
        </p:txBody>
      </p:sp>
      <p:pic>
        <p:nvPicPr>
          <p:cNvPr id="23" name="그림 22">
            <a:extLst>
              <a:ext uri="{FF2B5EF4-FFF2-40B4-BE49-F238E27FC236}">
                <a16:creationId xmlns:a16="http://schemas.microsoft.com/office/drawing/2014/main" id="{444E5889-2312-6087-7418-409BF1D54A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7266" y="1835072"/>
            <a:ext cx="1537367" cy="4321710"/>
          </a:xfrm>
          <a:prstGeom prst="rect">
            <a:avLst/>
          </a:prstGeom>
        </p:spPr>
      </p:pic>
      <p:pic>
        <p:nvPicPr>
          <p:cNvPr id="24" name="그림 23">
            <a:extLst>
              <a:ext uri="{FF2B5EF4-FFF2-40B4-BE49-F238E27FC236}">
                <a16:creationId xmlns:a16="http://schemas.microsoft.com/office/drawing/2014/main" id="{C4A3F29E-E67E-AAE4-DBEB-2C47D5D9D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83980" y="1801368"/>
            <a:ext cx="1549357" cy="43554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1058</Words>
  <Application>Microsoft Macintosh PowerPoint</Application>
  <PresentationFormat>와이드스크린</PresentationFormat>
  <Paragraphs>192</Paragraphs>
  <Slides>7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2" baseType="lpstr">
      <vt:lpstr>Malgun Gothic</vt:lpstr>
      <vt:lpstr>Arial</vt:lpstr>
      <vt:lpstr>Calibri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최인철</cp:lastModifiedBy>
  <cp:revision>6</cp:revision>
  <dcterms:created xsi:type="dcterms:W3CDTF">2013-01-27T09:14:16Z</dcterms:created>
  <dcterms:modified xsi:type="dcterms:W3CDTF">2026-08-24T05:03:07Z</dcterms:modified>
  <cp:category/>
</cp:coreProperties>
</file>