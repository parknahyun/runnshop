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맑은 고딕"/>
              </a:rPr>
              <a:t>1.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F3B57"/>
                </a:solidFill>
                <a:latin typeface="맑은 고딕"/>
              </a:rPr>
              <a:t>왜 기존 방식이 안 되는가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455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788152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문제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영향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3B57"/>
                          </a:solidFill>
                          <a:latin typeface="맑은 고딕"/>
                        </a:rPr>
                        <a:t>요구사항 변경 시 산출물 유지비용 폭증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55555"/>
                          </a:solidFill>
                          <a:latin typeface="맑은 고딕"/>
                        </a:rPr>
                        <a:t>문서 재작업에 개발 시간의 30~40% 소모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3B57"/>
                          </a:solidFill>
                          <a:latin typeface="맑은 고딕"/>
                        </a:rPr>
                        <a:t>핵심 인력 의존도 높음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55555"/>
                          </a:solidFill>
                          <a:latin typeface="맑은 고딕"/>
                        </a:rPr>
                        <a:t>1명 이탈 시 해당 도메인 전체 지연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3B57"/>
                          </a:solidFill>
                          <a:latin typeface="맑은 고딕"/>
                        </a:rPr>
                        <a:t>AI 협업 구조 부재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55555"/>
                          </a:solidFill>
                          <a:latin typeface="맑은 고딕"/>
                        </a:rPr>
                        <a:t>AI 도구를 도입해도 "사람이 다 쓰는" 구조 — 생산성 개선 제한적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3B57"/>
                          </a:solidFill>
                          <a:latin typeface="맑은 고딕"/>
                        </a:rPr>
                        <a:t>프로젝트 종료 후 지식 소멸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55555"/>
                          </a:solidFill>
                          <a:latin typeface="맑은 고딕"/>
                        </a:rPr>
                        <a:t>다음 프로젝트에서 처음부터 반복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206240"/>
            <a:ext cx="11274552" cy="155448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3200" rIns="20320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B4F78"/>
                </a:solidFill>
                <a:latin typeface="맑은 고딕"/>
              </a:rPr>
              <a:t>핵심: AI를 "도구"로만 쓰면 효과가 제한적.</a:t>
            </a:r>
          </a:p>
          <a:p>
            <a:r>
              <a:rPr sz="1600" b="1" i="0">
                <a:solidFill>
                  <a:srgbClr val="1B4F78"/>
                </a:solidFill>
                <a:latin typeface="맑은 고딕"/>
              </a:rPr>
              <a:t>AI가 조직의 자산을 이해하고 산출물을 직접 생성하는 구조가 필요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맑은 고딕"/>
              </a:rPr>
              <a:t>2. 해결 방향 &amp; 핵심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F3B57"/>
                </a:solidFill>
                <a:latin typeface="맑은 고딕"/>
              </a:rPr>
              <a:t>AI가 자산을 활용해 산출물을 만들고, 사람은 검토·의사결정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B57"/>
                </a:solidFill>
                <a:latin typeface="맑은 고딕"/>
              </a:rPr>
              <a:t>해결 방향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36192"/>
            <a:ext cx="5486400" cy="77724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250" b="1" i="0">
                <a:solidFill>
                  <a:srgbClr val="1B4F78"/>
                </a:solidFill>
                <a:latin typeface="맑은 고딕"/>
              </a:rPr>
              <a:t>한 줄 요약: AI가 자산을 활용해 산출물 초안 생성 → 사람은 검토·확정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42316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34640"/>
              </a:tblGrid>
              <a:tr h="52578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기존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AI 활용 방법론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B57"/>
                          </a:solidFill>
                          <a:latin typeface="맑은 고딕"/>
                        </a:rPr>
                        <a:t>사람이 문서 작성 → AI가 보조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555555"/>
                          </a:solidFill>
                          <a:latin typeface="맑은 고딕"/>
                        </a:rPr>
                        <a:t>AI가 초안 생성 → 사람이 검토·확정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B57"/>
                          </a:solidFill>
                          <a:latin typeface="맑은 고딕"/>
                        </a:rPr>
                        <a:t>프로젝트 끝나면 지식 소멸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555555"/>
                          </a:solidFill>
                          <a:latin typeface="맑은 고딕"/>
                        </a:rPr>
                        <a:t>산출물 → 자산으로 축적 → 다음 AI 입력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B57"/>
                          </a:solidFill>
                          <a:latin typeface="맑은 고딕"/>
                        </a:rPr>
                        <a:t>인력 교체 시 다시 처음부터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555555"/>
                          </a:solidFill>
                          <a:latin typeface="맑은 고딕"/>
                        </a:rPr>
                        <a:t>자산이 남아 신규 인력도 즉시 생산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2200" y="1234440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B57"/>
                </a:solidFill>
                <a:latin typeface="맑은 고딕"/>
              </a:rPr>
              <a:t>핵심 구조 — 자산 선순환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2606040" cy="914400"/>
          </a:xfrm>
          <a:prstGeom prst="roundRect">
            <a:avLst/>
          </a:prstGeom>
          <a:solidFill>
            <a:srgbClr val="6EA8D8"/>
          </a:solidFill>
          <a:ln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① 축적된 자산
(정책서·설계서·코드)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34272" y="1554480"/>
            <a:ext cx="2606040" cy="914400"/>
          </a:xfrm>
          <a:prstGeom prst="roundRect">
            <a:avLst/>
          </a:prstGeom>
          <a:solidFill>
            <a:srgbClr val="5CA877"/>
          </a:solidFill>
          <a:ln>
            <a:solidFill>
              <a:srgbClr val="5CA8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② AI가 자산 활용
→ 산출물 초안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724912"/>
            <a:ext cx="2606040" cy="914400"/>
          </a:xfrm>
          <a:prstGeom prst="roundRect">
            <a:avLst/>
          </a:prstGeom>
          <a:solidFill>
            <a:srgbClr val="B05C8A"/>
          </a:solidFill>
          <a:ln>
            <a:solidFill>
              <a:srgbClr val="B0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④ 재사용 가치 있으면
→ 자산으로 등록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2724912"/>
            <a:ext cx="2606040" cy="914400"/>
          </a:xfrm>
          <a:prstGeom prst="roundRect">
            <a:avLst/>
          </a:prstGeom>
          <a:solidFill>
            <a:srgbClr val="C9A03C"/>
          </a:solidFill>
          <a:ln>
            <a:solidFill>
              <a:srgbClr val="C9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③ 사람이 검토·확정
→ 공식 산출물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0" y="2011680.0"/>
            <a:ext cx="256032" cy="0.0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37292.0" y="2468880"/>
            <a:ext cx="0.0" cy="256032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778240" y="3182112.0"/>
            <a:ext cx="256032" cy="0.0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475220.0" y="2468880"/>
            <a:ext cx="0.0" cy="256032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72200" y="3749040"/>
            <a:ext cx="5559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맑은 고딕"/>
              </a:rPr>
              <a:t>반복될수록 자산 증가 → AI 품질·생산성 향상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11274552" cy="141732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27000" rIns="177800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1B4F78"/>
                </a:solidFill>
                <a:latin typeface="맑은 고딕"/>
              </a:rPr>
              <a:t>7개 공정: </a:t>
            </a:r>
            <a:r>
              <a:rPr sz="1250" b="0" i="0">
                <a:solidFill>
                  <a:srgbClr val="555555"/>
                </a:solidFill>
                <a:latin typeface="맑은 고딕"/>
              </a:rPr>
              <a:t>Proposal → Spec → Design → Tasks → Code → 통합테스트 → 안정화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맑은 고딕"/>
              </a:rPr>
              <a:t>Proposal~Tasks는 산출물 중심(AI가 문서 생성), Code~안정화는 활동 중심(AI가 실행·검증 참여)</a:t>
            </a:r>
          </a:p>
          <a:p>
            <a:r>
              <a:rPr sz="1250" b="1" i="0">
                <a:solidFill>
                  <a:srgbClr val="1B4F78"/>
                </a:solidFill>
                <a:latin typeface="맑은 고딕"/>
              </a:rPr>
              <a:t>40종 표준 산출물: </a:t>
            </a:r>
            <a:r>
              <a:rPr sz="1250" b="0" i="0">
                <a:solidFill>
                  <a:srgbClr val="555555"/>
                </a:solidFill>
                <a:latin typeface="맑은 고딕"/>
              </a:rPr>
              <a:t>공정마다 무엇을 만들지 정의 → AI가 이해하고 생성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맑은 고딕"/>
              </a:rPr>
              <a:t>3. 핵심 —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F3B57"/>
                </a:solidFill>
                <a:latin typeface="맑은 고딕"/>
              </a:rPr>
              <a:t>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3108960"/>
                <a:gridCol w="295351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기존 방식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AI 활용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개선 효과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3B57"/>
                          </a:solidFill>
                          <a:latin typeface="맑은 고딕"/>
                        </a:rPr>
                        <a:t>산출물 작성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사람이 직접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AI 초안 + 사람 검토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50~70% 시간 단축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3B57"/>
                          </a:solidFill>
                          <a:latin typeface="맑은 고딕"/>
                        </a:rPr>
                        <a:t>인력 의존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핵심인력 부재 → 전체 지연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자산 기반 → 누구든 AI와 작업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인력 리스크 해소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3B57"/>
                          </a:solidFill>
                          <a:latin typeface="맑은 고딕"/>
                        </a:rPr>
                        <a:t>품질 검증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수동 리뷰만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AI 자동검증 + 사람 판단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반복 검증 비용 절감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3B57"/>
                          </a:solidFill>
                          <a:latin typeface="맑은 고딕"/>
                        </a:rPr>
                        <a:t>지식 축적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종료 후 소멸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자산으로 영구 축적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반복 시 점진 향상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3B57"/>
                          </a:solidFill>
                          <a:latin typeface="맑은 고딕"/>
                        </a:rPr>
                        <a:t>비용(목표)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기준 대비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AI 협업 적용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55555"/>
                          </a:solidFill>
                          <a:latin typeface="맑은 고딕"/>
                        </a:rPr>
                        <a:t>30% 절감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343400"/>
            <a:ext cx="2697480" cy="155448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2600" b="1" i="0">
                <a:solidFill>
                  <a:srgbClr val="1B4F78"/>
                </a:solidFill>
                <a:latin typeface="맑은 고딕"/>
              </a:rPr>
              <a:t>50~70%</a:t>
            </a:r>
          </a:p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산출물 작성 시간 단축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343400"/>
            <a:ext cx="2697480" cy="1554480"/>
          </a:xfrm>
          <a:prstGeom prst="roundRect">
            <a:avLst/>
          </a:prstGeom>
          <a:solidFill>
            <a:srgbClr val="EAF5EC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2600" b="1" i="0">
                <a:solidFill>
                  <a:srgbClr val="2E7D4F"/>
                </a:solidFill>
                <a:latin typeface="맑은 고딕"/>
              </a:rPr>
              <a:t>30%</a:t>
            </a:r>
          </a:p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목표 비용 절감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343400"/>
            <a:ext cx="2697480" cy="155448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2600" b="1" i="0">
                <a:solidFill>
                  <a:srgbClr val="1B4F78"/>
                </a:solidFill>
                <a:latin typeface="맑은 고딕"/>
              </a:rPr>
              <a:t>0</a:t>
            </a:r>
          </a:p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인력 교체 시 지식 손실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4343400"/>
            <a:ext cx="2697480" cy="155448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2600" b="1" i="0">
                <a:solidFill>
                  <a:srgbClr val="1B4F78"/>
                </a:solidFill>
                <a:latin typeface="맑은 고딕"/>
              </a:rPr>
              <a:t>↑</a:t>
            </a:r>
          </a:p>
          <a:p>
            <a:pPr algn="ctr"/>
            <a:r>
              <a:rPr sz="1000" b="0" i="0">
                <a:solidFill>
                  <a:srgbClr val="555555"/>
                </a:solidFill>
                <a:latin typeface="맑은 고딕"/>
              </a:rPr>
              <a:t>프로젝트 반복 시 생산성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맑은 고딕"/>
              </a:rPr>
              <a:t>4. 파일럿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F3B57"/>
                </a:solidFill>
                <a:latin typeface="맑은 고딕"/>
              </a:rPr>
              <a:t>적용 계획과 성공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B57"/>
                </a:solidFill>
                <a:latin typeface="맑은 고딕"/>
              </a:rPr>
              <a:t>적용 프로젝트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44752"/>
          <a:ext cx="5486399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749039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80" b="1" i="0">
                          <a:solidFill>
                            <a:srgbClr val="1F3B57"/>
                          </a:solidFill>
                          <a:latin typeface="맑은 고딕"/>
                        </a:rPr>
                        <a:t>적용 프로젝트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555555"/>
                          </a:solidFill>
                          <a:latin typeface="맑은 고딕"/>
                        </a:rPr>
                        <a:t>runNshop (B2C 커머스, 12개 도메인)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80" b="1" i="0">
                          <a:solidFill>
                            <a:srgbClr val="1F3B57"/>
                          </a:solidFill>
                          <a:latin typeface="맑은 고딕"/>
                        </a:rPr>
                        <a:t>총 기간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555555"/>
                          </a:solidFill>
                          <a:latin typeface="맑은 고딕"/>
                        </a:rPr>
                        <a:t>26주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80" b="1" i="0">
                          <a:solidFill>
                            <a:srgbClr val="1F3B57"/>
                          </a:solidFill>
                          <a:latin typeface="맑은 고딕"/>
                        </a:rPr>
                        <a:t>인력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555555"/>
                          </a:solidFill>
                          <a:latin typeface="맑은 고딕"/>
                        </a:rPr>
                        <a:t>4개 파트, 16명(개발 14명)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80" b="1" i="0">
                          <a:solidFill>
                            <a:srgbClr val="1F3B57"/>
                          </a:solidFill>
                          <a:latin typeface="맑은 고딕"/>
                        </a:rPr>
                        <a:t>작업 단위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0" i="0">
                          <a:solidFill>
                            <a:srgbClr val="555555"/>
                          </a:solidFill>
                          <a:latin typeface="맑은 고딕"/>
                        </a:rPr>
                        <a:t>72개 Bolt(각 2일)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188720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B57"/>
                </a:solidFill>
                <a:latin typeface="맑은 고딕"/>
              </a:rPr>
              <a:t>단계별 기간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444752"/>
          <a:ext cx="5559552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097280"/>
                <a:gridCol w="1810512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60" b="1" i="0">
                          <a:solidFill>
                            <a:srgbClr val="1F3B57"/>
                          </a:solidFill>
                          <a:latin typeface="맑은 고딕"/>
                        </a:rPr>
                        <a:t>Proposal~Design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5주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1회성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60" b="1" i="0">
                          <a:solidFill>
                            <a:srgbClr val="1F3B57"/>
                          </a:solidFill>
                          <a:latin typeface="맑은 고딕"/>
                        </a:rPr>
                        <a:t>Bolt 반복(핵심 구현)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10주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주당 8~10개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60" b="1" i="0">
                          <a:solidFill>
                            <a:srgbClr val="1F3B57"/>
                          </a:solidFill>
                          <a:latin typeface="맑은 고딕"/>
                        </a:rPr>
                        <a:t>버퍼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3주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리스크 대응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60" b="1" i="0">
                          <a:solidFill>
                            <a:srgbClr val="1F3B57"/>
                          </a:solidFill>
                          <a:latin typeface="맑은 고딕"/>
                        </a:rPr>
                        <a:t>통합테스트+안정화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8주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Go/No-Go 포함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246120"/>
            <a:ext cx="11274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B57"/>
                </a:solidFill>
                <a:latin typeface="맑은 고딕"/>
              </a:rPr>
              <a:t>프로젝트 성공 (오픈 판단)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20440"/>
            <a:ext cx="3657600" cy="685800"/>
          </a:xfrm>
          <a:prstGeom prst="roundRect">
            <a:avLst/>
          </a:prstGeom>
          <a:solidFill>
            <a:srgbClr val="EAF5EC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300" b="1" i="0">
                <a:solidFill>
                  <a:srgbClr val="2E7D4F"/>
                </a:solidFill>
                <a:latin typeface="맑은 고딕"/>
              </a:rPr>
              <a:t>Go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맑은 고딕"/>
              </a:rPr>
              <a:t>Critical 0 + Major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3520440"/>
            <a:ext cx="3657600" cy="685800"/>
          </a:xfrm>
          <a:prstGeom prst="roundRect">
            <a:avLst/>
          </a:prstGeom>
          <a:solidFill>
            <a:srgbClr val="FBF2E3"/>
          </a:solidFill>
          <a:ln w="12700">
            <a:solidFill>
              <a:srgbClr val="B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300" b="1" i="0">
                <a:solidFill>
                  <a:srgbClr val="B87A1E"/>
                </a:solidFill>
                <a:latin typeface="맑은 고딕"/>
              </a:rPr>
              <a:t>조건부 Go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맑은 고딕"/>
              </a:rPr>
              <a:t>Critical 0 + Major ≤3 (우회방안 有)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3520440"/>
            <a:ext cx="3657600" cy="685800"/>
          </a:xfrm>
          <a:prstGeom prst="roundRect">
            <a:avLst/>
          </a:prstGeom>
          <a:solidFill>
            <a:srgbClr val="FBE9E9"/>
          </a:solidFill>
          <a:ln w="12700">
            <a:solidFill>
              <a:srgbClr val="B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300" b="1" i="0">
                <a:solidFill>
                  <a:srgbClr val="B03030"/>
                </a:solidFill>
                <a:latin typeface="맑은 고딕"/>
              </a:rPr>
              <a:t>No-Go</a:t>
            </a:r>
          </a:p>
          <a:p>
            <a:pPr algn="ctr"/>
            <a:r>
              <a:rPr sz="900" b="0" i="0">
                <a:solidFill>
                  <a:srgbClr val="555555"/>
                </a:solidFill>
                <a:latin typeface="맑은 고딕"/>
              </a:rPr>
              <a:t>Critical ≥1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1274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B57"/>
                </a:solidFill>
                <a:latin typeface="맑은 고딕"/>
              </a:rPr>
              <a:t>방법론 성공 (확산 판단 — 5개 지표)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645152"/>
          <a:ext cx="1127455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605272"/>
                <a:gridCol w="3566160"/>
              </a:tblGrid>
              <a:tr h="29718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판단 기준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측정 방법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60" b="1" i="0">
                          <a:solidFill>
                            <a:srgbClr val="1F3B57"/>
                          </a:solidFill>
                          <a:latin typeface="맑은 고딕"/>
                        </a:rPr>
                        <a:t>생산성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동일 규모 기존 프로젝트 대비 비용 비교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30% 절감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60" b="1" i="0">
                          <a:solidFill>
                            <a:srgbClr val="1F3B57"/>
                          </a:solidFill>
                          <a:latin typeface="맑은 고딕"/>
                        </a:rPr>
                        <a:t>자산 재활용률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40종 산출물 중 자기완결성 검증 통과 비율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80% 이상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60" b="1" i="0">
                          <a:solidFill>
                            <a:srgbClr val="1F3B57"/>
                          </a:solidFill>
                          <a:latin typeface="맑은 고딕"/>
                        </a:rPr>
                        <a:t>인력 의존도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핵심 인력 교체 후에도 자산+AI로 작업 가능 여부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정성 확인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60" b="1" i="0">
                          <a:solidFill>
                            <a:srgbClr val="1F3B57"/>
                          </a:solidFill>
                          <a:latin typeface="맑은 고딕"/>
                        </a:rPr>
                        <a:t>산정 정확도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Bolt별 예측 공수 vs 실측 공수 오차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±30% 이내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60" b="1" i="0">
                          <a:solidFill>
                            <a:srgbClr val="1F3B57"/>
                          </a:solidFill>
                          <a:latin typeface="맑은 고딕"/>
                        </a:rPr>
                        <a:t>반복 시 개선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2번째 도메인 적용 시 1번째 대비 소요 감소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 i="0">
                          <a:solidFill>
                            <a:srgbClr val="555555"/>
                          </a:solidFill>
                          <a:latin typeface="맑은 고딕"/>
                        </a:rPr>
                        <a:t>20% 이상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맑은 고딕"/>
              </a:rPr>
              <a:t>두 기준 모두 충족하면 → 조직 확산으로 진행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맑은 고딕"/>
              </a:rPr>
              <a:t>5. 조직 확산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F3B57"/>
                </a:solidFill>
                <a:latin typeface="맑은 고딕"/>
              </a:rPr>
              <a:t>성공 후 로드맵 — 1·2단계 병행 진행 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49240" cy="182880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 rIns="152400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1B4F78"/>
                </a:solidFill>
                <a:latin typeface="맑은 고딕"/>
              </a:rPr>
              <a:t>1단계: 파일럿 실증  </a:t>
            </a:r>
            <a:r>
              <a:rPr sz="1100" b="1" i="0">
                <a:solidFill>
                  <a:srgbClr val="2E7D4F"/>
                </a:solidFill>
                <a:latin typeface="맑은 고딕"/>
              </a:rPr>
              <a:t>[진행 중]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  <a:latin typeface="맑은 고딕"/>
              </a:rPr>
              <a:t>• 주문·결제(거래) 모듈을 대상으로 실제 진행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  <a:latin typeface="맑은 고딕"/>
              </a:rPr>
              <a:t>• 진행하며 드러나는 gap을 방법론(지침서·표준양식·작성가이드)에 실시간 보완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280160"/>
            <a:ext cx="5349240" cy="182880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 rIns="152400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1B4F78"/>
                </a:solidFill>
                <a:latin typeface="맑은 고딕"/>
              </a:rPr>
              <a:t>2단계: 자산화 기반 마련  </a:t>
            </a:r>
            <a:r>
              <a:rPr sz="1100" b="1" i="0">
                <a:solidFill>
                  <a:srgbClr val="2E7D4F"/>
                </a:solidFill>
                <a:latin typeface="맑은 고딕"/>
              </a:rPr>
              <a:t>[진행 중]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  <a:latin typeface="맑은 고딕"/>
              </a:rPr>
              <a:t>• 전체 12개 도메인으로 확장 — 참고자료(도메인기능표) 정리 완료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  <a:latin typeface="맑은 고딕"/>
              </a:rPr>
              <a:t>• 40종 산출물 표준양식·작성가이드를 전체 도메인에 적용 가능하도록 정비</a:t>
            </a:r>
          </a:p>
        </p:txBody>
      </p:sp>
      <p:sp>
        <p:nvSpPr>
          <p:cNvPr id="7" name="Oval 6"/>
          <p:cNvSpPr/>
          <p:nvPr/>
        </p:nvSpPr>
        <p:spPr>
          <a:xfrm>
            <a:off x="5486400" y="1938528"/>
            <a:ext cx="640080" cy="512064"/>
          </a:xfrm>
          <a:prstGeom prst="ellipse">
            <a:avLst/>
          </a:prstGeom>
          <a:solidFill>
            <a:srgbClr val="1B4F78"/>
          </a:solidFill>
          <a:ln w="9525">
            <a:solidFill>
              <a:srgbClr val="1B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31820.0" y="3108960"/>
            <a:ext cx="2958084.0" cy="320040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089904" y="3108960"/>
            <a:ext cx="2967228.0" cy="320040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86000" y="3474720"/>
            <a:ext cx="7616952" cy="105156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 rIns="152400"/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B4F78"/>
                </a:solidFill>
                <a:latin typeface="맑은 고딕"/>
              </a:rPr>
              <a:t>3단계: 조직 확산  </a:t>
            </a:r>
            <a:r>
              <a:rPr sz="1050" b="1" i="0">
                <a:solidFill>
                  <a:srgbClr val="555555"/>
                </a:solidFill>
                <a:latin typeface="맑은 고딕"/>
              </a:rPr>
              <a:t>[1·2단계 완료 후 착수]</a:t>
            </a:r>
          </a:p>
          <a:p>
            <a:pPr algn="ctr"/>
            <a:r>
              <a:rPr sz="1050" b="0" i="0">
                <a:solidFill>
                  <a:srgbClr val="555555"/>
                </a:solidFill>
                <a:latin typeface="맑은 고딕"/>
              </a:rPr>
              <a:t>다음 프로젝트에 축적된 자산 + 검증된 방법론 적용 → 반복 시 생산성 점진 향상 실증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709160"/>
          <a:ext cx="1127455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4023360"/>
                <a:gridCol w="4142232"/>
              </a:tblGrid>
              <a:tr h="468629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</a:rPr>
                        <a:t>성공 지표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030" b="1" i="0">
                          <a:solidFill>
                            <a:srgbClr val="1F3B57"/>
                          </a:solidFill>
                          <a:latin typeface="맑은 고딕"/>
                        </a:rPr>
                        <a:t>파일럿(1단계)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 i="0">
                          <a:solidFill>
                            <a:srgbClr val="555555"/>
                          </a:solidFill>
                          <a:latin typeface="맑은 고딕"/>
                        </a:rPr>
                        <a:t>진행 중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 i="0">
                          <a:solidFill>
                            <a:srgbClr val="555555"/>
                          </a:solidFill>
                          <a:latin typeface="맑은 고딕"/>
                        </a:rPr>
                        <a:t>주문·결제 모듈 실제 진행 + 방법론 보완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 i="0">
                          <a:solidFill>
                            <a:srgbClr val="555555"/>
                          </a:solidFill>
                          <a:latin typeface="맑은 고딕"/>
                        </a:rPr>
                        <a:t>Critical 0건, Major ≤3건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030" b="1" i="0">
                          <a:solidFill>
                            <a:srgbClr val="1F3B57"/>
                          </a:solidFill>
                          <a:latin typeface="맑은 고딕"/>
                        </a:rPr>
                        <a:t>자산화(2단계)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 i="0">
                          <a:solidFill>
                            <a:srgbClr val="555555"/>
                          </a:solidFill>
                          <a:latin typeface="맑은 고딕"/>
                        </a:rPr>
                        <a:t>진행 중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 i="0">
                          <a:solidFill>
                            <a:srgbClr val="555555"/>
                          </a:solidFill>
                          <a:latin typeface="맑은 고딕"/>
                        </a:rPr>
                        <a:t>전체 12개 도메인 확장, 자산화 기반 마련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 i="0">
                          <a:solidFill>
                            <a:srgbClr val="555555"/>
                          </a:solidFill>
                          <a:latin typeface="맑은 고딕"/>
                        </a:rPr>
                        <a:t>40종 산출물 자기완결성 검증 통과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468632">
                <a:tc>
                  <a:txBody>
                    <a:bodyPr wrap="square"/>
                    <a:lstStyle/>
                    <a:p>
                      <a:pPr algn="l"/>
                      <a:r>
                        <a:rPr sz="1030" b="1" i="0">
                          <a:solidFill>
                            <a:srgbClr val="1F3B57"/>
                          </a:solidFill>
                          <a:latin typeface="맑은 고딕"/>
                        </a:rPr>
                        <a:t>확산(3단계)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 i="0">
                          <a:solidFill>
                            <a:srgbClr val="555555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 i="0">
                          <a:solidFill>
                            <a:srgbClr val="555555"/>
                          </a:solidFill>
                          <a:latin typeface="맑은 고딕"/>
                        </a:rPr>
                        <a:t>다음 프로젝트 적용 시 효율 측정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 i="0">
                          <a:solidFill>
                            <a:srgbClr val="555555"/>
                          </a:solidFill>
                          <a:latin typeface="맑은 고딕"/>
                        </a:rPr>
                        <a:t>동일 규모 대비 비용 30% 절감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맑은 고딕"/>
              </a:rPr>
              <a:t>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F3B57"/>
                </a:solidFill>
                <a:latin typeface="맑은 고딕"/>
              </a:rPr>
              <a:t>1분 엘리베이터 피치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74552" cy="338328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tIns="304800" rIns="304800"/>
          <a:lstStyle/>
          <a:p>
            <a:pPr algn="ctr">
              <a:lnSpc>
                <a:spcPct val="130000"/>
              </a:lnSpc>
              <a:spcAft>
                <a:spcPts val="1800"/>
              </a:spcAft>
            </a:pPr>
            <a:r>
              <a:rPr sz="1800" b="0" i="0">
                <a:solidFill>
                  <a:srgbClr val="1F3B57"/>
                </a:solidFill>
                <a:latin typeface="맑은 고딕"/>
              </a:rPr>
              <a:t>AI가 조직의 자산을 학습하고 산출물을 직접 만드는 구조를 정립하면, </a:t>
            </a:r>
            <a:r>
              <a:rPr sz="1800" b="1" i="0">
                <a:solidFill>
                  <a:srgbClr val="1B4F78"/>
                </a:solidFill>
                <a:latin typeface="맑은 고딕"/>
              </a:rPr>
              <a:t>인력 의존도를 낮추고</a:t>
            </a:r>
            <a:r>
              <a:rPr sz="1800" b="0" i="0">
                <a:solidFill>
                  <a:srgbClr val="1F3B57"/>
                </a:solidFill>
                <a:latin typeface="맑은 고딕"/>
              </a:rPr>
              <a:t>, </a:t>
            </a:r>
            <a:r>
              <a:rPr sz="1800" b="1" i="0">
                <a:solidFill>
                  <a:srgbClr val="1B4F78"/>
                </a:solidFill>
                <a:latin typeface="맑은 고딕"/>
              </a:rPr>
              <a:t>프로젝트 반복 시 점진적으로 생산성이 향상</a:t>
            </a:r>
            <a:r>
              <a:rPr sz="1800" b="0" i="0">
                <a:solidFill>
                  <a:srgbClr val="1F3B57"/>
                </a:solidFill>
                <a:latin typeface="맑은 고딕"/>
              </a:rPr>
              <a:t>되며, </a:t>
            </a:r>
            <a:r>
              <a:rPr sz="1800" b="1" i="0">
                <a:solidFill>
                  <a:srgbClr val="2E7D4F"/>
                </a:solidFill>
                <a:latin typeface="맑은 고딕"/>
              </a:rPr>
              <a:t>비용 30% 절감</a:t>
            </a:r>
            <a:r>
              <a:rPr sz="1800" b="0" i="0">
                <a:solidFill>
                  <a:srgbClr val="1F3B57"/>
                </a:solidFill>
                <a:latin typeface="맑은 고딕"/>
              </a:rPr>
              <a:t>을 현실적으로 달성할 수 있습니다.</a:t>
            </a:r>
          </a:p>
          <a:p>
            <a:pPr>
              <a:lnSpc>
                <a:spcPct val="130000"/>
              </a:lnSpc>
            </a:pPr>
            <a:r>
              <a:rPr sz="1600" b="0" i="0">
                <a:solidFill>
                  <a:srgbClr val="555555"/>
                </a:solidFill>
                <a:latin typeface="맑은 고딕"/>
              </a:rPr>
              <a:t>runNshop 프로젝트로 먼저 실증한 뒤, 검증된 방법론과 자산을 조직 전체로 확산합니다.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맑은 고딕"/>
              </a:rPr>
              <a:t>상세 규칙·RACI·산출물 40종 전체 목록은 원본(AI활용_개발공정_지침서_v2.2) 참조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