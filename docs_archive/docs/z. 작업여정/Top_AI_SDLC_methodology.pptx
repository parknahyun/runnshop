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1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4"/>
    <p:restoredTop sz="96143"/>
  </p:normalViewPr>
  <p:slideViewPr>
    <p:cSldViewPr snapToGrid="0" snapToObjects="1">
      <p:cViewPr varScale="1">
        <p:scale>
          <a:sx n="122" d="100"/>
          <a:sy n="122" d="100"/>
        </p:scale>
        <p:origin x="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1648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에이전트와 축적된 자산으로 개발 생산성을 높이는 방법론을 소개합니다. 가칭 AI²방법론.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유사 업무를 매번 백지에서 시작하고, 의사결정 데이터 부족과 기획-구현 괴리로 재작업이 반복됩니다. AI 에이전트와 축적 자산으로 프로토타입을 먼저 보여주면 프로젝트 기간을 절반 가까이 줄일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자산이 완성되면 신규 프로젝트는 Phase A~D로 진행됩니다. A·C는 AI 주도, B는 현업 주도, D는 팀 주도입니다. 관리 방법론에 AI-SDLC 공정과 AI 협업사항을 표기합니다.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요구사항 확정·현업 이해도·설계구현 갭·전체 일정에 대해, 전통 방식의 진행과 AI-SDLC의 진행, 그리고 효과를 항목별로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 목표는 12주 내 자산 완성입니다. 자산은 이미 작성됐지만 재사용 가능한 형태는 아닙니다. Phase 1~3으로 범용화하여 RFP 기준 2주 내 프로토타입을 만들 수 있는 수준까지 끌어올립니다.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813233" y="2090577"/>
            <a:ext cx="382182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135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AI-SDLC 방법론</a:t>
            </a:r>
            <a:endParaRPr lang="en-US" sz="45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33645" y="3078873"/>
            <a:ext cx="3401413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B6C7E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 에이전트와 </a:t>
            </a:r>
            <a:r>
              <a:rPr lang="en-US" sz="1575" dirty="0" err="1">
                <a:solidFill>
                  <a:srgbClr val="B6C7E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협업하여</a:t>
            </a:r>
            <a:r>
              <a:rPr lang="en-US" sz="1575" dirty="0">
                <a:solidFill>
                  <a:srgbClr val="B6C7E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575" dirty="0" err="1">
                <a:solidFill>
                  <a:srgbClr val="B6C7E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개발</a:t>
            </a:r>
            <a:r>
              <a:rPr lang="en-US" sz="1575" dirty="0">
                <a:solidFill>
                  <a:srgbClr val="B6C7E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생산성을 높이기 위한 방법론</a:t>
            </a:r>
            <a:endParaRPr lang="en-US" sz="15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13233" y="4174904"/>
            <a:ext cx="3640782" cy="352425"/>
          </a:xfrm>
          <a:prstGeom prst="roundRect">
            <a:avLst>
              <a:gd name="adj" fmla="val 16216"/>
            </a:avLst>
          </a:prstGeom>
          <a:solidFill>
            <a:srgbClr val="0074C0">
              <a:alpha val="16000"/>
            </a:srgbClr>
          </a:solidFill>
          <a:ln w="9525">
            <a:solidFill>
              <a:srgbClr val="6D88A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75158" y="4270154"/>
            <a:ext cx="197075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가칭 · AI²방법론 (에이아이스퀘어)</a:t>
            </a:r>
            <a:endParaRPr lang="en-US" sz="105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862001" y="4289204"/>
            <a:ext cx="9525" cy="123825"/>
          </a:xfrm>
          <a:prstGeom prst="rect">
            <a:avLst/>
          </a:prstGeom>
          <a:solidFill>
            <a:srgbClr val="4D6480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966776" y="4274917"/>
            <a:ext cx="145784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B6C7E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 + Asset Integration</a:t>
            </a:r>
            <a:endParaRPr lang="en-US" sz="9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71500" y="6267450"/>
            <a:ext cx="84504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7C93AE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2026. 07. 0</a:t>
            </a:r>
            <a:r>
              <a:rPr lang="en-US" altLang="ko-KR" sz="975" dirty="0">
                <a:solidFill>
                  <a:srgbClr val="7C93AE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6</a:t>
            </a:r>
            <a:endParaRPr lang="en-US" sz="9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91236" y="6267450"/>
            <a:ext cx="18281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7C93AE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3TOP 2본부 | AI-SDLC 방법론</a:t>
            </a:r>
            <a:endParaRPr lang="en-US" sz="9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124700" y="0"/>
            <a:ext cx="5067300" cy="6858000"/>
          </a:xfrm>
          <a:prstGeom prst="rect">
            <a:avLst/>
          </a:prstGeom>
          <a:solidFill>
            <a:srgbClr val="00389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039100" y="1809750"/>
            <a:ext cx="3238500" cy="3238500"/>
          </a:xfrm>
          <a:prstGeom prst="ellipse">
            <a:avLst/>
          </a:prstGeom>
          <a:ln w="1905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562975" y="2333625"/>
            <a:ext cx="2190750" cy="2190750"/>
          </a:xfrm>
          <a:prstGeom prst="ellipse">
            <a:avLst/>
          </a:prstGeom>
          <a:ln w="19050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998376" y="2870143"/>
            <a:ext cx="1359292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250" b="1" kern="0" spc="-450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</a:t>
            </a:r>
            <a:endParaRPr lang="en-US" sz="11250" dirty="0">
              <a:latin typeface="Paperlogy 4 Regular" pitchFamily="2" charset="-127"/>
              <a:ea typeface="Paperlogy 4 Regular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0389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183996" y="0"/>
            <a:ext cx="1330207" cy="51435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80975"/>
            <a:ext cx="93419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b="1" kern="0" spc="10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AI-SDLC 방법론</a:t>
            </a:r>
            <a:endParaRPr lang="en-US" sz="9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91394" y="190500"/>
            <a:ext cx="14942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&gt;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40818" y="180975"/>
            <a:ext cx="72643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85000"/>
                  </a:srgbClr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왜 만드는가?</a:t>
            </a:r>
            <a:endParaRPr lang="en-US" sz="9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341150" y="190500"/>
            <a:ext cx="4698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01 / 05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514350"/>
            <a:ext cx="12192000" cy="59055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0" y="1095375"/>
            <a:ext cx="12192000" cy="9525"/>
          </a:xfrm>
          <a:prstGeom prst="rect">
            <a:avLst/>
          </a:prstGeom>
          <a:solidFill>
            <a:srgbClr val="D0DCEF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661988"/>
            <a:ext cx="38100" cy="285750"/>
          </a:xfrm>
          <a:prstGeom prst="roundRect">
            <a:avLst>
              <a:gd name="adj" fmla="val 50000"/>
            </a:avLst>
          </a:prstGeom>
          <a:solidFill>
            <a:srgbClr val="00389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8650" y="671513"/>
            <a:ext cx="47310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kern="0" spc="-17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 와 협업하는 방법론으로 개발 생산성을 향상한다</a:t>
            </a:r>
            <a:endParaRPr lang="en-US" sz="17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1352550"/>
            <a:ext cx="5534025" cy="3933825"/>
          </a:xfrm>
          <a:prstGeom prst="roundRect">
            <a:avLst>
              <a:gd name="adj" fmla="val 1882"/>
            </a:avLst>
          </a:prstGeom>
          <a:ln w="9525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95325" y="1571625"/>
            <a:ext cx="648295" cy="219075"/>
          </a:xfrm>
          <a:prstGeom prst="roundRect">
            <a:avLst>
              <a:gd name="adj" fmla="val 17391"/>
            </a:avLst>
          </a:prstGeom>
          <a:solidFill>
            <a:srgbClr val="FFF0F0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00100" y="1609725"/>
            <a:ext cx="5149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C0000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현재 문제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6354" y="1962150"/>
            <a:ext cx="3823989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425" b="1" dirty="0" err="1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유사업무인데</a:t>
            </a:r>
            <a:r>
              <a:rPr lang="ko-KR" altLang="en-US" sz="1425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매번 처음부터 설계</a:t>
            </a:r>
            <a:r>
              <a:rPr lang="en-US" altLang="ko-KR" sz="1425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.</a:t>
            </a:r>
            <a:r>
              <a:rPr lang="ko-KR" altLang="en-US" sz="1425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구현</a:t>
            </a:r>
          </a:p>
        </p:txBody>
      </p:sp>
      <p:sp>
        <p:nvSpPr>
          <p:cNvPr id="16" name="Text 14"/>
          <p:cNvSpPr/>
          <p:nvPr/>
        </p:nvSpPr>
        <p:spPr>
          <a:xfrm>
            <a:off x="856354" y="2263080"/>
            <a:ext cx="383351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80808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→ 프로젝트당 24~40주 소요</a:t>
            </a:r>
            <a:endParaRPr lang="en-US" sz="1088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95325" y="2567880"/>
            <a:ext cx="5057775" cy="9525"/>
          </a:xfrm>
          <a:prstGeom prst="rect">
            <a:avLst/>
          </a:prstGeom>
          <a:solidFill>
            <a:srgbClr val="F0F2F2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6353" y="2720280"/>
            <a:ext cx="3485611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40000"/>
              </a:lnSpc>
            </a:pPr>
            <a:r>
              <a:rPr lang="en-US" sz="1425" b="1" dirty="0" err="1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이해관계자</a:t>
            </a:r>
            <a:r>
              <a:rPr lang="ko-KR" altLang="en-US" sz="1425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가</a:t>
            </a:r>
            <a:r>
              <a:rPr lang="en-US" sz="1425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ko-KR" altLang="en-US" sz="1425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결정할 근거</a:t>
            </a:r>
            <a:r>
              <a:rPr lang="en-US" altLang="ko-KR" sz="1425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(</a:t>
            </a:r>
            <a:r>
              <a:rPr lang="ko-KR" altLang="en-US" sz="1425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화면</a:t>
            </a:r>
            <a:r>
              <a:rPr lang="en-US" altLang="ko-KR" sz="1425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·</a:t>
            </a:r>
            <a:r>
              <a:rPr lang="ko-KR" altLang="en-US" sz="1425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데이터</a:t>
            </a:r>
            <a:r>
              <a:rPr lang="en-US" altLang="ko-KR" sz="1425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)</a:t>
            </a:r>
            <a:r>
              <a:rPr lang="ko-KR" altLang="en-US" sz="1425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가 없음</a:t>
            </a:r>
          </a:p>
          <a:p>
            <a:pPr>
              <a:lnSpc>
                <a:spcPct val="140000"/>
              </a:lnSpc>
            </a:pPr>
            <a:endParaRPr lang="en-US" sz="14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56354" y="3021211"/>
            <a:ext cx="362363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r>
              <a:rPr lang="en-US" sz="1088" dirty="0">
                <a:solidFill>
                  <a:srgbClr val="80808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→ </a:t>
            </a:r>
            <a:r>
              <a:rPr lang="ko-KR" altLang="en-US" sz="1088" dirty="0">
                <a:solidFill>
                  <a:srgbClr val="80808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의사결정 지연</a:t>
            </a:r>
            <a:r>
              <a:rPr lang="en-US" altLang="ko-KR" sz="1088" dirty="0">
                <a:solidFill>
                  <a:srgbClr val="80808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·</a:t>
            </a:r>
            <a:r>
              <a:rPr lang="ko-KR" altLang="en-US" sz="1088" dirty="0">
                <a:solidFill>
                  <a:srgbClr val="80808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요건변경</a:t>
            </a:r>
          </a:p>
          <a:p>
            <a:endParaRPr lang="en-US" sz="1088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95325" y="3326011"/>
            <a:ext cx="5057775" cy="9525"/>
          </a:xfrm>
          <a:prstGeom prst="rect">
            <a:avLst/>
          </a:prstGeom>
          <a:solidFill>
            <a:srgbClr val="F0F2F2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6353" y="3478411"/>
            <a:ext cx="3623633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425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화면기획서와 구현물의 불일치</a:t>
            </a:r>
          </a:p>
        </p:txBody>
      </p:sp>
      <p:sp>
        <p:nvSpPr>
          <p:cNvPr id="22" name="Text 20"/>
          <p:cNvSpPr/>
          <p:nvPr/>
        </p:nvSpPr>
        <p:spPr>
          <a:xfrm>
            <a:off x="856353" y="3779341"/>
            <a:ext cx="362363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80808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→ 기획대로 안 만들어짐 · 재작업</a:t>
            </a:r>
            <a:endParaRPr lang="en-US" sz="1088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95325" y="4084141"/>
            <a:ext cx="5057775" cy="9525"/>
          </a:xfrm>
          <a:prstGeom prst="rect">
            <a:avLst/>
          </a:prstGeom>
          <a:solidFill>
            <a:srgbClr val="F0F2F2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56353" y="4236541"/>
            <a:ext cx="3623633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경험이 사람 머릿속에만 존재</a:t>
            </a:r>
            <a:endParaRPr lang="en-US" sz="14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56353" y="4537472"/>
            <a:ext cx="362363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80808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→ 담당자 이탈 시 노하우 소멸</a:t>
            </a:r>
            <a:endParaRPr lang="en-US" sz="1088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00775" y="1352550"/>
            <a:ext cx="5534025" cy="3933825"/>
          </a:xfrm>
          <a:prstGeom prst="roundRect">
            <a:avLst>
              <a:gd name="adj" fmla="val 1882"/>
            </a:avLst>
          </a:prstGeom>
          <a:solidFill>
            <a:srgbClr val="EEF2F8"/>
          </a:solidFill>
          <a:ln w="9525">
            <a:solidFill>
              <a:srgbClr val="D0DCEF"/>
            </a:solidFill>
            <a:prstDash val="solid"/>
          </a:ln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38900" y="1571625"/>
            <a:ext cx="648295" cy="219075"/>
          </a:xfrm>
          <a:prstGeom prst="roundRect">
            <a:avLst>
              <a:gd name="adj" fmla="val 17391"/>
            </a:avLst>
          </a:prstGeom>
          <a:solidFill>
            <a:srgbClr val="00389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543675" y="1609725"/>
            <a:ext cx="5149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8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해결 방향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559671" y="2095860"/>
            <a:ext cx="66675" cy="66675"/>
          </a:xfrm>
          <a:prstGeom prst="ellipse">
            <a:avLst/>
          </a:prstGeom>
          <a:solidFill>
            <a:srgbClr val="0074C0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731121" y="1962150"/>
            <a:ext cx="361441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 에이전트 + 축적된 자산으로 프로젝트 진행</a:t>
            </a:r>
            <a:endParaRPr lang="en-US" sz="14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38900" y="2378911"/>
            <a:ext cx="5057775" cy="9525"/>
          </a:xfrm>
          <a:prstGeom prst="rect">
            <a:avLst/>
          </a:prstGeom>
          <a:solidFill>
            <a:srgbClr val="DCE5F2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559671" y="2716780"/>
            <a:ext cx="66675" cy="66675"/>
          </a:xfrm>
          <a:prstGeom prst="ellipse">
            <a:avLst/>
          </a:prstGeom>
          <a:solidFill>
            <a:srgbClr val="0074C0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731121" y="2577365"/>
            <a:ext cx="3850645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프로토타입을 먼저 보여주고 </a:t>
            </a:r>
            <a:r>
              <a:rPr lang="en-US" sz="1425" b="1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“맞나요?” </a:t>
            </a:r>
            <a:r>
              <a:rPr lang="en-US" altLang="ko-KR" sz="1425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(</a:t>
            </a:r>
            <a:r>
              <a:rPr lang="ko-KR" altLang="en-US" sz="1425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선</a:t>
            </a:r>
            <a:r>
              <a:rPr lang="en-US" sz="1425" dirty="0" err="1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택</a:t>
            </a:r>
            <a:r>
              <a:rPr lang="ko-KR" altLang="en-US" sz="1425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결정</a:t>
            </a:r>
            <a:r>
              <a:rPr lang="en-US" altLang="ko-KR" sz="1425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)</a:t>
            </a:r>
            <a:endParaRPr lang="en-US" sz="14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438900" y="3013311"/>
            <a:ext cx="5057775" cy="9525"/>
          </a:xfrm>
          <a:prstGeom prst="rect">
            <a:avLst/>
          </a:prstGeom>
          <a:solidFill>
            <a:srgbClr val="DCE5F2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559671" y="3320447"/>
            <a:ext cx="66675" cy="66675"/>
          </a:xfrm>
          <a:prstGeom prst="ellipse">
            <a:avLst/>
          </a:prstGeom>
          <a:solidFill>
            <a:srgbClr val="0074C0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731121" y="3192580"/>
            <a:ext cx="3647807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자산이 있으면 2~3주 내 전체 화면 프로토타입</a:t>
            </a:r>
            <a:endParaRPr lang="en-US" sz="14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438900" y="4282112"/>
            <a:ext cx="5057775" cy="9525"/>
          </a:xfrm>
          <a:prstGeom prst="rect">
            <a:avLst/>
          </a:prstGeom>
          <a:solidFill>
            <a:srgbClr val="DCE5F2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559671" y="4562471"/>
            <a:ext cx="66675" cy="66675"/>
          </a:xfrm>
          <a:prstGeom prst="ellipse">
            <a:avLst/>
          </a:prstGeom>
          <a:solidFill>
            <a:srgbClr val="0074C0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731121" y="4423010"/>
            <a:ext cx="2476946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프로젝트 기간 18~28주로 단축</a:t>
            </a:r>
            <a:endParaRPr lang="en-US" sz="14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57200" y="5550918"/>
            <a:ext cx="11277600" cy="733425"/>
          </a:xfrm>
          <a:prstGeom prst="roundRect">
            <a:avLst>
              <a:gd name="adj" fmla="val 10390"/>
            </a:avLst>
          </a:prstGeom>
          <a:solidFill>
            <a:srgbClr val="002560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42950" y="5836668"/>
            <a:ext cx="80545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6C7E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프로젝트 기간</a:t>
            </a:r>
            <a:endParaRPr lang="en-US" sz="105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719858" y="5860481"/>
            <a:ext cx="3277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C93AE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기존</a:t>
            </a:r>
            <a:endParaRPr lang="en-US" sz="11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057102" y="5746181"/>
            <a:ext cx="112603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250" b="1" strike="sngStrike" dirty="0">
                <a:solidFill>
                  <a:srgbClr val="8FA5C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24~40주</a:t>
            </a:r>
            <a:endParaRPr lang="en-US" sz="225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354586" y="5769993"/>
            <a:ext cx="3238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→</a:t>
            </a:r>
            <a:endParaRPr lang="en-US" sz="195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849886" y="5874768"/>
            <a:ext cx="6694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B6C7E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AI-SDLC</a:t>
            </a:r>
            <a:endParaRPr lang="en-US" sz="11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528840" y="5722368"/>
            <a:ext cx="126593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18~28주</a:t>
            </a:r>
            <a:endParaRPr lang="en-US" sz="255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10341769" y="5760468"/>
            <a:ext cx="1107281" cy="314325"/>
          </a:xfrm>
          <a:prstGeom prst="roundRect">
            <a:avLst>
              <a:gd name="adj" fmla="val 18182"/>
            </a:avLst>
          </a:prstGeom>
          <a:solidFill>
            <a:srgbClr val="0074C0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0494169" y="5836668"/>
            <a:ext cx="87868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30% 단축 목표</a:t>
            </a:r>
            <a:endParaRPr lang="en-US" sz="105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0" y="6534150"/>
            <a:ext cx="12192000" cy="952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1463040" y="6643688"/>
            <a:ext cx="34796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3TOP</a:t>
            </a:r>
            <a:endParaRPr lang="en-US" sz="8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4" name="Shape 32">
            <a:extLst>
              <a:ext uri="{FF2B5EF4-FFF2-40B4-BE49-F238E27FC236}">
                <a16:creationId xmlns:a16="http://schemas.microsoft.com/office/drawing/2014/main" id="{C86F962C-6CD1-1F93-DCB0-B0EBBACE1EE1}"/>
              </a:ext>
            </a:extLst>
          </p:cNvPr>
          <p:cNvSpPr/>
          <p:nvPr/>
        </p:nvSpPr>
        <p:spPr>
          <a:xfrm>
            <a:off x="6438900" y="3647711"/>
            <a:ext cx="5057775" cy="9525"/>
          </a:xfrm>
          <a:prstGeom prst="rect">
            <a:avLst/>
          </a:prstGeom>
          <a:solidFill>
            <a:srgbClr val="DCE5F2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5" name="Shape 33">
            <a:extLst>
              <a:ext uri="{FF2B5EF4-FFF2-40B4-BE49-F238E27FC236}">
                <a16:creationId xmlns:a16="http://schemas.microsoft.com/office/drawing/2014/main" id="{5168F3C6-F9B5-E079-9E3E-D9D125A0BF61}"/>
              </a:ext>
            </a:extLst>
          </p:cNvPr>
          <p:cNvSpPr/>
          <p:nvPr/>
        </p:nvSpPr>
        <p:spPr>
          <a:xfrm>
            <a:off x="6559671" y="3954494"/>
            <a:ext cx="66675" cy="66675"/>
          </a:xfrm>
          <a:prstGeom prst="ellipse">
            <a:avLst/>
          </a:prstGeom>
          <a:solidFill>
            <a:srgbClr val="0074C0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6" name="Text 34">
            <a:extLst>
              <a:ext uri="{FF2B5EF4-FFF2-40B4-BE49-F238E27FC236}">
                <a16:creationId xmlns:a16="http://schemas.microsoft.com/office/drawing/2014/main" id="{9DEB8249-E596-804A-A954-05BEAAB7EF8A}"/>
              </a:ext>
            </a:extLst>
          </p:cNvPr>
          <p:cNvSpPr/>
          <p:nvPr/>
        </p:nvSpPr>
        <p:spPr>
          <a:xfrm>
            <a:off x="6731121" y="3807795"/>
            <a:ext cx="3647807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>
              <a:lnSpc>
                <a:spcPct val="145000"/>
              </a:lnSpc>
            </a:pPr>
            <a:r>
              <a:rPr lang="ko-KR" altLang="ko-KR" sz="1425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설계 문서와 구현물이 항상 동기화</a:t>
            </a:r>
            <a:r>
              <a:rPr lang="ko-KR" altLang="en-US" sz="1425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en-US" altLang="ko-KR" sz="1425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(</a:t>
            </a:r>
            <a:r>
              <a:rPr lang="ko-KR" altLang="en-US" sz="1425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재작업 원천 제거</a:t>
            </a:r>
            <a:r>
              <a:rPr lang="en-US" altLang="ko-KR" sz="1425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)</a:t>
            </a:r>
            <a:endParaRPr lang="ko-KR" altLang="ko-KR" sz="1425" dirty="0">
              <a:solidFill>
                <a:srgbClr val="262626"/>
              </a:solidFill>
              <a:latin typeface="Paperlogy 4 Regular" pitchFamily="2" charset="-127"/>
              <a:ea typeface="Paperlogy 4 Regular" pitchFamily="2" charset="-127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0389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183996" y="0"/>
            <a:ext cx="1330207" cy="51435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80975"/>
            <a:ext cx="92050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AI-SDLC 방법론</a:t>
            </a:r>
            <a:endParaRPr lang="en-US" sz="9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77702" y="190500"/>
            <a:ext cx="14942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&gt;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27125" y="180975"/>
            <a:ext cx="10534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85000"/>
                  </a:srgbClr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어떻게 진행되는가?</a:t>
            </a:r>
            <a:endParaRPr lang="en-US" sz="9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341150" y="190500"/>
            <a:ext cx="4698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02 / 05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514350"/>
            <a:ext cx="12192000" cy="59055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0" y="1095375"/>
            <a:ext cx="12192000" cy="9525"/>
          </a:xfrm>
          <a:prstGeom prst="rect">
            <a:avLst/>
          </a:prstGeom>
          <a:solidFill>
            <a:srgbClr val="D0DCEF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661988"/>
            <a:ext cx="38100" cy="285750"/>
          </a:xfrm>
          <a:prstGeom prst="roundRect">
            <a:avLst>
              <a:gd name="adj" fmla="val 50000"/>
            </a:avLst>
          </a:prstGeom>
          <a:solidFill>
            <a:srgbClr val="00389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8650" y="671513"/>
            <a:ext cx="47955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kern="0" spc="-17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 와 협업하여 선택지를 제안하고, 현업은 결정한다</a:t>
            </a:r>
            <a:endParaRPr lang="en-US" sz="17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5908403"/>
            <a:ext cx="2576513" cy="9525"/>
          </a:xfrm>
          <a:prstGeom prst="rect">
            <a:avLst/>
          </a:prstGeom>
          <a:solidFill>
            <a:srgbClr val="D0DCEF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1490597"/>
            <a:ext cx="2576513" cy="38100"/>
          </a:xfrm>
          <a:prstGeom prst="rect">
            <a:avLst/>
          </a:prstGeom>
          <a:solidFill>
            <a:srgbClr val="00389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1490596"/>
            <a:ext cx="9525" cy="4428000"/>
          </a:xfrm>
          <a:prstGeom prst="rect">
            <a:avLst/>
          </a:prstGeom>
          <a:solidFill>
            <a:srgbClr val="D0DCEF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024188" y="1490596"/>
            <a:ext cx="9525" cy="4428000"/>
          </a:xfrm>
          <a:prstGeom prst="rect">
            <a:avLst/>
          </a:prstGeom>
          <a:solidFill>
            <a:srgbClr val="D0DCEF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7225" y="1719197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5EBF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785872"/>
            <a:ext cx="247650" cy="24765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33475" y="1762060"/>
            <a:ext cx="99878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Phase A</a:t>
            </a:r>
            <a:endParaRPr lang="en-US" sz="195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352824" y="1809685"/>
            <a:ext cx="480864" cy="200025"/>
          </a:xfrm>
          <a:prstGeom prst="roundRect">
            <a:avLst>
              <a:gd name="adj" fmla="val 19048"/>
            </a:avLst>
          </a:prstGeom>
          <a:solidFill>
            <a:srgbClr val="E5EBF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438549" y="1847785"/>
            <a:ext cx="38561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 주도</a:t>
            </a:r>
            <a:endParaRPr lang="en-US" sz="8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57225" y="2157347"/>
            <a:ext cx="239410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1~2주</a:t>
            </a:r>
            <a:endParaRPr lang="en-US" sz="9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57225" y="2537042"/>
            <a:ext cx="225266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 err="1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자산</a:t>
            </a:r>
            <a:r>
              <a:rPr lang="en-US" sz="11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(</a:t>
            </a:r>
            <a:r>
              <a:rPr lang="ko-KR" altLang="en-US" sz="11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템플릿</a:t>
            </a:r>
            <a:r>
              <a:rPr lang="en-US" sz="11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)</a:t>
            </a:r>
            <a:r>
              <a:rPr lang="en-US" sz="1100" dirty="0" err="1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을</a:t>
            </a:r>
            <a:r>
              <a:rPr lang="en-US" sz="11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신규 프로젝트에 맞게 커스터마이징하여 </a:t>
            </a:r>
            <a:r>
              <a:rPr lang="en-US" sz="1100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AI가 전체 화면 프로토타입 생성</a:t>
            </a:r>
            <a:endParaRPr lang="en-US" sz="11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57225" y="3400013"/>
            <a:ext cx="433917" cy="183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dirty="0" err="1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활용</a:t>
            </a:r>
            <a:r>
              <a:rPr lang="en-US" sz="10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195388" y="3400013"/>
            <a:ext cx="1740526" cy="416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설계 템플릿 5종 · Scaffolding · Steering · 코드 템플릿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57226" y="3929680"/>
            <a:ext cx="466726" cy="183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역할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170148" y="3929680"/>
            <a:ext cx="1568296" cy="275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AI가 생성 · 사람은 확인·확정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57225" y="4518188"/>
            <a:ext cx="314325" cy="140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품질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091142" y="4528236"/>
            <a:ext cx="3622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88%</a:t>
            </a:r>
            <a:endParaRPr lang="en-US" sz="11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432062" y="4518188"/>
            <a:ext cx="1578829" cy="221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80808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검증 자산 기반 · 보완 1~2회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998866" y="5286660"/>
            <a:ext cx="1872000" cy="9525"/>
          </a:xfrm>
          <a:prstGeom prst="rect">
            <a:avLst/>
          </a:prstGeom>
          <a:solidFill>
            <a:srgbClr val="D0DCEF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03786" y="5223494"/>
            <a:ext cx="67561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6969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산출물</a:t>
            </a:r>
            <a:endParaRPr lang="en-US" sz="8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732938" y="5559387"/>
            <a:ext cx="185891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동작하는 프로토타입 (Mock</a:t>
            </a:r>
            <a:r>
              <a:rPr lang="ko-KR" altLang="en-US" sz="975" b="1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기반</a:t>
            </a:r>
            <a:r>
              <a:rPr lang="en-US" sz="975" b="1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)</a:t>
            </a:r>
            <a:endParaRPr lang="en-US" sz="9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2995613" y="1490597"/>
            <a:ext cx="400050" cy="4161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6C7E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→</a:t>
            </a:r>
            <a:endParaRPr lang="en-US" sz="18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3357563" y="5908403"/>
            <a:ext cx="2576513" cy="9525"/>
          </a:xfrm>
          <a:prstGeom prst="rect">
            <a:avLst/>
          </a:prstGeom>
          <a:solidFill>
            <a:srgbClr val="D0DCEF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3357563" y="1490597"/>
            <a:ext cx="2576513" cy="38100"/>
          </a:xfrm>
          <a:prstGeom prst="rect">
            <a:avLst/>
          </a:prstGeom>
          <a:solidFill>
            <a:srgbClr val="0074C0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3357563" y="1490596"/>
            <a:ext cx="9525" cy="4428000"/>
          </a:xfrm>
          <a:prstGeom prst="rect">
            <a:avLst/>
          </a:prstGeom>
          <a:solidFill>
            <a:srgbClr val="D0DCEF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5924550" y="1490596"/>
            <a:ext cx="9525" cy="4428000"/>
          </a:xfrm>
          <a:prstGeom prst="rect">
            <a:avLst/>
          </a:prstGeom>
          <a:solidFill>
            <a:srgbClr val="D0DCEF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3557588" y="1719197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5EBF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4263" y="1785872"/>
            <a:ext cx="247650" cy="24765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4033837" y="1762060"/>
            <a:ext cx="10124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Phase B</a:t>
            </a:r>
            <a:endParaRPr lang="en-US" sz="195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3" name="Shape 39"/>
          <p:cNvSpPr/>
          <p:nvPr/>
        </p:nvSpPr>
        <p:spPr>
          <a:xfrm>
            <a:off x="5170884" y="1809685"/>
            <a:ext cx="563166" cy="200025"/>
          </a:xfrm>
          <a:prstGeom prst="roundRect">
            <a:avLst>
              <a:gd name="adj" fmla="val 19048"/>
            </a:avLst>
          </a:prstGeom>
          <a:solidFill>
            <a:srgbClr val="E5EBF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4" name="Text 40"/>
          <p:cNvSpPr/>
          <p:nvPr/>
        </p:nvSpPr>
        <p:spPr>
          <a:xfrm>
            <a:off x="5256609" y="1847785"/>
            <a:ext cx="46791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현업 주도</a:t>
            </a:r>
            <a:endParaRPr lang="en-US" sz="8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5" name="Text 41"/>
          <p:cNvSpPr/>
          <p:nvPr/>
        </p:nvSpPr>
        <p:spPr>
          <a:xfrm>
            <a:off x="3557588" y="2157347"/>
            <a:ext cx="239410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2~4주</a:t>
            </a:r>
            <a:endParaRPr lang="en-US" sz="9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6" name="Text 42"/>
          <p:cNvSpPr/>
          <p:nvPr/>
        </p:nvSpPr>
        <p:spPr>
          <a:xfrm>
            <a:off x="3557588" y="2537042"/>
            <a:ext cx="225266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프로토타입을 현업에 시연 → </a:t>
            </a:r>
            <a:r>
              <a:rPr lang="en-US" sz="1100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“맞나/아닌가” 피드백 </a:t>
            </a:r>
            <a:r>
              <a:rPr lang="en-US" sz="11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수집 → 즉시 수정 → 재시연</a:t>
            </a:r>
            <a:endParaRPr lang="en-US" sz="11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7" name="Text 43"/>
          <p:cNvSpPr/>
          <p:nvPr/>
        </p:nvSpPr>
        <p:spPr>
          <a:xfrm>
            <a:off x="3557589" y="3400013"/>
            <a:ext cx="365046" cy="234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진행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8" name="Text 44"/>
          <p:cNvSpPr/>
          <p:nvPr/>
        </p:nvSpPr>
        <p:spPr>
          <a:xfrm>
            <a:off x="3911640" y="3400013"/>
            <a:ext cx="2006905" cy="432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3회 </a:t>
            </a:r>
            <a:r>
              <a:rPr lang="en-US" sz="1000" dirty="0" err="1">
                <a:solidFill>
                  <a:srgbClr val="4D4D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시연</a:t>
            </a:r>
            <a:r>
              <a:rPr lang="en-US" sz="1000" dirty="0">
                <a:solidFill>
                  <a:srgbClr val="4D4D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br>
              <a:rPr lang="en-US" sz="1000" dirty="0">
                <a:solidFill>
                  <a:srgbClr val="4D4D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</a:br>
            <a:r>
              <a:rPr lang="en-US" sz="1000" dirty="0">
                <a:solidFill>
                  <a:srgbClr val="4D4D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(워크쓰루 → 세부조정 → 최종확인)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9" name="Text 45"/>
          <p:cNvSpPr/>
          <p:nvPr/>
        </p:nvSpPr>
        <p:spPr>
          <a:xfrm>
            <a:off x="3557589" y="3929680"/>
            <a:ext cx="379094" cy="209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역할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0" name="Text 46"/>
          <p:cNvSpPr/>
          <p:nvPr/>
        </p:nvSpPr>
        <p:spPr>
          <a:xfrm>
            <a:off x="3911640" y="3929680"/>
            <a:ext cx="1876696" cy="433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현업이 화면 보고 결정 · AI 즉시 반영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1" name="Text 47"/>
          <p:cNvSpPr/>
          <p:nvPr/>
        </p:nvSpPr>
        <p:spPr>
          <a:xfrm>
            <a:off x="3557588" y="4518188"/>
            <a:ext cx="239410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핵심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2" name="Text 48"/>
          <p:cNvSpPr/>
          <p:nvPr/>
        </p:nvSpPr>
        <p:spPr>
          <a:xfrm>
            <a:off x="3911640" y="4518188"/>
            <a:ext cx="1952897" cy="433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“문서 읽고 결정” → “화면 보고 </a:t>
            </a:r>
            <a:r>
              <a:rPr lang="en-US" sz="1000" dirty="0" err="1">
                <a:solidFill>
                  <a:srgbClr val="4D4D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결정</a:t>
            </a:r>
            <a:r>
              <a:rPr lang="en-US" sz="1000" dirty="0">
                <a:solidFill>
                  <a:srgbClr val="4D4D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” </a:t>
            </a:r>
            <a:r>
              <a:rPr lang="ko-KR" altLang="en-US" sz="1000" dirty="0" err="1">
                <a:solidFill>
                  <a:srgbClr val="4D4D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으로</a:t>
            </a:r>
            <a:r>
              <a:rPr lang="ko-KR" altLang="en-US" sz="1000" dirty="0">
                <a:solidFill>
                  <a:srgbClr val="4D4D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전환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3" name="Shape 49"/>
          <p:cNvSpPr/>
          <p:nvPr/>
        </p:nvSpPr>
        <p:spPr>
          <a:xfrm>
            <a:off x="3899229" y="5286660"/>
            <a:ext cx="1872000" cy="9525"/>
          </a:xfrm>
          <a:prstGeom prst="rect">
            <a:avLst/>
          </a:prstGeom>
          <a:solidFill>
            <a:srgbClr val="D0DCEF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4" name="Text 50"/>
          <p:cNvSpPr/>
          <p:nvPr/>
        </p:nvSpPr>
        <p:spPr>
          <a:xfrm>
            <a:off x="3534292" y="5223494"/>
            <a:ext cx="476249" cy="17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6969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산출물</a:t>
            </a:r>
            <a:endParaRPr lang="en-US" sz="8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5" name="Text 51"/>
          <p:cNvSpPr/>
          <p:nvPr/>
        </p:nvSpPr>
        <p:spPr>
          <a:xfrm>
            <a:off x="3633301" y="5559387"/>
            <a:ext cx="192881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확정 요구사항 정의서</a:t>
            </a:r>
            <a:endParaRPr lang="en-US" sz="9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6" name="Text 52"/>
          <p:cNvSpPr/>
          <p:nvPr/>
        </p:nvSpPr>
        <p:spPr>
          <a:xfrm>
            <a:off x="5895975" y="1490597"/>
            <a:ext cx="400050" cy="4180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6C7E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→</a:t>
            </a:r>
            <a:endParaRPr lang="en-US" sz="18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8" name="Shape 54"/>
          <p:cNvSpPr/>
          <p:nvPr/>
        </p:nvSpPr>
        <p:spPr>
          <a:xfrm>
            <a:off x="6257925" y="5908403"/>
            <a:ext cx="2576513" cy="9525"/>
          </a:xfrm>
          <a:prstGeom prst="rect">
            <a:avLst/>
          </a:prstGeom>
          <a:solidFill>
            <a:srgbClr val="D0DCEF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9" name="Shape 55"/>
          <p:cNvSpPr/>
          <p:nvPr/>
        </p:nvSpPr>
        <p:spPr>
          <a:xfrm>
            <a:off x="6257925" y="1490597"/>
            <a:ext cx="2576513" cy="38100"/>
          </a:xfrm>
          <a:prstGeom prst="rect">
            <a:avLst/>
          </a:prstGeom>
          <a:solidFill>
            <a:srgbClr val="00389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0" name="Shape 56"/>
          <p:cNvSpPr/>
          <p:nvPr/>
        </p:nvSpPr>
        <p:spPr>
          <a:xfrm>
            <a:off x="6257925" y="1490596"/>
            <a:ext cx="9525" cy="4428000"/>
          </a:xfrm>
          <a:prstGeom prst="rect">
            <a:avLst/>
          </a:prstGeom>
          <a:solidFill>
            <a:srgbClr val="D0DCEF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1" name="Shape 57"/>
          <p:cNvSpPr/>
          <p:nvPr/>
        </p:nvSpPr>
        <p:spPr>
          <a:xfrm>
            <a:off x="8843963" y="1490596"/>
            <a:ext cx="9525" cy="4428000"/>
          </a:xfrm>
          <a:prstGeom prst="rect">
            <a:avLst/>
          </a:prstGeom>
          <a:solidFill>
            <a:srgbClr val="D0DCEF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2" name="Shape 58"/>
          <p:cNvSpPr/>
          <p:nvPr/>
        </p:nvSpPr>
        <p:spPr>
          <a:xfrm>
            <a:off x="6457950" y="1719197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5EBF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pic>
        <p:nvPicPr>
          <p:cNvPr id="6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625" y="1785872"/>
            <a:ext cx="247650" cy="247650"/>
          </a:xfrm>
          <a:prstGeom prst="rect">
            <a:avLst/>
          </a:prstGeom>
        </p:spPr>
      </p:pic>
      <p:sp>
        <p:nvSpPr>
          <p:cNvPr id="64" name="Text 59"/>
          <p:cNvSpPr/>
          <p:nvPr/>
        </p:nvSpPr>
        <p:spPr>
          <a:xfrm>
            <a:off x="6934200" y="1762060"/>
            <a:ext cx="10261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Phase C</a:t>
            </a:r>
            <a:endParaRPr lang="en-US" sz="195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5" name="Shape 60"/>
          <p:cNvSpPr/>
          <p:nvPr/>
        </p:nvSpPr>
        <p:spPr>
          <a:xfrm>
            <a:off x="8153549" y="1809685"/>
            <a:ext cx="480864" cy="200025"/>
          </a:xfrm>
          <a:prstGeom prst="roundRect">
            <a:avLst>
              <a:gd name="adj" fmla="val 19048"/>
            </a:avLst>
          </a:prstGeom>
          <a:solidFill>
            <a:srgbClr val="E5EBF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6" name="Text 61"/>
          <p:cNvSpPr/>
          <p:nvPr/>
        </p:nvSpPr>
        <p:spPr>
          <a:xfrm>
            <a:off x="8239274" y="1847785"/>
            <a:ext cx="38561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 주도</a:t>
            </a:r>
            <a:endParaRPr lang="en-US" sz="8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7" name="Text 62"/>
          <p:cNvSpPr/>
          <p:nvPr/>
        </p:nvSpPr>
        <p:spPr>
          <a:xfrm>
            <a:off x="6457950" y="2157347"/>
            <a:ext cx="239410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1~2주</a:t>
            </a:r>
            <a:endParaRPr lang="en-US" sz="9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8" name="Text 63"/>
          <p:cNvSpPr/>
          <p:nvPr/>
        </p:nvSpPr>
        <p:spPr>
          <a:xfrm>
            <a:off x="6457950" y="2537042"/>
            <a:ext cx="225266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확정 요구사항 기반 </a:t>
            </a:r>
            <a:r>
              <a:rPr lang="en-US" sz="1100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설계 문서 보완·확정 </a:t>
            </a:r>
            <a:r>
              <a:rPr lang="en-US" sz="11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→ 크로스체크 + API 명세 완성</a:t>
            </a:r>
            <a:endParaRPr lang="en-US" sz="11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9" name="Text 64"/>
          <p:cNvSpPr/>
          <p:nvPr/>
        </p:nvSpPr>
        <p:spPr>
          <a:xfrm>
            <a:off x="6457951" y="3400013"/>
            <a:ext cx="379094" cy="298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진행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70" name="Text 65"/>
          <p:cNvSpPr/>
          <p:nvPr/>
        </p:nvSpPr>
        <p:spPr>
          <a:xfrm>
            <a:off x="6822996" y="3400013"/>
            <a:ext cx="1971914" cy="433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4D4D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변경 반영 → 크로스체크 5회 자동 실행 → API </a:t>
            </a:r>
            <a:r>
              <a:rPr lang="en-US" sz="1000" dirty="0" err="1">
                <a:solidFill>
                  <a:srgbClr val="4D4D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명세</a:t>
            </a:r>
            <a:r>
              <a:rPr lang="ko-KR" altLang="en-US" sz="1000" dirty="0">
                <a:solidFill>
                  <a:srgbClr val="4D4D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완성</a:t>
            </a:r>
            <a:endParaRPr lang="en-US" sz="1000" dirty="0">
              <a:solidFill>
                <a:srgbClr val="4D4D4D"/>
              </a:solidFill>
              <a:latin typeface="Paperlogy 4 Regular" pitchFamily="2" charset="-127"/>
              <a:ea typeface="Paperlogy 4 Regular" pitchFamily="2" charset="-127"/>
              <a:cs typeface="Arial" pitchFamily="34" charset="-120"/>
            </a:endParaRPr>
          </a:p>
          <a:p>
            <a:pPr>
              <a:lnSpc>
                <a:spcPct val="140000"/>
              </a:lnSpc>
            </a:pPr>
            <a:endParaRPr lang="en-US" sz="1000" dirty="0">
              <a:solidFill>
                <a:srgbClr val="4D4D4D"/>
              </a:solidFill>
              <a:latin typeface="Paperlogy 4 Regular" pitchFamily="2" charset="-127"/>
              <a:ea typeface="Paperlogy 4 Regular" pitchFamily="2" charset="-127"/>
              <a:cs typeface="Arial" pitchFamily="34" charset="-120"/>
            </a:endParaRPr>
          </a:p>
        </p:txBody>
      </p:sp>
      <p:sp>
        <p:nvSpPr>
          <p:cNvPr id="71" name="Text 66"/>
          <p:cNvSpPr/>
          <p:nvPr/>
        </p:nvSpPr>
        <p:spPr>
          <a:xfrm>
            <a:off x="6457950" y="3929680"/>
            <a:ext cx="362249" cy="226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역할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72" name="Text 67"/>
          <p:cNvSpPr/>
          <p:nvPr/>
        </p:nvSpPr>
        <p:spPr>
          <a:xfrm>
            <a:off x="6837044" y="3929680"/>
            <a:ext cx="1873569" cy="452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AI가 검증·생성 · 사람은 불일치 방향 결정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73" name="Text 68"/>
          <p:cNvSpPr/>
          <p:nvPr/>
        </p:nvSpPr>
        <p:spPr>
          <a:xfrm>
            <a:off x="6457950" y="4518188"/>
            <a:ext cx="32971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품질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74" name="Text 69"/>
          <p:cNvSpPr/>
          <p:nvPr/>
        </p:nvSpPr>
        <p:spPr>
          <a:xfrm>
            <a:off x="6772066" y="4528236"/>
            <a:ext cx="3622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95%</a:t>
            </a:r>
            <a:endParaRPr lang="en-US" sz="11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75" name="Text 70"/>
          <p:cNvSpPr/>
          <p:nvPr/>
        </p:nvSpPr>
        <p:spPr>
          <a:xfrm>
            <a:off x="7137451" y="4518188"/>
            <a:ext cx="1725561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0808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크로스체크로</a:t>
            </a:r>
            <a:r>
              <a:rPr lang="en-US" sz="1000" dirty="0">
                <a:solidFill>
                  <a:srgbClr val="80808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80808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정합보장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76" name="Shape 71"/>
          <p:cNvSpPr/>
          <p:nvPr/>
        </p:nvSpPr>
        <p:spPr>
          <a:xfrm>
            <a:off x="6799591" y="5286660"/>
            <a:ext cx="1872000" cy="9525"/>
          </a:xfrm>
          <a:prstGeom prst="rect">
            <a:avLst/>
          </a:prstGeom>
          <a:solidFill>
            <a:srgbClr val="D0DCEF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77" name="Text 72"/>
          <p:cNvSpPr/>
          <p:nvPr/>
        </p:nvSpPr>
        <p:spPr>
          <a:xfrm>
            <a:off x="6434654" y="5223494"/>
            <a:ext cx="4000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6969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산출물</a:t>
            </a:r>
            <a:endParaRPr lang="en-US" sz="8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78" name="Text 73"/>
          <p:cNvSpPr/>
          <p:nvPr/>
        </p:nvSpPr>
        <p:spPr>
          <a:xfrm>
            <a:off x="6533663" y="5559387"/>
            <a:ext cx="20321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확정 설계 + API 명세</a:t>
            </a:r>
            <a:endParaRPr lang="en-US" sz="9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79" name="Text 74"/>
          <p:cNvSpPr/>
          <p:nvPr/>
        </p:nvSpPr>
        <p:spPr>
          <a:xfrm>
            <a:off x="8796338" y="1490597"/>
            <a:ext cx="400050" cy="4123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6C7E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→</a:t>
            </a:r>
            <a:endParaRPr lang="en-US" sz="18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81" name="Shape 76"/>
          <p:cNvSpPr/>
          <p:nvPr/>
        </p:nvSpPr>
        <p:spPr>
          <a:xfrm>
            <a:off x="9158288" y="5908403"/>
            <a:ext cx="2576513" cy="9525"/>
          </a:xfrm>
          <a:prstGeom prst="rect">
            <a:avLst/>
          </a:prstGeom>
          <a:solidFill>
            <a:srgbClr val="B6C7E0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82" name="Shape 77"/>
          <p:cNvSpPr/>
          <p:nvPr/>
        </p:nvSpPr>
        <p:spPr>
          <a:xfrm>
            <a:off x="9158288" y="1490597"/>
            <a:ext cx="2576513" cy="38100"/>
          </a:xfrm>
          <a:prstGeom prst="rect">
            <a:avLst/>
          </a:prstGeom>
          <a:solidFill>
            <a:srgbClr val="002560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83" name="Shape 78"/>
          <p:cNvSpPr/>
          <p:nvPr/>
        </p:nvSpPr>
        <p:spPr>
          <a:xfrm>
            <a:off x="9158288" y="1490596"/>
            <a:ext cx="9525" cy="4428000"/>
          </a:xfrm>
          <a:prstGeom prst="rect">
            <a:avLst/>
          </a:prstGeom>
          <a:solidFill>
            <a:srgbClr val="B6C7E0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84" name="Shape 79"/>
          <p:cNvSpPr/>
          <p:nvPr/>
        </p:nvSpPr>
        <p:spPr>
          <a:xfrm>
            <a:off x="11725275" y="1490597"/>
            <a:ext cx="9525" cy="4428000"/>
          </a:xfrm>
          <a:prstGeom prst="rect">
            <a:avLst/>
          </a:prstGeom>
          <a:solidFill>
            <a:srgbClr val="B6C7E0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85" name="Shape 80"/>
          <p:cNvSpPr/>
          <p:nvPr/>
        </p:nvSpPr>
        <p:spPr>
          <a:xfrm>
            <a:off x="9358313" y="1719197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5EBF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pic>
        <p:nvPicPr>
          <p:cNvPr id="8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4988" y="1785872"/>
            <a:ext cx="247650" cy="247650"/>
          </a:xfrm>
          <a:prstGeom prst="rect">
            <a:avLst/>
          </a:prstGeom>
        </p:spPr>
      </p:pic>
      <p:sp>
        <p:nvSpPr>
          <p:cNvPr id="87" name="Text 81"/>
          <p:cNvSpPr/>
          <p:nvPr/>
        </p:nvSpPr>
        <p:spPr>
          <a:xfrm>
            <a:off x="9834563" y="1762060"/>
            <a:ext cx="10261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256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Phase D</a:t>
            </a:r>
            <a:endParaRPr lang="en-US" sz="195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88" name="Shape 82"/>
          <p:cNvSpPr/>
          <p:nvPr/>
        </p:nvSpPr>
        <p:spPr>
          <a:xfrm>
            <a:off x="11062246" y="1809685"/>
            <a:ext cx="472529" cy="200025"/>
          </a:xfrm>
          <a:prstGeom prst="roundRect">
            <a:avLst>
              <a:gd name="adj" fmla="val 19048"/>
            </a:avLst>
          </a:prstGeom>
          <a:solidFill>
            <a:srgbClr val="E5EBF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89" name="Text 83"/>
          <p:cNvSpPr/>
          <p:nvPr/>
        </p:nvSpPr>
        <p:spPr>
          <a:xfrm>
            <a:off x="11147971" y="1847785"/>
            <a:ext cx="37727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00256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팀 주도</a:t>
            </a:r>
            <a:endParaRPr lang="en-US" sz="8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90" name="Text 84"/>
          <p:cNvSpPr/>
          <p:nvPr/>
        </p:nvSpPr>
        <p:spPr>
          <a:xfrm>
            <a:off x="9358313" y="2157347"/>
            <a:ext cx="239410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프로젝트 규모에 따라</a:t>
            </a:r>
            <a:endParaRPr lang="en-US" sz="9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91" name="Text 85"/>
          <p:cNvSpPr/>
          <p:nvPr/>
        </p:nvSpPr>
        <p:spPr>
          <a:xfrm>
            <a:off x="9358313" y="2537042"/>
            <a:ext cx="225266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Mock → </a:t>
            </a:r>
            <a:r>
              <a:rPr lang="en-US" sz="1100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실 DB · PG · 외부 연동 </a:t>
            </a:r>
            <a:r>
              <a:rPr lang="en-US" sz="11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→ 테스트 → 오픈</a:t>
            </a:r>
            <a:endParaRPr lang="en-US" sz="11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92" name="Text 86"/>
          <p:cNvSpPr/>
          <p:nvPr/>
        </p:nvSpPr>
        <p:spPr>
          <a:xfrm>
            <a:off x="9358314" y="3400013"/>
            <a:ext cx="388588" cy="277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핵심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93" name="Text 87"/>
          <p:cNvSpPr/>
          <p:nvPr/>
        </p:nvSpPr>
        <p:spPr>
          <a:xfrm>
            <a:off x="9738446" y="3400013"/>
            <a:ext cx="1877449" cy="455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프로토타입 = </a:t>
            </a:r>
            <a:r>
              <a:rPr lang="en-US" sz="1000" dirty="0" err="1">
                <a:solidFill>
                  <a:srgbClr val="4D4D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코드베이스</a:t>
            </a:r>
            <a:r>
              <a:rPr lang="en-US" sz="1000" dirty="0">
                <a:solidFill>
                  <a:srgbClr val="4D4D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br>
              <a:rPr lang="en-US" sz="1000" dirty="0">
                <a:solidFill>
                  <a:srgbClr val="4D4D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</a:br>
            <a:r>
              <a:rPr lang="en-US" sz="1000" dirty="0">
                <a:solidFill>
                  <a:srgbClr val="4D4D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(다시 만들 필요 없음)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94" name="Text 88"/>
          <p:cNvSpPr/>
          <p:nvPr/>
        </p:nvSpPr>
        <p:spPr>
          <a:xfrm>
            <a:off x="9358314" y="3929680"/>
            <a:ext cx="400050" cy="183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전환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95" name="Text 89"/>
          <p:cNvSpPr/>
          <p:nvPr/>
        </p:nvSpPr>
        <p:spPr>
          <a:xfrm>
            <a:off x="9738446" y="3929680"/>
            <a:ext cx="1751983" cy="440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Service 레이어만 Mock → 실제 로직 교체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96" name="Text 90"/>
          <p:cNvSpPr/>
          <p:nvPr/>
        </p:nvSpPr>
        <p:spPr>
          <a:xfrm>
            <a:off x="9358313" y="4518188"/>
            <a:ext cx="239410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역할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97" name="Text 91"/>
          <p:cNvSpPr/>
          <p:nvPr/>
        </p:nvSpPr>
        <p:spPr>
          <a:xfrm>
            <a:off x="9738446" y="4518188"/>
            <a:ext cx="184146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4D4D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팀이 실구현 · AI 코드 보조 + 테스트 자동화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98" name="Shape 92"/>
          <p:cNvSpPr/>
          <p:nvPr/>
        </p:nvSpPr>
        <p:spPr>
          <a:xfrm>
            <a:off x="9699954" y="5286660"/>
            <a:ext cx="1872000" cy="9525"/>
          </a:xfrm>
          <a:prstGeom prst="rect">
            <a:avLst/>
          </a:prstGeom>
          <a:solidFill>
            <a:srgbClr val="B6C7E0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99" name="Text 93"/>
          <p:cNvSpPr/>
          <p:nvPr/>
        </p:nvSpPr>
        <p:spPr>
          <a:xfrm>
            <a:off x="9335017" y="5223494"/>
            <a:ext cx="40005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6969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산출물</a:t>
            </a:r>
            <a:endParaRPr lang="en-US" sz="8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00" name="Text 94"/>
          <p:cNvSpPr/>
          <p:nvPr/>
        </p:nvSpPr>
        <p:spPr>
          <a:xfrm>
            <a:off x="9434026" y="5559387"/>
            <a:ext cx="207168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0256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운영 가능한 시스템</a:t>
            </a:r>
            <a:endParaRPr lang="en-US" sz="9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01" name="Text 95"/>
          <p:cNvSpPr/>
          <p:nvPr/>
        </p:nvSpPr>
        <p:spPr>
          <a:xfrm>
            <a:off x="457200" y="6210300"/>
            <a:ext cx="347948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0808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* 관리 방법론에 AI-SDLC 공정과 AI 협업사항을 표기합니다.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02" name="Shape 96"/>
          <p:cNvSpPr/>
          <p:nvPr/>
        </p:nvSpPr>
        <p:spPr>
          <a:xfrm>
            <a:off x="0" y="6534150"/>
            <a:ext cx="12192000" cy="952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03" name="Text 97"/>
          <p:cNvSpPr/>
          <p:nvPr/>
        </p:nvSpPr>
        <p:spPr>
          <a:xfrm>
            <a:off x="11463040" y="6643688"/>
            <a:ext cx="34796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3TOP</a:t>
            </a:r>
            <a:endParaRPr lang="en-US" sz="825" dirty="0">
              <a:latin typeface="Paperlogy 4 Regular" pitchFamily="2" charset="-127"/>
              <a:ea typeface="Paperlogy 4 Regular" pitchFamily="2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0389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183996" y="0"/>
            <a:ext cx="1330207" cy="51435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80975"/>
            <a:ext cx="92050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AI-SDLC 방법론</a:t>
            </a:r>
            <a:endParaRPr lang="en-US" sz="9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77702" y="190500"/>
            <a:ext cx="14942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&gt;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27125" y="180975"/>
            <a:ext cx="108064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85000"/>
                  </a:srgbClr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어떤 효과가 나는가?</a:t>
            </a:r>
            <a:endParaRPr lang="en-US" sz="9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341150" y="190500"/>
            <a:ext cx="4698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04 / 07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514350"/>
            <a:ext cx="12192000" cy="59055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0" y="1095375"/>
            <a:ext cx="12192000" cy="9525"/>
          </a:xfrm>
          <a:prstGeom prst="rect">
            <a:avLst/>
          </a:prstGeom>
          <a:solidFill>
            <a:srgbClr val="D0DCEF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661988"/>
            <a:ext cx="38100" cy="285750"/>
          </a:xfrm>
          <a:prstGeom prst="roundRect">
            <a:avLst>
              <a:gd name="adj" fmla="val 50000"/>
            </a:avLst>
          </a:prstGeom>
          <a:solidFill>
            <a:srgbClr val="00389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8650" y="671513"/>
            <a:ext cx="75544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altLang="ko-KR" sz="1725" b="1" kern="0" spc="-17" dirty="0" err="1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AI와</a:t>
            </a:r>
            <a:r>
              <a:rPr lang="en-US" altLang="ko-KR" sz="1725" b="1" kern="0" spc="-17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en-US" altLang="ko-KR" sz="1725" b="1" kern="0" spc="-17" dirty="0" err="1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협업으로</a:t>
            </a:r>
            <a:r>
              <a:rPr lang="en-US" altLang="ko-KR" sz="1725" b="1" kern="0" spc="-17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en-US" altLang="ko-KR" sz="1725" b="1" kern="0" spc="-17" dirty="0" err="1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의사결정은</a:t>
            </a:r>
            <a:r>
              <a:rPr lang="en-US" altLang="ko-KR" sz="1725" b="1" kern="0" spc="-17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en-US" altLang="ko-KR" sz="1725" b="1" kern="0" spc="-17" dirty="0" err="1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빨라지고</a:t>
            </a:r>
            <a:r>
              <a:rPr lang="en-US" altLang="ko-KR" sz="1725" b="1" kern="0" spc="-17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en-US" altLang="ko-KR" sz="1725" b="1" kern="0" spc="-17" dirty="0" err="1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재작업은</a:t>
            </a:r>
            <a:r>
              <a:rPr lang="en-US" altLang="ko-KR" sz="1725" b="1" kern="0" spc="-17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en-US" altLang="ko-KR" sz="1725" b="1" kern="0" spc="-17" dirty="0" err="1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줄어</a:t>
            </a:r>
            <a:r>
              <a:rPr lang="en-US" altLang="ko-KR" sz="1725" b="1" kern="0" spc="-17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, </a:t>
            </a:r>
            <a:r>
              <a:rPr lang="en-US" altLang="ko-KR" sz="1725" b="1" kern="0" spc="-17" dirty="0" err="1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일정이</a:t>
            </a:r>
            <a:r>
              <a:rPr lang="en-US" altLang="ko-KR" sz="1725" b="1" kern="0" spc="-17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en-US" altLang="ko-KR" sz="1725" b="1" kern="0" spc="-17" dirty="0" err="1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단축된다</a:t>
            </a:r>
            <a:endParaRPr lang="en-US" altLang="ko-KR" sz="17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45988" y="1276350"/>
            <a:ext cx="5678640" cy="1209675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55511" y="1285875"/>
            <a:ext cx="1620000" cy="11906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959788" y="1285875"/>
            <a:ext cx="9525" cy="119062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56884" y="1586630"/>
            <a:ext cx="102024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요구사항 확정</a:t>
            </a:r>
            <a:endParaRPr lang="en-US" sz="12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89501" y="1916474"/>
            <a:ext cx="41776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ko-KR" altLang="en-US" sz="1050" b="1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빠름</a:t>
            </a:r>
            <a:endParaRPr lang="en-US" sz="105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01601" y="1935524"/>
            <a:ext cx="56033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화면 보면서</a:t>
            </a:r>
            <a:endParaRPr lang="en-US" sz="8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091780" y="1541872"/>
            <a:ext cx="5715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0808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전통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483011" y="1517071"/>
            <a:ext cx="34200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요구사항 정의서 작성 → 회의 → 수정 → 재회의 (3~5회 반복)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091780" y="1772258"/>
            <a:ext cx="5715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</a:t>
            </a:r>
            <a:r>
              <a:rPr lang="ko-KR" altLang="en-US" sz="9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협업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483010" y="1747457"/>
            <a:ext cx="34200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프로토타입 시연 → “이거 맞아/아니야” → 즉시 수정 → 재시연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103428" y="2008307"/>
            <a:ext cx="3869107" cy="268486"/>
          </a:xfrm>
          <a:prstGeom prst="roundRect">
            <a:avLst>
              <a:gd name="adj" fmla="val 17738"/>
            </a:avLst>
          </a:prstGeom>
          <a:solidFill>
            <a:srgbClr val="EEFAF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091780" y="2050173"/>
            <a:ext cx="5715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875A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효과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483011" y="2025467"/>
            <a:ext cx="34200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073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현업이 결정할 “근거 데이터”가 화면으로 제공되어 결정 </a:t>
            </a:r>
            <a:r>
              <a:rPr lang="en-US" sz="1000" b="1" dirty="0" err="1">
                <a:solidFill>
                  <a:srgbClr val="0073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속도</a:t>
            </a:r>
            <a:r>
              <a:rPr lang="en-US" sz="1000" b="1" dirty="0">
                <a:solidFill>
                  <a:srgbClr val="0073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0073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향상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45988" y="2581275"/>
            <a:ext cx="5678640" cy="1209675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55511" y="2590800"/>
            <a:ext cx="1620000" cy="11906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959788" y="2590800"/>
            <a:ext cx="9525" cy="119062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2180" y="2885292"/>
            <a:ext cx="104980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현업 이해도</a:t>
            </a:r>
            <a:endParaRPr lang="en-US" sz="12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89501" y="3186962"/>
            <a:ext cx="30703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높음</a:t>
            </a:r>
            <a:endParaRPr lang="en-US" sz="105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901601" y="3206012"/>
            <a:ext cx="67553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화면 직접 조작</a:t>
            </a:r>
            <a:endParaRPr lang="en-US" sz="8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091780" y="2840534"/>
            <a:ext cx="5715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0808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전통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483010" y="2815733"/>
            <a:ext cx="34200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50페이지 문서 → 현업 “다 읽었는데 감이 안 와요”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2091780" y="3070920"/>
            <a:ext cx="5715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</a:t>
            </a:r>
            <a:r>
              <a:rPr lang="ko-KR" altLang="en-US" sz="9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협업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2483011" y="3046119"/>
            <a:ext cx="34200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동작하는 화면 → 현업 “아, 여기 이거 바꿔주세요”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103428" y="3306969"/>
            <a:ext cx="3869107" cy="268486"/>
          </a:xfrm>
          <a:prstGeom prst="roundRect">
            <a:avLst>
              <a:gd name="adj" fmla="val 17738"/>
            </a:avLst>
          </a:prstGeom>
          <a:solidFill>
            <a:srgbClr val="EEFAF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2091780" y="3348835"/>
            <a:ext cx="5715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875A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효과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2483011" y="3324129"/>
            <a:ext cx="34200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073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요건 변경률 50% 감소 (초기에 정확히 </a:t>
            </a:r>
            <a:r>
              <a:rPr lang="en-US" sz="1000" b="1" dirty="0" err="1">
                <a:solidFill>
                  <a:srgbClr val="0073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확인하므로</a:t>
            </a:r>
            <a:r>
              <a:rPr lang="en-US" sz="1000" b="1" dirty="0">
                <a:solidFill>
                  <a:srgbClr val="0073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 변경 최소화)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345988" y="3886200"/>
            <a:ext cx="5678640" cy="1209675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355512" y="3895725"/>
            <a:ext cx="1620000" cy="11906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1959788" y="3895725"/>
            <a:ext cx="9525" cy="119062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86864" y="4190217"/>
            <a:ext cx="8644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설계-구현 갭</a:t>
            </a:r>
            <a:endParaRPr lang="en-US" sz="12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501819" y="4538764"/>
            <a:ext cx="30703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ko-KR" altLang="en-US" sz="1050" b="1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적</a:t>
            </a:r>
            <a:r>
              <a:rPr lang="en-US" sz="1050" b="1" dirty="0" err="1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음</a:t>
            </a:r>
            <a:endParaRPr lang="en-US" sz="105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813919" y="4557776"/>
            <a:ext cx="1066483" cy="1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r>
              <a:rPr lang="en-US" sz="825" dirty="0" err="1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프로토타입</a:t>
            </a:r>
            <a:r>
              <a:rPr lang="ko-KR" altLang="en-US" sz="825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en-US" sz="825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= </a:t>
            </a:r>
            <a:r>
              <a:rPr lang="en-US" sz="825" dirty="0" err="1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코드베이스</a:t>
            </a:r>
            <a:endParaRPr lang="en-US" sz="825" dirty="0">
              <a:solidFill>
                <a:srgbClr val="5F7CA6"/>
              </a:solidFill>
              <a:latin typeface="Paperlogy 4 Regular" pitchFamily="2" charset="-127"/>
              <a:ea typeface="Paperlogy 4 Regular" pitchFamily="2" charset="-127"/>
              <a:cs typeface="Arial" pitchFamily="34" charset="-12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2091780" y="4145459"/>
            <a:ext cx="5715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0808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전통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2483010" y="4120658"/>
            <a:ext cx="34200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설계서대로 안 만들어짐 → 기획자/개발자 갈등 → 재작업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2091780" y="4375845"/>
            <a:ext cx="5715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</a:t>
            </a:r>
            <a:r>
              <a:rPr lang="ko-KR" altLang="en-US" sz="9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협업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2483011" y="4351044"/>
            <a:ext cx="34200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프로토타입 자체가 코드 → 실구현 시 Service만 교체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2103428" y="4611894"/>
            <a:ext cx="3799582" cy="253210"/>
          </a:xfrm>
          <a:prstGeom prst="roundRect">
            <a:avLst>
              <a:gd name="adj" fmla="val 17738"/>
            </a:avLst>
          </a:prstGeom>
          <a:solidFill>
            <a:srgbClr val="EEFAF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2091780" y="4653760"/>
            <a:ext cx="5715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875A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효과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2483011" y="4629054"/>
            <a:ext cx="34200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073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재작업 비용 제거, 설계 문서와 코드가 항상 동기화 상태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345988" y="5191125"/>
            <a:ext cx="5678640" cy="1209675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355512" y="5200650"/>
            <a:ext cx="1620000" cy="11906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1959788" y="5200650"/>
            <a:ext cx="9525" cy="119062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657899" y="5495142"/>
            <a:ext cx="78525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전체 일정</a:t>
            </a:r>
            <a:endParaRPr lang="en-US" sz="1275" dirty="0">
              <a:latin typeface="Paperlogy 4 Regular" pitchFamily="2" charset="-127"/>
              <a:ea typeface="Paperlogy 4 Regular" pitchFamily="2" charset="-127"/>
            </a:endParaRPr>
          </a:p>
        </p:txBody>
      </p: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55896603-FA20-EF01-B8E7-39842A68BC10}"/>
              </a:ext>
            </a:extLst>
          </p:cNvPr>
          <p:cNvGrpSpPr/>
          <p:nvPr/>
        </p:nvGrpSpPr>
        <p:grpSpPr>
          <a:xfrm>
            <a:off x="1382931" y="5836806"/>
            <a:ext cx="237083" cy="171450"/>
            <a:chOff x="1781903" y="5981700"/>
            <a:chExt cx="237083" cy="171450"/>
          </a:xfrm>
        </p:grpSpPr>
        <p:sp>
          <p:nvSpPr>
            <p:cNvPr id="79" name="Shape 77"/>
            <p:cNvSpPr/>
            <p:nvPr/>
          </p:nvSpPr>
          <p:spPr>
            <a:xfrm>
              <a:off x="1781903" y="5981700"/>
              <a:ext cx="237083" cy="152400"/>
            </a:xfrm>
            <a:prstGeom prst="roundRect">
              <a:avLst>
                <a:gd name="adj" fmla="val 25000"/>
              </a:avLst>
            </a:prstGeom>
            <a:solidFill>
              <a:srgbClr val="00BC70"/>
            </a:solidFill>
            <a:ln/>
          </p:spPr>
          <p:txBody>
            <a:bodyPr/>
            <a:lstStyle/>
            <a:p>
              <a:endParaRPr lang="ko-KR" altLang="en-US">
                <a:latin typeface="Paperlogy 4 Regular" pitchFamily="2" charset="-127"/>
                <a:ea typeface="Paperlogy 4 Regular" pitchFamily="2" charset="-127"/>
              </a:endParaRPr>
            </a:p>
          </p:txBody>
        </p:sp>
        <p:sp>
          <p:nvSpPr>
            <p:cNvPr id="80" name="Text 78"/>
            <p:cNvSpPr/>
            <p:nvPr/>
          </p:nvSpPr>
          <p:spPr>
            <a:xfrm>
              <a:off x="1848578" y="6000750"/>
              <a:ext cx="127442" cy="1524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825" b="1" dirty="0">
                  <a:solidFill>
                    <a:srgbClr val="FFFFFF"/>
                  </a:solidFill>
                  <a:latin typeface="Paperlogy 4 Regular" pitchFamily="2" charset="-127"/>
                  <a:ea typeface="Paperlogy 4 Regular" pitchFamily="2" charset="-127"/>
                  <a:cs typeface="Arial" pitchFamily="34" charset="-120"/>
                </a:rPr>
                <a:t>▼</a:t>
              </a:r>
              <a:endParaRPr lang="en-US" sz="825" dirty="0">
                <a:latin typeface="Paperlogy 4 Regular" pitchFamily="2" charset="-127"/>
                <a:ea typeface="Paperlogy 4 Regular" pitchFamily="2" charset="-127"/>
              </a:endParaRPr>
            </a:p>
          </p:txBody>
        </p:sp>
      </p:grpSp>
      <p:sp>
        <p:nvSpPr>
          <p:cNvPr id="81" name="Text 79"/>
          <p:cNvSpPr/>
          <p:nvPr/>
        </p:nvSpPr>
        <p:spPr>
          <a:xfrm>
            <a:off x="2091780" y="5450384"/>
            <a:ext cx="5715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0808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전통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2483011" y="5425583"/>
            <a:ext cx="34200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 err="1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설계</a:t>
            </a:r>
            <a:r>
              <a:rPr 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en-US" altLang="ko-KR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8</a:t>
            </a:r>
            <a:r>
              <a:rPr 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~</a:t>
            </a:r>
            <a:r>
              <a:rPr lang="en-US" altLang="ko-KR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12</a:t>
            </a:r>
            <a:r>
              <a:rPr 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주 + </a:t>
            </a:r>
            <a:r>
              <a:rPr lang="en-US" sz="1000" dirty="0" err="1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구현</a:t>
            </a:r>
            <a:r>
              <a:rPr 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en-US" altLang="ko-KR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16</a:t>
            </a:r>
            <a:r>
              <a:rPr 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~</a:t>
            </a:r>
            <a:r>
              <a:rPr lang="en-US" altLang="ko-KR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20</a:t>
            </a:r>
            <a:r>
              <a:rPr 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주 + 테스트 4주 (순차 진행)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2091780" y="5680770"/>
            <a:ext cx="5715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</a:t>
            </a:r>
            <a:r>
              <a:rPr lang="ko-KR" altLang="en-US" sz="9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협업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2483011" y="5655969"/>
            <a:ext cx="34200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설계+프로토타입 </a:t>
            </a:r>
            <a:r>
              <a:rPr lang="en-US" sz="1000" dirty="0" err="1">
                <a:solidFill>
                  <a:srgbClr val="333333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동시</a:t>
            </a:r>
            <a:r>
              <a:rPr lang="en-US" sz="1000" dirty="0">
                <a:solidFill>
                  <a:srgbClr val="333333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en-US" altLang="ko-KR" sz="1000" dirty="0">
                <a:solidFill>
                  <a:srgbClr val="333333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2</a:t>
            </a:r>
            <a:r>
              <a:rPr lang="en-US" sz="1000" dirty="0">
                <a:solidFill>
                  <a:srgbClr val="333333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~</a:t>
            </a:r>
            <a:r>
              <a:rPr lang="en-US" altLang="ko-KR" sz="1000" dirty="0">
                <a:solidFill>
                  <a:srgbClr val="333333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4</a:t>
            </a:r>
            <a:r>
              <a:rPr lang="en-US" sz="1000" dirty="0">
                <a:solidFill>
                  <a:srgbClr val="333333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주 → </a:t>
            </a:r>
            <a:r>
              <a:rPr lang="en-US" sz="1000" dirty="0" err="1">
                <a:solidFill>
                  <a:srgbClr val="333333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요건확정</a:t>
            </a:r>
            <a:r>
              <a:rPr lang="en-US" sz="1000" dirty="0">
                <a:solidFill>
                  <a:srgbClr val="333333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en-US" altLang="ko-KR" sz="1000" dirty="0">
                <a:solidFill>
                  <a:srgbClr val="333333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3</a:t>
            </a:r>
            <a:r>
              <a:rPr lang="en-US" sz="1000" dirty="0">
                <a:solidFill>
                  <a:srgbClr val="333333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~</a:t>
            </a:r>
            <a:r>
              <a:rPr lang="en-US" altLang="ko-KR" sz="1000" dirty="0">
                <a:solidFill>
                  <a:srgbClr val="333333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4</a:t>
            </a:r>
            <a:r>
              <a:rPr lang="en-US" sz="1000" dirty="0">
                <a:solidFill>
                  <a:srgbClr val="333333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주 → 실구현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2103429" y="5916819"/>
            <a:ext cx="3799582" cy="294382"/>
          </a:xfrm>
          <a:prstGeom prst="roundRect">
            <a:avLst>
              <a:gd name="adj" fmla="val 17738"/>
            </a:avLst>
          </a:prstGeom>
          <a:solidFill>
            <a:srgbClr val="EEFAF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2091780" y="5958685"/>
            <a:ext cx="5715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875A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효과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2483011" y="5933979"/>
            <a:ext cx="34200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073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설계/구현 병행 + 재작업 제거로 전체 30% 이상 단축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0" y="6534150"/>
            <a:ext cx="12192000" cy="952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11388898" y="6643688"/>
            <a:ext cx="34796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3TOP</a:t>
            </a:r>
            <a:endParaRPr lang="en-US" sz="8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90" name="Shape 10">
            <a:extLst>
              <a:ext uri="{FF2B5EF4-FFF2-40B4-BE49-F238E27FC236}">
                <a16:creationId xmlns:a16="http://schemas.microsoft.com/office/drawing/2014/main" id="{C6FCC18A-3440-B814-BD37-AF570D98AF54}"/>
              </a:ext>
            </a:extLst>
          </p:cNvPr>
          <p:cNvSpPr/>
          <p:nvPr/>
        </p:nvSpPr>
        <p:spPr>
          <a:xfrm>
            <a:off x="6231380" y="1266825"/>
            <a:ext cx="5678640" cy="1209675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91" name="Shape 11">
            <a:extLst>
              <a:ext uri="{FF2B5EF4-FFF2-40B4-BE49-F238E27FC236}">
                <a16:creationId xmlns:a16="http://schemas.microsoft.com/office/drawing/2014/main" id="{0DB79175-BE99-7C08-AB1C-B32F50F37478}"/>
              </a:ext>
            </a:extLst>
          </p:cNvPr>
          <p:cNvSpPr/>
          <p:nvPr/>
        </p:nvSpPr>
        <p:spPr>
          <a:xfrm>
            <a:off x="6240905" y="1276350"/>
            <a:ext cx="1620000" cy="11906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92" name="Shape 12">
            <a:extLst>
              <a:ext uri="{FF2B5EF4-FFF2-40B4-BE49-F238E27FC236}">
                <a16:creationId xmlns:a16="http://schemas.microsoft.com/office/drawing/2014/main" id="{84FE527A-5086-19BA-0E24-47C5FF2D5D63}"/>
              </a:ext>
            </a:extLst>
          </p:cNvPr>
          <p:cNvSpPr/>
          <p:nvPr/>
        </p:nvSpPr>
        <p:spPr>
          <a:xfrm>
            <a:off x="7867077" y="1276350"/>
            <a:ext cx="9525" cy="119062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93" name="Text 13">
            <a:extLst>
              <a:ext uri="{FF2B5EF4-FFF2-40B4-BE49-F238E27FC236}">
                <a16:creationId xmlns:a16="http://schemas.microsoft.com/office/drawing/2014/main" id="{E5FC3C32-6AA9-EC7F-0241-0D1C582DDF7D}"/>
              </a:ext>
            </a:extLst>
          </p:cNvPr>
          <p:cNvSpPr/>
          <p:nvPr/>
        </p:nvSpPr>
        <p:spPr>
          <a:xfrm>
            <a:off x="6412497" y="1586630"/>
            <a:ext cx="10054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산출물 정합성</a:t>
            </a:r>
            <a:endParaRPr lang="en-US" sz="12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01" name="Text 21">
            <a:extLst>
              <a:ext uri="{FF2B5EF4-FFF2-40B4-BE49-F238E27FC236}">
                <a16:creationId xmlns:a16="http://schemas.microsoft.com/office/drawing/2014/main" id="{538A17DB-5A45-DDEF-18C2-F5A963E73B7C}"/>
              </a:ext>
            </a:extLst>
          </p:cNvPr>
          <p:cNvSpPr/>
          <p:nvPr/>
        </p:nvSpPr>
        <p:spPr>
          <a:xfrm>
            <a:off x="7997723" y="1532347"/>
            <a:ext cx="5715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0808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전통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02" name="Text 22">
            <a:extLst>
              <a:ext uri="{FF2B5EF4-FFF2-40B4-BE49-F238E27FC236}">
                <a16:creationId xmlns:a16="http://schemas.microsoft.com/office/drawing/2014/main" id="{DE807854-330A-CCDF-50C1-4A19AEADCF5F}"/>
              </a:ext>
            </a:extLst>
          </p:cNvPr>
          <p:cNvSpPr/>
          <p:nvPr/>
        </p:nvSpPr>
        <p:spPr>
          <a:xfrm>
            <a:off x="8439987" y="1513297"/>
            <a:ext cx="3420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정책서·ERD·화면정의서 각각 따로 관리 → 불일치 발견 못함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03" name="Text 23">
            <a:extLst>
              <a:ext uri="{FF2B5EF4-FFF2-40B4-BE49-F238E27FC236}">
                <a16:creationId xmlns:a16="http://schemas.microsoft.com/office/drawing/2014/main" id="{8E3EFD2D-D973-FDB6-F1A8-E83E4FBB15D1}"/>
              </a:ext>
            </a:extLst>
          </p:cNvPr>
          <p:cNvSpPr/>
          <p:nvPr/>
        </p:nvSpPr>
        <p:spPr>
          <a:xfrm>
            <a:off x="7997723" y="1762733"/>
            <a:ext cx="5715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</a:t>
            </a:r>
            <a:r>
              <a:rPr lang="ko-KR" altLang="en-US" sz="9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협업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04" name="Text 24">
            <a:extLst>
              <a:ext uri="{FF2B5EF4-FFF2-40B4-BE49-F238E27FC236}">
                <a16:creationId xmlns:a16="http://schemas.microsoft.com/office/drawing/2014/main" id="{DE1D96AC-3DEB-28A9-8EDF-D9A5C5C33B6B}"/>
              </a:ext>
            </a:extLst>
          </p:cNvPr>
          <p:cNvSpPr/>
          <p:nvPr/>
        </p:nvSpPr>
        <p:spPr>
          <a:xfrm>
            <a:off x="8439989" y="1743683"/>
            <a:ext cx="34200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AI가 문서 간 크로스체크 자동 실행 → 불일치 즉시 발견·수정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05" name="Shape 25">
            <a:extLst>
              <a:ext uri="{FF2B5EF4-FFF2-40B4-BE49-F238E27FC236}">
                <a16:creationId xmlns:a16="http://schemas.microsoft.com/office/drawing/2014/main" id="{30F1DC76-F26F-805F-17B1-CA64C5871FC3}"/>
              </a:ext>
            </a:extLst>
          </p:cNvPr>
          <p:cNvSpPr/>
          <p:nvPr/>
        </p:nvSpPr>
        <p:spPr>
          <a:xfrm>
            <a:off x="7997723" y="2011138"/>
            <a:ext cx="3739135" cy="278011"/>
          </a:xfrm>
          <a:prstGeom prst="roundRect">
            <a:avLst>
              <a:gd name="adj" fmla="val 17738"/>
            </a:avLst>
          </a:prstGeom>
          <a:solidFill>
            <a:srgbClr val="EEFAF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56C67282-00E0-58E6-9D9C-696BF655930A}"/>
              </a:ext>
            </a:extLst>
          </p:cNvPr>
          <p:cNvSpPr/>
          <p:nvPr/>
        </p:nvSpPr>
        <p:spPr>
          <a:xfrm>
            <a:off x="7997723" y="2046399"/>
            <a:ext cx="5715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875A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효과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07" name="Text 27">
            <a:extLst>
              <a:ext uri="{FF2B5EF4-FFF2-40B4-BE49-F238E27FC236}">
                <a16:creationId xmlns:a16="http://schemas.microsoft.com/office/drawing/2014/main" id="{91543394-3E4A-2598-5ACD-71714BEA3DB9}"/>
              </a:ext>
            </a:extLst>
          </p:cNvPr>
          <p:cNvSpPr/>
          <p:nvPr/>
        </p:nvSpPr>
        <p:spPr>
          <a:xfrm>
            <a:off x="8439989" y="2021693"/>
            <a:ext cx="34200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073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설계 품질 95% 보장, 통합 테스트 단계 결함 대폭 감소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08" name="Shape 28">
            <a:extLst>
              <a:ext uri="{FF2B5EF4-FFF2-40B4-BE49-F238E27FC236}">
                <a16:creationId xmlns:a16="http://schemas.microsoft.com/office/drawing/2014/main" id="{172C2623-2648-4FF0-5613-5D66867DEC11}"/>
              </a:ext>
            </a:extLst>
          </p:cNvPr>
          <p:cNvSpPr/>
          <p:nvPr/>
        </p:nvSpPr>
        <p:spPr>
          <a:xfrm>
            <a:off x="6231380" y="2571750"/>
            <a:ext cx="5678640" cy="1209675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09" name="Shape 29">
            <a:extLst>
              <a:ext uri="{FF2B5EF4-FFF2-40B4-BE49-F238E27FC236}">
                <a16:creationId xmlns:a16="http://schemas.microsoft.com/office/drawing/2014/main" id="{C6B25313-5653-A26C-737A-D9B2F023111C}"/>
              </a:ext>
            </a:extLst>
          </p:cNvPr>
          <p:cNvSpPr/>
          <p:nvPr/>
        </p:nvSpPr>
        <p:spPr>
          <a:xfrm>
            <a:off x="6240905" y="2581275"/>
            <a:ext cx="1620000" cy="11906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10" name="Shape 30">
            <a:extLst>
              <a:ext uri="{FF2B5EF4-FFF2-40B4-BE49-F238E27FC236}">
                <a16:creationId xmlns:a16="http://schemas.microsoft.com/office/drawing/2014/main" id="{893518A4-4641-B260-A01A-F0B29D422103}"/>
              </a:ext>
            </a:extLst>
          </p:cNvPr>
          <p:cNvSpPr/>
          <p:nvPr/>
        </p:nvSpPr>
        <p:spPr>
          <a:xfrm>
            <a:off x="7867077" y="2581275"/>
            <a:ext cx="9525" cy="119062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11" name="Text 31">
            <a:extLst>
              <a:ext uri="{FF2B5EF4-FFF2-40B4-BE49-F238E27FC236}">
                <a16:creationId xmlns:a16="http://schemas.microsoft.com/office/drawing/2014/main" id="{D95C1A08-5365-1EBB-31E5-3CD9E0E30EA9}"/>
              </a:ext>
            </a:extLst>
          </p:cNvPr>
          <p:cNvSpPr/>
          <p:nvPr/>
        </p:nvSpPr>
        <p:spPr>
          <a:xfrm>
            <a:off x="6437549" y="2885292"/>
            <a:ext cx="10054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의사결정 지연</a:t>
            </a:r>
            <a:endParaRPr lang="en-US" sz="12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18" name="Text 38">
            <a:extLst>
              <a:ext uri="{FF2B5EF4-FFF2-40B4-BE49-F238E27FC236}">
                <a16:creationId xmlns:a16="http://schemas.microsoft.com/office/drawing/2014/main" id="{07CED71C-3CCA-27A8-A492-ADBF7DFCB090}"/>
              </a:ext>
            </a:extLst>
          </p:cNvPr>
          <p:cNvSpPr/>
          <p:nvPr/>
        </p:nvSpPr>
        <p:spPr>
          <a:xfrm>
            <a:off x="6512615" y="3186962"/>
            <a:ext cx="30703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해소</a:t>
            </a:r>
            <a:endParaRPr lang="en-US" sz="105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19" name="Text 39">
            <a:extLst>
              <a:ext uri="{FF2B5EF4-FFF2-40B4-BE49-F238E27FC236}">
                <a16:creationId xmlns:a16="http://schemas.microsoft.com/office/drawing/2014/main" id="{E737AEF3-6C47-9134-B726-0BD11156E930}"/>
              </a:ext>
            </a:extLst>
          </p:cNvPr>
          <p:cNvSpPr/>
          <p:nvPr/>
        </p:nvSpPr>
        <p:spPr>
          <a:xfrm>
            <a:off x="6824715" y="3206012"/>
            <a:ext cx="61828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 err="1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선택</a:t>
            </a:r>
            <a:r>
              <a:rPr lang="ko-KR" altLang="en-US" sz="825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과</a:t>
            </a:r>
            <a:r>
              <a:rPr lang="en-US" sz="825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en-US" sz="825" dirty="0" err="1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확인</a:t>
            </a:r>
            <a:endParaRPr lang="en-US" sz="8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20" name="Text 40">
            <a:extLst>
              <a:ext uri="{FF2B5EF4-FFF2-40B4-BE49-F238E27FC236}">
                <a16:creationId xmlns:a16="http://schemas.microsoft.com/office/drawing/2014/main" id="{26818F1A-6E92-A78B-B895-3A84C7CCA08F}"/>
              </a:ext>
            </a:extLst>
          </p:cNvPr>
          <p:cNvSpPr/>
          <p:nvPr/>
        </p:nvSpPr>
        <p:spPr>
          <a:xfrm>
            <a:off x="7997723" y="2831009"/>
            <a:ext cx="5715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0808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전통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21" name="Text 41">
            <a:extLst>
              <a:ext uri="{FF2B5EF4-FFF2-40B4-BE49-F238E27FC236}">
                <a16:creationId xmlns:a16="http://schemas.microsoft.com/office/drawing/2014/main" id="{3047D38F-194A-1C9F-EE46-ED885C9E5353}"/>
              </a:ext>
            </a:extLst>
          </p:cNvPr>
          <p:cNvSpPr/>
          <p:nvPr/>
        </p:nvSpPr>
        <p:spPr>
          <a:xfrm>
            <a:off x="8439988" y="2811959"/>
            <a:ext cx="34200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“어떻게 할까요?” → 현업 “검토 후 알려드릴게요” → 2주 대기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22" name="Text 42">
            <a:extLst>
              <a:ext uri="{FF2B5EF4-FFF2-40B4-BE49-F238E27FC236}">
                <a16:creationId xmlns:a16="http://schemas.microsoft.com/office/drawing/2014/main" id="{7FA46703-89CB-E089-5F34-AF170E42C1A0}"/>
              </a:ext>
            </a:extLst>
          </p:cNvPr>
          <p:cNvSpPr/>
          <p:nvPr/>
        </p:nvSpPr>
        <p:spPr>
          <a:xfrm>
            <a:off x="7997723" y="3061395"/>
            <a:ext cx="5715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</a:t>
            </a:r>
            <a:r>
              <a:rPr lang="ko-KR" altLang="en-US" sz="9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협업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23" name="Text 43">
            <a:extLst>
              <a:ext uri="{FF2B5EF4-FFF2-40B4-BE49-F238E27FC236}">
                <a16:creationId xmlns:a16="http://schemas.microsoft.com/office/drawing/2014/main" id="{722099A8-39A1-7C30-3077-9B7920D74B06}"/>
              </a:ext>
            </a:extLst>
          </p:cNvPr>
          <p:cNvSpPr/>
          <p:nvPr/>
        </p:nvSpPr>
        <p:spPr>
          <a:xfrm>
            <a:off x="8439989" y="3042345"/>
            <a:ext cx="34200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“A안/B안 화면 보세요” → 현업 “B로 갑시다” → 당일 확정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24" name="Shape 44">
            <a:extLst>
              <a:ext uri="{FF2B5EF4-FFF2-40B4-BE49-F238E27FC236}">
                <a16:creationId xmlns:a16="http://schemas.microsoft.com/office/drawing/2014/main" id="{3329A9F8-849B-6C08-53B6-CFD523A58A5A}"/>
              </a:ext>
            </a:extLst>
          </p:cNvPr>
          <p:cNvSpPr/>
          <p:nvPr/>
        </p:nvSpPr>
        <p:spPr>
          <a:xfrm>
            <a:off x="7997723" y="3322158"/>
            <a:ext cx="3739135" cy="238030"/>
          </a:xfrm>
          <a:prstGeom prst="roundRect">
            <a:avLst>
              <a:gd name="adj" fmla="val 17738"/>
            </a:avLst>
          </a:prstGeom>
          <a:solidFill>
            <a:srgbClr val="EEFAF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25" name="Text 45">
            <a:extLst>
              <a:ext uri="{FF2B5EF4-FFF2-40B4-BE49-F238E27FC236}">
                <a16:creationId xmlns:a16="http://schemas.microsoft.com/office/drawing/2014/main" id="{EE456418-BF0A-43D8-9036-9F91E9484C1E}"/>
              </a:ext>
            </a:extLst>
          </p:cNvPr>
          <p:cNvSpPr/>
          <p:nvPr/>
        </p:nvSpPr>
        <p:spPr>
          <a:xfrm>
            <a:off x="7997723" y="3345061"/>
            <a:ext cx="5715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875A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효과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26" name="Text 46">
            <a:extLst>
              <a:ext uri="{FF2B5EF4-FFF2-40B4-BE49-F238E27FC236}">
                <a16:creationId xmlns:a16="http://schemas.microsoft.com/office/drawing/2014/main" id="{050356A2-E8F2-FE7F-0713-E33736253F99}"/>
              </a:ext>
            </a:extLst>
          </p:cNvPr>
          <p:cNvSpPr/>
          <p:nvPr/>
        </p:nvSpPr>
        <p:spPr>
          <a:xfrm>
            <a:off x="8439988" y="3320355"/>
            <a:ext cx="34200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073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의사결정 사이클 2주 → 1~2일로 단축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27" name="Shape 47">
            <a:extLst>
              <a:ext uri="{FF2B5EF4-FFF2-40B4-BE49-F238E27FC236}">
                <a16:creationId xmlns:a16="http://schemas.microsoft.com/office/drawing/2014/main" id="{76B84EA9-703A-3DC5-5831-E4F5B3A4C0F7}"/>
              </a:ext>
            </a:extLst>
          </p:cNvPr>
          <p:cNvSpPr/>
          <p:nvPr/>
        </p:nvSpPr>
        <p:spPr>
          <a:xfrm>
            <a:off x="6231380" y="3876675"/>
            <a:ext cx="5678640" cy="1209675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28" name="Shape 48">
            <a:extLst>
              <a:ext uri="{FF2B5EF4-FFF2-40B4-BE49-F238E27FC236}">
                <a16:creationId xmlns:a16="http://schemas.microsoft.com/office/drawing/2014/main" id="{A973EF90-F90E-3DFD-8E4C-FC33CE23B167}"/>
              </a:ext>
            </a:extLst>
          </p:cNvPr>
          <p:cNvSpPr/>
          <p:nvPr/>
        </p:nvSpPr>
        <p:spPr>
          <a:xfrm>
            <a:off x="6240905" y="3886200"/>
            <a:ext cx="1620000" cy="11906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29" name="Shape 49">
            <a:extLst>
              <a:ext uri="{FF2B5EF4-FFF2-40B4-BE49-F238E27FC236}">
                <a16:creationId xmlns:a16="http://schemas.microsoft.com/office/drawing/2014/main" id="{674685E1-69AC-82FD-D60B-CFBBE19AF3CA}"/>
              </a:ext>
            </a:extLst>
          </p:cNvPr>
          <p:cNvSpPr/>
          <p:nvPr/>
        </p:nvSpPr>
        <p:spPr>
          <a:xfrm>
            <a:off x="7867077" y="3886200"/>
            <a:ext cx="9525" cy="119062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30" name="Text 50">
            <a:extLst>
              <a:ext uri="{FF2B5EF4-FFF2-40B4-BE49-F238E27FC236}">
                <a16:creationId xmlns:a16="http://schemas.microsoft.com/office/drawing/2014/main" id="{9EAF1768-844A-D098-1680-64D22070FDA3}"/>
              </a:ext>
            </a:extLst>
          </p:cNvPr>
          <p:cNvSpPr/>
          <p:nvPr/>
        </p:nvSpPr>
        <p:spPr>
          <a:xfrm>
            <a:off x="6619176" y="4190217"/>
            <a:ext cx="10054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재사용성</a:t>
            </a:r>
            <a:endParaRPr lang="en-US" sz="12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36" name="Text 56">
            <a:extLst>
              <a:ext uri="{FF2B5EF4-FFF2-40B4-BE49-F238E27FC236}">
                <a16:creationId xmlns:a16="http://schemas.microsoft.com/office/drawing/2014/main" id="{6FD1E9C1-E35F-3B00-F643-08A1881E1AFB}"/>
              </a:ext>
            </a:extLst>
          </p:cNvPr>
          <p:cNvSpPr/>
          <p:nvPr/>
        </p:nvSpPr>
        <p:spPr>
          <a:xfrm>
            <a:off x="6437459" y="4538764"/>
            <a:ext cx="117118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ko-KR" altLang="en-US" sz="1050" b="1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초안 </a:t>
            </a:r>
            <a:r>
              <a:rPr lang="en-US" altLang="ko-KR" sz="1050" b="1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+</a:t>
            </a:r>
            <a:r>
              <a:rPr lang="ko-KR" altLang="en-US" sz="1050" b="1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템플릿  </a:t>
            </a:r>
            <a:r>
              <a:rPr lang="en-US" sz="1050" b="1" dirty="0" err="1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재활용</a:t>
            </a:r>
            <a:endParaRPr lang="en-US" sz="105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37" name="Text 57">
            <a:extLst>
              <a:ext uri="{FF2B5EF4-FFF2-40B4-BE49-F238E27FC236}">
                <a16:creationId xmlns:a16="http://schemas.microsoft.com/office/drawing/2014/main" id="{EA4FA8B4-5D7F-CBE2-C6B2-84E82821B85B}"/>
              </a:ext>
            </a:extLst>
          </p:cNvPr>
          <p:cNvSpPr/>
          <p:nvPr/>
        </p:nvSpPr>
        <p:spPr>
          <a:xfrm>
            <a:off x="7997723" y="4135934"/>
            <a:ext cx="5715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0808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전통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38" name="Text 58">
            <a:extLst>
              <a:ext uri="{FF2B5EF4-FFF2-40B4-BE49-F238E27FC236}">
                <a16:creationId xmlns:a16="http://schemas.microsoft.com/office/drawing/2014/main" id="{9DA2724D-C772-61C4-706D-AFA7EF131184}"/>
              </a:ext>
            </a:extLst>
          </p:cNvPr>
          <p:cNvSpPr/>
          <p:nvPr/>
        </p:nvSpPr>
        <p:spPr>
          <a:xfrm>
            <a:off x="8439988" y="4116884"/>
            <a:ext cx="34200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프로젝트 종료 → 산출물 아카이브 → 다음 프로젝트에서 참고만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39" name="Text 59">
            <a:extLst>
              <a:ext uri="{FF2B5EF4-FFF2-40B4-BE49-F238E27FC236}">
                <a16:creationId xmlns:a16="http://schemas.microsoft.com/office/drawing/2014/main" id="{86B842DE-20A0-6063-25AA-F0FD6C86B99A}"/>
              </a:ext>
            </a:extLst>
          </p:cNvPr>
          <p:cNvSpPr/>
          <p:nvPr/>
        </p:nvSpPr>
        <p:spPr>
          <a:xfrm>
            <a:off x="7997723" y="4366320"/>
            <a:ext cx="5715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</a:t>
            </a:r>
            <a:r>
              <a:rPr lang="ko-KR" altLang="en-US" sz="9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협업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40" name="Text 60">
            <a:extLst>
              <a:ext uri="{FF2B5EF4-FFF2-40B4-BE49-F238E27FC236}">
                <a16:creationId xmlns:a16="http://schemas.microsoft.com/office/drawing/2014/main" id="{B02AC36E-4D4E-4AAF-6F68-E95BF75E738D}"/>
              </a:ext>
            </a:extLst>
          </p:cNvPr>
          <p:cNvSpPr/>
          <p:nvPr/>
        </p:nvSpPr>
        <p:spPr>
          <a:xfrm>
            <a:off x="8439988" y="4347270"/>
            <a:ext cx="34200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설계 템플릿 + 코드 템플릿 → 변수 치환으로 즉시 재활용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41" name="Shape 61">
            <a:extLst>
              <a:ext uri="{FF2B5EF4-FFF2-40B4-BE49-F238E27FC236}">
                <a16:creationId xmlns:a16="http://schemas.microsoft.com/office/drawing/2014/main" id="{64515005-33D3-DAF8-85E6-FF93B9BE6A7C}"/>
              </a:ext>
            </a:extLst>
          </p:cNvPr>
          <p:cNvSpPr/>
          <p:nvPr/>
        </p:nvSpPr>
        <p:spPr>
          <a:xfrm>
            <a:off x="7997722" y="4639440"/>
            <a:ext cx="3739135" cy="250378"/>
          </a:xfrm>
          <a:prstGeom prst="roundRect">
            <a:avLst>
              <a:gd name="adj" fmla="val 17738"/>
            </a:avLst>
          </a:prstGeom>
          <a:solidFill>
            <a:srgbClr val="EEFAF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42" name="Text 62">
            <a:extLst>
              <a:ext uri="{FF2B5EF4-FFF2-40B4-BE49-F238E27FC236}">
                <a16:creationId xmlns:a16="http://schemas.microsoft.com/office/drawing/2014/main" id="{276984C8-A73B-EBAE-8CAB-B4382EFC3F49}"/>
              </a:ext>
            </a:extLst>
          </p:cNvPr>
          <p:cNvSpPr/>
          <p:nvPr/>
        </p:nvSpPr>
        <p:spPr>
          <a:xfrm>
            <a:off x="7997723" y="4639568"/>
            <a:ext cx="5715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875A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효과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43" name="Text 63">
            <a:extLst>
              <a:ext uri="{FF2B5EF4-FFF2-40B4-BE49-F238E27FC236}">
                <a16:creationId xmlns:a16="http://schemas.microsoft.com/office/drawing/2014/main" id="{5E146520-C7BA-ABA8-872F-D6D92C4D6711}"/>
              </a:ext>
            </a:extLst>
          </p:cNvPr>
          <p:cNvSpPr/>
          <p:nvPr/>
        </p:nvSpPr>
        <p:spPr>
          <a:xfrm>
            <a:off x="8439988" y="4625280"/>
            <a:ext cx="3420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073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2번째 프로젝트부터 초기 </a:t>
            </a:r>
            <a:r>
              <a:rPr lang="en-US" sz="1000" b="1" dirty="0" err="1">
                <a:solidFill>
                  <a:srgbClr val="0073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산출물</a:t>
            </a:r>
            <a:r>
              <a:rPr lang="en-US" sz="1000" b="1" dirty="0">
                <a:solidFill>
                  <a:srgbClr val="0073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en-US" altLang="ko-KR" sz="1000" b="1" dirty="0">
                <a:solidFill>
                  <a:srgbClr val="0073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1</a:t>
            </a:r>
            <a:r>
              <a:rPr lang="ko-KR" altLang="en-US" sz="1000" b="1" dirty="0">
                <a:solidFill>
                  <a:srgbClr val="0073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주일</a:t>
            </a:r>
            <a:r>
              <a:rPr lang="en-US" sz="1000" b="1" dirty="0">
                <a:solidFill>
                  <a:srgbClr val="0073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내 </a:t>
            </a:r>
            <a:r>
              <a:rPr lang="en-US" sz="1000" b="1" dirty="0" err="1">
                <a:solidFill>
                  <a:srgbClr val="0073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생성</a:t>
            </a:r>
            <a:r>
              <a:rPr lang="en-US" sz="1000" b="1" dirty="0">
                <a:solidFill>
                  <a:srgbClr val="0073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44" name="Shape 64">
            <a:extLst>
              <a:ext uri="{FF2B5EF4-FFF2-40B4-BE49-F238E27FC236}">
                <a16:creationId xmlns:a16="http://schemas.microsoft.com/office/drawing/2014/main" id="{91651F5D-9320-9573-D1C3-B629DE45559C}"/>
              </a:ext>
            </a:extLst>
          </p:cNvPr>
          <p:cNvSpPr/>
          <p:nvPr/>
        </p:nvSpPr>
        <p:spPr>
          <a:xfrm>
            <a:off x="6231380" y="5181600"/>
            <a:ext cx="5678640" cy="1209675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45" name="Shape 65">
            <a:extLst>
              <a:ext uri="{FF2B5EF4-FFF2-40B4-BE49-F238E27FC236}">
                <a16:creationId xmlns:a16="http://schemas.microsoft.com/office/drawing/2014/main" id="{D5846A46-3557-F692-B438-BF66825DB16C}"/>
              </a:ext>
            </a:extLst>
          </p:cNvPr>
          <p:cNvSpPr/>
          <p:nvPr/>
        </p:nvSpPr>
        <p:spPr>
          <a:xfrm>
            <a:off x="6240905" y="5191125"/>
            <a:ext cx="1620000" cy="119062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46" name="Shape 66">
            <a:extLst>
              <a:ext uri="{FF2B5EF4-FFF2-40B4-BE49-F238E27FC236}">
                <a16:creationId xmlns:a16="http://schemas.microsoft.com/office/drawing/2014/main" id="{B29E3D6D-7B45-E6AA-302B-15BCF67C3095}"/>
              </a:ext>
            </a:extLst>
          </p:cNvPr>
          <p:cNvSpPr/>
          <p:nvPr/>
        </p:nvSpPr>
        <p:spPr>
          <a:xfrm>
            <a:off x="7867077" y="5191125"/>
            <a:ext cx="9525" cy="119062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47" name="Text 67">
            <a:extLst>
              <a:ext uri="{FF2B5EF4-FFF2-40B4-BE49-F238E27FC236}">
                <a16:creationId xmlns:a16="http://schemas.microsoft.com/office/drawing/2014/main" id="{C2D36578-7863-9323-2B80-D1CF18C7C2CD}"/>
              </a:ext>
            </a:extLst>
          </p:cNvPr>
          <p:cNvSpPr/>
          <p:nvPr/>
        </p:nvSpPr>
        <p:spPr>
          <a:xfrm>
            <a:off x="6581598" y="5495142"/>
            <a:ext cx="10054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인력 의존도</a:t>
            </a:r>
            <a:endParaRPr lang="en-US" sz="12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54" name="Text 74">
            <a:extLst>
              <a:ext uri="{FF2B5EF4-FFF2-40B4-BE49-F238E27FC236}">
                <a16:creationId xmlns:a16="http://schemas.microsoft.com/office/drawing/2014/main" id="{374FDBCF-A0E6-5BBE-D114-3A25A9F162DB}"/>
              </a:ext>
            </a:extLst>
          </p:cNvPr>
          <p:cNvSpPr/>
          <p:nvPr/>
        </p:nvSpPr>
        <p:spPr>
          <a:xfrm>
            <a:off x="6493826" y="5822519"/>
            <a:ext cx="30703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낮음</a:t>
            </a:r>
            <a:endParaRPr lang="en-US" sz="105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55" name="Text 75">
            <a:extLst>
              <a:ext uri="{FF2B5EF4-FFF2-40B4-BE49-F238E27FC236}">
                <a16:creationId xmlns:a16="http://schemas.microsoft.com/office/drawing/2014/main" id="{77769D21-4561-0221-8779-3AE6EBD1A39B}"/>
              </a:ext>
            </a:extLst>
          </p:cNvPr>
          <p:cNvSpPr/>
          <p:nvPr/>
        </p:nvSpPr>
        <p:spPr>
          <a:xfrm>
            <a:off x="6805926" y="5841569"/>
            <a:ext cx="76780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자산에 경험 축적</a:t>
            </a:r>
            <a:endParaRPr lang="en-US" sz="8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56" name="Text 76">
            <a:extLst>
              <a:ext uri="{FF2B5EF4-FFF2-40B4-BE49-F238E27FC236}">
                <a16:creationId xmlns:a16="http://schemas.microsoft.com/office/drawing/2014/main" id="{BD59BC8D-43A6-F8AE-D1FC-3D27D3FB3DF2}"/>
              </a:ext>
            </a:extLst>
          </p:cNvPr>
          <p:cNvSpPr/>
          <p:nvPr/>
        </p:nvSpPr>
        <p:spPr>
          <a:xfrm>
            <a:off x="7997723" y="5440859"/>
            <a:ext cx="5715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0808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전통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57" name="Text 77">
            <a:extLst>
              <a:ext uri="{FF2B5EF4-FFF2-40B4-BE49-F238E27FC236}">
                <a16:creationId xmlns:a16="http://schemas.microsoft.com/office/drawing/2014/main" id="{5F723A56-05F6-8174-0303-140F9EB1008B}"/>
              </a:ext>
            </a:extLst>
          </p:cNvPr>
          <p:cNvSpPr/>
          <p:nvPr/>
        </p:nvSpPr>
        <p:spPr>
          <a:xfrm>
            <a:off x="8439988" y="5421809"/>
            <a:ext cx="34200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핵심 인력 이탈 → 설계 의도 소실 → 프로젝트 지연·품질 저하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58" name="Text 78">
            <a:extLst>
              <a:ext uri="{FF2B5EF4-FFF2-40B4-BE49-F238E27FC236}">
                <a16:creationId xmlns:a16="http://schemas.microsoft.com/office/drawing/2014/main" id="{0DFC21A4-81F6-57BA-B860-57A542665CCE}"/>
              </a:ext>
            </a:extLst>
          </p:cNvPr>
          <p:cNvSpPr/>
          <p:nvPr/>
        </p:nvSpPr>
        <p:spPr>
          <a:xfrm>
            <a:off x="7997723" y="5671245"/>
            <a:ext cx="5715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</a:t>
            </a:r>
            <a:r>
              <a:rPr lang="ko-KR" altLang="en-US" sz="9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협업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59" name="Text 79">
            <a:extLst>
              <a:ext uri="{FF2B5EF4-FFF2-40B4-BE49-F238E27FC236}">
                <a16:creationId xmlns:a16="http://schemas.microsoft.com/office/drawing/2014/main" id="{834F35B1-8A57-E0C0-C945-A6E6153BD5A6}"/>
              </a:ext>
            </a:extLst>
          </p:cNvPr>
          <p:cNvSpPr/>
          <p:nvPr/>
        </p:nvSpPr>
        <p:spPr>
          <a:xfrm>
            <a:off x="8439988" y="5652195"/>
            <a:ext cx="34200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정책·설계·패턴이 자산으로 축적 → 누가 해도 동일 품질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60" name="Shape 80">
            <a:extLst>
              <a:ext uri="{FF2B5EF4-FFF2-40B4-BE49-F238E27FC236}">
                <a16:creationId xmlns:a16="http://schemas.microsoft.com/office/drawing/2014/main" id="{569D81F2-89DA-76D8-A948-FAEC507ABEDA}"/>
              </a:ext>
            </a:extLst>
          </p:cNvPr>
          <p:cNvSpPr/>
          <p:nvPr/>
        </p:nvSpPr>
        <p:spPr>
          <a:xfrm>
            <a:off x="7997722" y="5907293"/>
            <a:ext cx="3739135" cy="303907"/>
          </a:xfrm>
          <a:prstGeom prst="roundRect">
            <a:avLst>
              <a:gd name="adj" fmla="val 17738"/>
            </a:avLst>
          </a:prstGeom>
          <a:solidFill>
            <a:srgbClr val="EEFAF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61" name="Text 81">
            <a:extLst>
              <a:ext uri="{FF2B5EF4-FFF2-40B4-BE49-F238E27FC236}">
                <a16:creationId xmlns:a16="http://schemas.microsoft.com/office/drawing/2014/main" id="{38C3B013-0985-C4F2-8DD7-EDB3C1470E74}"/>
              </a:ext>
            </a:extLst>
          </p:cNvPr>
          <p:cNvSpPr/>
          <p:nvPr/>
        </p:nvSpPr>
        <p:spPr>
          <a:xfrm>
            <a:off x="7997723" y="5954911"/>
            <a:ext cx="5715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875A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효과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62" name="Text 82">
            <a:extLst>
              <a:ext uri="{FF2B5EF4-FFF2-40B4-BE49-F238E27FC236}">
                <a16:creationId xmlns:a16="http://schemas.microsoft.com/office/drawing/2014/main" id="{900644BE-109D-BCE5-FF92-4220E18E5626}"/>
              </a:ext>
            </a:extLst>
          </p:cNvPr>
          <p:cNvSpPr/>
          <p:nvPr/>
        </p:nvSpPr>
        <p:spPr>
          <a:xfrm>
            <a:off x="8439989" y="5930205"/>
            <a:ext cx="3420000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0734D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인수인계 비용 최소화, 신규 투입 인력도 즉시 생산 가능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63" name="Text 58">
            <a:extLst>
              <a:ext uri="{FF2B5EF4-FFF2-40B4-BE49-F238E27FC236}">
                <a16:creationId xmlns:a16="http://schemas.microsoft.com/office/drawing/2014/main" id="{6BE8E868-679F-C319-2F56-6AAD72DE41FB}"/>
              </a:ext>
            </a:extLst>
          </p:cNvPr>
          <p:cNvSpPr/>
          <p:nvPr/>
        </p:nvSpPr>
        <p:spPr>
          <a:xfrm>
            <a:off x="533134" y="5822519"/>
            <a:ext cx="30703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ko-KR" altLang="en-US" sz="1050" b="1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감소</a:t>
            </a:r>
            <a:endParaRPr lang="en-US" sz="105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64" name="Text 40">
            <a:extLst>
              <a:ext uri="{FF2B5EF4-FFF2-40B4-BE49-F238E27FC236}">
                <a16:creationId xmlns:a16="http://schemas.microsoft.com/office/drawing/2014/main" id="{230BA085-68A2-A4A1-2C58-1BEB7B2DFC6A}"/>
              </a:ext>
            </a:extLst>
          </p:cNvPr>
          <p:cNvSpPr/>
          <p:nvPr/>
        </p:nvSpPr>
        <p:spPr>
          <a:xfrm>
            <a:off x="845234" y="5841569"/>
            <a:ext cx="67553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altLang="ko-KR" sz="825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30%</a:t>
            </a:r>
            <a:r>
              <a:rPr lang="ko-KR" altLang="en-US" sz="825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단축</a:t>
            </a:r>
            <a:endParaRPr lang="en-US" sz="8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68" name="Text 20">
            <a:extLst>
              <a:ext uri="{FF2B5EF4-FFF2-40B4-BE49-F238E27FC236}">
                <a16:creationId xmlns:a16="http://schemas.microsoft.com/office/drawing/2014/main" id="{0FA92EF9-C258-061B-E944-F927C6026658}"/>
              </a:ext>
            </a:extLst>
          </p:cNvPr>
          <p:cNvSpPr/>
          <p:nvPr/>
        </p:nvSpPr>
        <p:spPr>
          <a:xfrm>
            <a:off x="6487563" y="1916474"/>
            <a:ext cx="41776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ko-KR" altLang="en-US" sz="1050" b="1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자동</a:t>
            </a:r>
            <a:endParaRPr lang="en-US" sz="105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69" name="Text 21">
            <a:extLst>
              <a:ext uri="{FF2B5EF4-FFF2-40B4-BE49-F238E27FC236}">
                <a16:creationId xmlns:a16="http://schemas.microsoft.com/office/drawing/2014/main" id="{32EE9B42-F8B1-B1FC-D042-7CFFA59FE64F}"/>
              </a:ext>
            </a:extLst>
          </p:cNvPr>
          <p:cNvSpPr/>
          <p:nvPr/>
        </p:nvSpPr>
        <p:spPr>
          <a:xfrm>
            <a:off x="6799663" y="1935524"/>
            <a:ext cx="56033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ko-KR" altLang="en-US" sz="825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크로스 체크</a:t>
            </a:r>
            <a:endParaRPr lang="en-US" sz="825" dirty="0">
              <a:latin typeface="Paperlogy 4 Regular" pitchFamily="2" charset="-127"/>
              <a:ea typeface="Paperlogy 4 Regular" pitchFamily="2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14350"/>
          </a:xfrm>
          <a:prstGeom prst="rect">
            <a:avLst/>
          </a:prstGeom>
          <a:solidFill>
            <a:srgbClr val="00389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183996" y="0"/>
            <a:ext cx="1330207" cy="51435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80975"/>
            <a:ext cx="92050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AI-SDLC 방법론</a:t>
            </a:r>
            <a:endParaRPr lang="en-US" sz="9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77702" y="190500"/>
            <a:ext cx="14942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&gt;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27125" y="180975"/>
            <a:ext cx="94446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>
                    <a:alpha val="85000"/>
                  </a:srgbClr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무엇이 필요한가?</a:t>
            </a:r>
            <a:endParaRPr lang="en-US" sz="9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341150" y="190500"/>
            <a:ext cx="4698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04 / 05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514350"/>
            <a:ext cx="12192000" cy="59055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0" y="1095375"/>
            <a:ext cx="12192000" cy="9525"/>
          </a:xfrm>
          <a:prstGeom prst="rect">
            <a:avLst/>
          </a:prstGeom>
          <a:solidFill>
            <a:srgbClr val="D0DCEF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661988"/>
            <a:ext cx="38100" cy="285750"/>
          </a:xfrm>
          <a:prstGeom prst="roundRect">
            <a:avLst>
              <a:gd name="adj" fmla="val 50000"/>
            </a:avLst>
          </a:prstGeom>
          <a:solidFill>
            <a:srgbClr val="00389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8650" y="671513"/>
            <a:ext cx="417741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kern="0" spc="-17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 와 협업이 가능한 재사용 자산이 필요하다.</a:t>
            </a:r>
            <a:endParaRPr lang="en-US" sz="17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1433708"/>
            <a:ext cx="386427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자산 </a:t>
            </a:r>
            <a:r>
              <a:rPr lang="en-US" sz="1200" b="1" dirty="0" err="1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현황</a:t>
            </a:r>
            <a:r>
              <a:rPr lang="en-US" sz="1125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ko-KR" altLang="en-US" sz="1125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   </a:t>
            </a:r>
            <a:r>
              <a:rPr lang="en-US" sz="1000" dirty="0" err="1">
                <a:solidFill>
                  <a:srgbClr val="80808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현재</a:t>
            </a:r>
            <a:r>
              <a:rPr lang="en-US" sz="1000" dirty="0">
                <a:solidFill>
                  <a:srgbClr val="80808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→ 목표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1854504"/>
            <a:ext cx="5187553" cy="431822"/>
          </a:xfrm>
          <a:prstGeom prst="roundRect">
            <a:avLst>
              <a:gd name="adj" fmla="val 14634"/>
            </a:avLst>
          </a:prstGeom>
          <a:ln w="9525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25336" y="1981330"/>
            <a:ext cx="13786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설계 초안 5종</a:t>
            </a:r>
            <a:endParaRPr lang="en-US" sz="11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437110" y="1971805"/>
            <a:ext cx="468000" cy="180975"/>
          </a:xfrm>
          <a:prstGeom prst="roundRect">
            <a:avLst>
              <a:gd name="adj" fmla="val 21053"/>
            </a:avLst>
          </a:prstGeom>
          <a:solidFill>
            <a:srgbClr val="E6F9F1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483408" y="1975703"/>
            <a:ext cx="39573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BC7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작성됨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054833" y="1975522"/>
            <a:ext cx="157979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→ </a:t>
            </a:r>
            <a:r>
              <a:rPr lang="ko-KR" alt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  </a:t>
            </a:r>
            <a:r>
              <a:rPr lang="en-US" sz="1000" dirty="0" err="1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범용</a:t>
            </a:r>
            <a:r>
              <a:rPr 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템플릿 추출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2462277"/>
            <a:ext cx="5187553" cy="454851"/>
          </a:xfrm>
          <a:prstGeom prst="roundRect">
            <a:avLst>
              <a:gd name="adj" fmla="val 14634"/>
            </a:avLst>
          </a:prstGeom>
          <a:ln w="9525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25336" y="2601629"/>
            <a:ext cx="13786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Scaffolding 가이드</a:t>
            </a:r>
            <a:endParaRPr lang="en-US" sz="11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437110" y="2592104"/>
            <a:ext cx="468000" cy="180975"/>
          </a:xfrm>
          <a:prstGeom prst="roundRect">
            <a:avLst>
              <a:gd name="adj" fmla="val 21053"/>
            </a:avLst>
          </a:prstGeom>
          <a:solidFill>
            <a:srgbClr val="E6F9F1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483408" y="2600828"/>
            <a:ext cx="39573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BC7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작성됨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054833" y="2595821"/>
            <a:ext cx="157979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→ </a:t>
            </a:r>
            <a:r>
              <a:rPr lang="ko-KR" alt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  </a:t>
            </a:r>
            <a:r>
              <a:rPr lang="en-US" sz="1000" dirty="0" err="1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변수화</a:t>
            </a:r>
            <a:r>
              <a:rPr 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(프로젝트명 치환)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3076313"/>
            <a:ext cx="5187553" cy="454721"/>
          </a:xfrm>
          <a:prstGeom prst="roundRect">
            <a:avLst>
              <a:gd name="adj" fmla="val 14634"/>
            </a:avLst>
          </a:prstGeom>
          <a:ln w="9525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25336" y="3215665"/>
            <a:ext cx="13786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Steering 파일</a:t>
            </a:r>
            <a:endParaRPr lang="en-US" sz="11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437110" y="3206140"/>
            <a:ext cx="468000" cy="180975"/>
          </a:xfrm>
          <a:prstGeom prst="roundRect">
            <a:avLst>
              <a:gd name="adj" fmla="val 21053"/>
            </a:avLst>
          </a:prstGeom>
          <a:solidFill>
            <a:srgbClr val="E6F9F1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483408" y="3200634"/>
            <a:ext cx="39573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BC7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작성됨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054833" y="3209857"/>
            <a:ext cx="157979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→ </a:t>
            </a:r>
            <a:r>
              <a:rPr lang="ko-KR" alt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  </a:t>
            </a:r>
            <a:r>
              <a:rPr lang="en-US" sz="1000" dirty="0" err="1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공통</a:t>
            </a:r>
            <a:r>
              <a:rPr 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/ 프로젝트별 분리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" y="3702875"/>
            <a:ext cx="5187553" cy="436062"/>
          </a:xfrm>
          <a:prstGeom prst="roundRect">
            <a:avLst>
              <a:gd name="adj" fmla="val 14634"/>
            </a:avLst>
          </a:prstGeom>
          <a:ln w="9525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25336" y="3842227"/>
            <a:ext cx="13786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코드 템플릿</a:t>
            </a:r>
            <a:endParaRPr lang="en-US" sz="11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437110" y="3832702"/>
            <a:ext cx="468000" cy="180975"/>
          </a:xfrm>
          <a:prstGeom prst="roundRect">
            <a:avLst>
              <a:gd name="adj" fmla="val 21053"/>
            </a:avLst>
          </a:prstGeom>
          <a:solidFill>
            <a:srgbClr val="FFF3EC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483408" y="3826109"/>
            <a:ext cx="39573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6510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구현중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054833" y="3836419"/>
            <a:ext cx="157979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→ </a:t>
            </a:r>
            <a:r>
              <a:rPr lang="ko-KR" alt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  </a:t>
            </a:r>
            <a:r>
              <a:rPr lang="en-US" sz="1000" dirty="0" err="1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전체</a:t>
            </a:r>
            <a:r>
              <a:rPr 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화면 완성 + 추출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57200" y="4304385"/>
            <a:ext cx="5187553" cy="459420"/>
          </a:xfrm>
          <a:prstGeom prst="roundRect">
            <a:avLst>
              <a:gd name="adj" fmla="val 14634"/>
            </a:avLst>
          </a:prstGeom>
          <a:ln w="9525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25336" y="4456263"/>
            <a:ext cx="14362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AI 코딩 가이드</a:t>
            </a:r>
            <a:endParaRPr lang="en-US" sz="11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437110" y="4446738"/>
            <a:ext cx="468000" cy="180975"/>
          </a:xfrm>
          <a:prstGeom prst="roundRect">
            <a:avLst>
              <a:gd name="adj" fmla="val 2105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2534926" y="4445169"/>
            <a:ext cx="292698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0808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없음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054833" y="4450455"/>
            <a:ext cx="157979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→</a:t>
            </a:r>
            <a:r>
              <a:rPr lang="ko-KR" alt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ko-KR" alt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 </a:t>
            </a:r>
            <a:r>
              <a:rPr lang="en-US" sz="1000" dirty="0" err="1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주요</a:t>
            </a:r>
            <a:r>
              <a:rPr lang="en-US" sz="1000" dirty="0">
                <a:solidFill>
                  <a:srgbClr val="5F5F5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모듈 구현하며 도출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57200" y="5524370"/>
            <a:ext cx="5187553" cy="619125"/>
          </a:xfrm>
          <a:prstGeom prst="roundRect">
            <a:avLst>
              <a:gd name="adj" fmla="val 9231"/>
            </a:avLst>
          </a:prstGeom>
          <a:solidFill>
            <a:srgbClr val="FFFBE6"/>
          </a:solidFill>
          <a:ln w="9525">
            <a:solidFill>
              <a:srgbClr val="FFE08A"/>
            </a:solidFill>
            <a:prstDash val="solid"/>
          </a:ln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09600" y="5648195"/>
            <a:ext cx="50383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dirty="0">
                <a:solidFill>
                  <a:srgbClr val="7A5A00"/>
                </a:solidFill>
                <a:highlight>
                  <a:srgbClr val="FFFBE6"/>
                </a:highlight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현재 자산은 </a:t>
            </a:r>
            <a:r>
              <a:rPr lang="en-US" sz="975" b="1" dirty="0">
                <a:solidFill>
                  <a:srgbClr val="7A5A0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“작성됨”</a:t>
            </a:r>
            <a:r>
              <a:rPr lang="en-US" sz="975" dirty="0">
                <a:solidFill>
                  <a:srgbClr val="7A5A00"/>
                </a:solidFill>
                <a:highlight>
                  <a:srgbClr val="FFFBE6"/>
                </a:highlight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이지 </a:t>
            </a:r>
            <a:r>
              <a:rPr lang="en-US" sz="975" b="1" dirty="0">
                <a:solidFill>
                  <a:srgbClr val="7A5A0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“재사용 가능” </a:t>
            </a:r>
            <a:r>
              <a:rPr lang="en-US" sz="975" dirty="0">
                <a:solidFill>
                  <a:srgbClr val="7A5A00"/>
                </a:solidFill>
                <a:highlight>
                  <a:srgbClr val="FFFBE6"/>
                </a:highlight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이 아님 → 목표: 자산을 </a:t>
            </a:r>
            <a:r>
              <a:rPr lang="en-US" sz="975" b="1" dirty="0">
                <a:solidFill>
                  <a:srgbClr val="7A5A0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재사용 가능한 형태</a:t>
            </a:r>
            <a:r>
              <a:rPr lang="en-US" sz="975" dirty="0">
                <a:solidFill>
                  <a:srgbClr val="7A5A00"/>
                </a:solidFill>
                <a:highlight>
                  <a:srgbClr val="FFFBE6"/>
                </a:highlight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로 만드는 것</a:t>
            </a:r>
            <a:endParaRPr lang="en-US" sz="9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892404" y="1433708"/>
            <a:ext cx="350211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진행 </a:t>
            </a:r>
            <a:r>
              <a:rPr lang="en-US" sz="1200" b="1" dirty="0" err="1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일정</a:t>
            </a:r>
            <a:r>
              <a:rPr lang="en-US" sz="1125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ko-KR" altLang="en-US" sz="1125" b="1" dirty="0">
                <a:solidFill>
                  <a:srgbClr val="26262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  </a:t>
            </a:r>
            <a:r>
              <a:rPr lang="en-US" sz="1000" dirty="0">
                <a:solidFill>
                  <a:srgbClr val="80808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12주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892403" y="1867029"/>
            <a:ext cx="5842397" cy="63000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892403" y="1867029"/>
            <a:ext cx="38100" cy="630000"/>
          </a:xfrm>
          <a:prstGeom prst="rect">
            <a:avLst/>
          </a:prstGeom>
          <a:solidFill>
            <a:srgbClr val="003894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082903" y="2015907"/>
            <a:ext cx="648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Phase 1</a:t>
            </a:r>
            <a:endParaRPr lang="en-US" sz="11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082903" y="2192822"/>
            <a:ext cx="648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1</a:t>
            </a:r>
            <a:r>
              <a:rPr lang="ko-KR" altLang="en-US" sz="900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en-US" sz="900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~</a:t>
            </a:r>
            <a:r>
              <a:rPr lang="ko-KR" altLang="en-US" sz="900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en-US" sz="900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4주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016353" y="2009644"/>
            <a:ext cx="470302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프로토타입 전체 화면 완성 · Scaffolding·Steering 범용화 · AI 코딩 가이드 초안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892403" y="2805828"/>
            <a:ext cx="5842397" cy="630000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892403" y="2818354"/>
            <a:ext cx="38100" cy="630000"/>
          </a:xfrm>
          <a:prstGeom prst="rect">
            <a:avLst/>
          </a:prstGeom>
          <a:solidFill>
            <a:srgbClr val="0074C0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082903" y="2954706"/>
            <a:ext cx="648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4C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Phase 2</a:t>
            </a:r>
            <a:endParaRPr lang="en-US" sz="11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082903" y="3131621"/>
            <a:ext cx="648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5</a:t>
            </a:r>
            <a:r>
              <a:rPr lang="ko-KR" altLang="en-US" sz="900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en-US" sz="900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~</a:t>
            </a:r>
            <a:r>
              <a:rPr lang="ko-KR" altLang="en-US" sz="900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en-US" altLang="ko-KR" sz="900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8</a:t>
            </a:r>
            <a:r>
              <a:rPr lang="en-US" sz="900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주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016353" y="2942180"/>
            <a:ext cx="470302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API 정의서 작성 · 산출물 보완·정제 (초안 → 범용 템플릿) · 설계 ↔ 프로토타입 크로스체크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911453" y="3715299"/>
            <a:ext cx="5842397" cy="631329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892403" y="3738365"/>
            <a:ext cx="39600" cy="631329"/>
          </a:xfrm>
          <a:prstGeom prst="rect">
            <a:avLst/>
          </a:prstGeom>
          <a:solidFill>
            <a:srgbClr val="002560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082903" y="3887242"/>
            <a:ext cx="648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56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Phase 3</a:t>
            </a:r>
            <a:endParaRPr lang="en-US" sz="11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082903" y="4064157"/>
            <a:ext cx="648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altLang="ko-KR" sz="900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9</a:t>
            </a:r>
            <a:r>
              <a:rPr lang="ko-KR" altLang="en-US" sz="900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en-US" sz="900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~12주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7016353" y="3807261"/>
            <a:ext cx="4703028" cy="475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주요 모듈 AI 코딩 (</a:t>
            </a:r>
            <a:r>
              <a:rPr lang="en-US" sz="1000" dirty="0" err="1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주문·재고</a:t>
            </a:r>
            <a:r>
              <a:rPr lang="ko-KR" altLang="en-US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확정</a:t>
            </a:r>
            <a:r>
              <a:rPr lang="en-US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·</a:t>
            </a:r>
            <a:r>
              <a:rPr lang="en-US" sz="1000" dirty="0" err="1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결제</a:t>
            </a:r>
            <a:r>
              <a:rPr lang="ko-KR" altLang="en-US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en-US" altLang="ko-KR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·</a:t>
            </a:r>
            <a:r>
              <a:rPr lang="ko-KR" altLang="en-US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알림</a:t>
            </a:r>
            <a:r>
              <a:rPr lang="en-US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)</a:t>
            </a:r>
            <a:r>
              <a:rPr lang="en-US" altLang="ko-KR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,</a:t>
            </a:r>
            <a:r>
              <a:rPr lang="ko-KR" altLang="en-US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en-US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AI 코딩 </a:t>
            </a:r>
            <a:r>
              <a:rPr lang="en-US" sz="1000" dirty="0" err="1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가이드</a:t>
            </a:r>
            <a:r>
              <a:rPr lang="en-US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보완</a:t>
            </a:r>
            <a:r>
              <a:rPr lang="en-US" altLang="ko-KR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(</a:t>
            </a:r>
            <a:r>
              <a:rPr lang="ko-KR" altLang="en-US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문제점 </a:t>
            </a:r>
            <a:r>
              <a:rPr lang="en-US" altLang="ko-KR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·</a:t>
            </a:r>
            <a:r>
              <a:rPr lang="ko-KR" altLang="en-US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보완점 도출</a:t>
            </a:r>
            <a:r>
              <a:rPr lang="en-US" altLang="ko-KR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),</a:t>
            </a:r>
            <a:endParaRPr lang="en-US" sz="1000" dirty="0">
              <a:solidFill>
                <a:srgbClr val="404040"/>
              </a:solidFill>
              <a:latin typeface="Paperlogy 4 Regular" pitchFamily="2" charset="-127"/>
              <a:ea typeface="Paperlogy 4 Regular" pitchFamily="2" charset="-127"/>
              <a:cs typeface="Arial" pitchFamily="34" charset="-120"/>
            </a:endParaRPr>
          </a:p>
          <a:p>
            <a:pPr>
              <a:lnSpc>
                <a:spcPct val="155000"/>
              </a:lnSpc>
            </a:pPr>
            <a:r>
              <a:rPr lang="en-US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방법론 </a:t>
            </a:r>
            <a:r>
              <a:rPr lang="en-US" sz="1000" dirty="0" err="1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문서</a:t>
            </a:r>
            <a:r>
              <a:rPr lang="en-US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확정</a:t>
            </a:r>
            <a:r>
              <a:rPr lang="en-US" altLang="ko-KR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,</a:t>
            </a:r>
            <a:r>
              <a:rPr lang="ko-KR" altLang="en-US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</a:t>
            </a:r>
            <a:r>
              <a:rPr lang="en-US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타 프로젝트 적용 준비</a:t>
            </a:r>
            <a:endParaRPr lang="en-US" sz="10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5892403" y="5541178"/>
            <a:ext cx="5842397" cy="520898"/>
          </a:xfrm>
          <a:prstGeom prst="roundRect">
            <a:avLst>
              <a:gd name="adj" fmla="val 14629"/>
            </a:avLst>
          </a:prstGeom>
          <a:solidFill>
            <a:srgbClr val="002560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101953" y="5725427"/>
            <a:ext cx="89490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6C7E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자산 완성도 목표</a:t>
            </a:r>
            <a:endParaRPr lang="en-US" sz="97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054007" y="5684053"/>
            <a:ext cx="2676183" cy="273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RFP 기준 </a:t>
            </a:r>
            <a:r>
              <a:rPr lang="en-US" sz="1425" b="1" dirty="0">
                <a:solidFill>
                  <a:srgbClr val="4DA3E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2주 내 </a:t>
            </a:r>
            <a:r>
              <a:rPr lang="en-US" sz="1425" b="1" dirty="0">
                <a:solidFill>
                  <a:srgbClr val="FFFFFF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프로토타입 생성</a:t>
            </a:r>
            <a:endParaRPr lang="en-US" sz="14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0" y="6534150"/>
            <a:ext cx="12192000" cy="952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457200" y="6638925"/>
            <a:ext cx="152152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6969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3TOP 2본부 | AI-SDLC 방법론</a:t>
            </a:r>
            <a:endParaRPr lang="en-US" sz="8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1463040" y="6643688"/>
            <a:ext cx="34796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003894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3TOP</a:t>
            </a:r>
            <a:endParaRPr lang="en-US" sz="825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5" name="Shape 49">
            <a:extLst>
              <a:ext uri="{FF2B5EF4-FFF2-40B4-BE49-F238E27FC236}">
                <a16:creationId xmlns:a16="http://schemas.microsoft.com/office/drawing/2014/main" id="{F0310818-2A05-F96F-6539-2BCD1F1BFA50}"/>
              </a:ext>
            </a:extLst>
          </p:cNvPr>
          <p:cNvSpPr/>
          <p:nvPr/>
        </p:nvSpPr>
        <p:spPr>
          <a:xfrm>
            <a:off x="5892403" y="4626099"/>
            <a:ext cx="5842397" cy="631329"/>
          </a:xfrm>
          <a:prstGeom prst="rect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6" name="Shape 50">
            <a:extLst>
              <a:ext uri="{FF2B5EF4-FFF2-40B4-BE49-F238E27FC236}">
                <a16:creationId xmlns:a16="http://schemas.microsoft.com/office/drawing/2014/main" id="{7506E9FA-1717-6638-E122-FE3F1E29FCF5}"/>
              </a:ext>
            </a:extLst>
          </p:cNvPr>
          <p:cNvSpPr/>
          <p:nvPr/>
        </p:nvSpPr>
        <p:spPr>
          <a:xfrm>
            <a:off x="5892403" y="4626099"/>
            <a:ext cx="39600" cy="631329"/>
          </a:xfrm>
          <a:prstGeom prst="rect">
            <a:avLst/>
          </a:prstGeom>
          <a:solidFill>
            <a:srgbClr val="002560"/>
          </a:solidFill>
          <a:ln/>
        </p:spPr>
        <p:txBody>
          <a:bodyPr/>
          <a:lstStyle/>
          <a:p>
            <a:endParaRPr lang="ko-KR" altLang="en-US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7" name="Text 51">
            <a:extLst>
              <a:ext uri="{FF2B5EF4-FFF2-40B4-BE49-F238E27FC236}">
                <a16:creationId xmlns:a16="http://schemas.microsoft.com/office/drawing/2014/main" id="{9821C62F-30F7-3F40-83C6-0CF14031E4FC}"/>
              </a:ext>
            </a:extLst>
          </p:cNvPr>
          <p:cNvSpPr/>
          <p:nvPr/>
        </p:nvSpPr>
        <p:spPr>
          <a:xfrm>
            <a:off x="6082903" y="4774976"/>
            <a:ext cx="6480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56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Phase </a:t>
            </a:r>
            <a:r>
              <a:rPr lang="en-US" altLang="ko-KR" sz="1100" b="1" dirty="0">
                <a:solidFill>
                  <a:srgbClr val="00256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4</a:t>
            </a:r>
            <a:endParaRPr lang="en-US" sz="11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8" name="Text 52">
            <a:extLst>
              <a:ext uri="{FF2B5EF4-FFF2-40B4-BE49-F238E27FC236}">
                <a16:creationId xmlns:a16="http://schemas.microsoft.com/office/drawing/2014/main" id="{A613B59D-0F23-02F4-93CB-D6FE93EF4E16}"/>
              </a:ext>
            </a:extLst>
          </p:cNvPr>
          <p:cNvSpPr/>
          <p:nvPr/>
        </p:nvSpPr>
        <p:spPr>
          <a:xfrm>
            <a:off x="6082903" y="4959386"/>
            <a:ext cx="648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altLang="ko-KR" sz="900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2</a:t>
            </a:r>
            <a:r>
              <a:rPr lang="en-US" sz="900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~</a:t>
            </a:r>
            <a:r>
              <a:rPr lang="en-US" altLang="ko-KR" sz="900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3</a:t>
            </a:r>
            <a:r>
              <a:rPr lang="en-US" sz="900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주</a:t>
            </a:r>
            <a:r>
              <a:rPr lang="en-US" altLang="ko-KR" sz="900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(</a:t>
            </a:r>
            <a:r>
              <a:rPr lang="ko-KR" altLang="en-US" sz="900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옵션</a:t>
            </a:r>
            <a:r>
              <a:rPr lang="en-US" altLang="ko-KR" sz="900" dirty="0">
                <a:solidFill>
                  <a:srgbClr val="5F7CA6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)</a:t>
            </a:r>
            <a:endParaRPr lang="en-US" sz="900" dirty="0">
              <a:latin typeface="Paperlogy 4 Regular" pitchFamily="2" charset="-127"/>
              <a:ea typeface="Paperlogy 4 Regular" pitchFamily="2" charset="-127"/>
            </a:endParaRPr>
          </a:p>
        </p:txBody>
      </p:sp>
      <p:sp>
        <p:nvSpPr>
          <p:cNvPr id="69" name="Text 53">
            <a:extLst>
              <a:ext uri="{FF2B5EF4-FFF2-40B4-BE49-F238E27FC236}">
                <a16:creationId xmlns:a16="http://schemas.microsoft.com/office/drawing/2014/main" id="{769F6922-2029-19BC-57E5-3B5182EA3D9F}"/>
              </a:ext>
            </a:extLst>
          </p:cNvPr>
          <p:cNvSpPr/>
          <p:nvPr/>
        </p:nvSpPr>
        <p:spPr>
          <a:xfrm>
            <a:off x="7016353" y="4702490"/>
            <a:ext cx="4703028" cy="480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B2B</a:t>
            </a:r>
            <a:r>
              <a:rPr lang="ko-KR" altLang="en-US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커머스로 방법론 시범 적용</a:t>
            </a:r>
            <a:r>
              <a:rPr lang="en-US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· </a:t>
            </a:r>
            <a:r>
              <a:rPr lang="ko-KR" altLang="en-US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자산</a:t>
            </a:r>
            <a:r>
              <a:rPr lang="en-US" altLang="ko-KR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(</a:t>
            </a:r>
            <a:r>
              <a:rPr lang="ko-KR" altLang="en-US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템플릿</a:t>
            </a:r>
            <a:r>
              <a:rPr lang="en-US" altLang="ko-KR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+</a:t>
            </a:r>
            <a:r>
              <a:rPr lang="en-US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Steering) </a:t>
            </a:r>
            <a:r>
              <a:rPr lang="ko-KR" altLang="en-US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범용성 검증</a:t>
            </a:r>
            <a:r>
              <a:rPr lang="en-US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· </a:t>
            </a:r>
          </a:p>
          <a:p>
            <a:pPr>
              <a:lnSpc>
                <a:spcPct val="155000"/>
              </a:lnSpc>
            </a:pPr>
            <a:r>
              <a:rPr lang="ko-KR" altLang="ko-KR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검증</a:t>
            </a:r>
            <a:r>
              <a:rPr lang="ko-KR" altLang="en-US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으</a:t>
            </a:r>
            <a:r>
              <a:rPr lang="ko-KR" altLang="ko-KR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로 </a:t>
            </a:r>
            <a:r>
              <a:rPr lang="ko-KR" altLang="ko-KR" sz="1000" dirty="0" err="1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자산·프로세스</a:t>
            </a:r>
            <a:r>
              <a:rPr lang="ko-KR" altLang="ko-KR" sz="1000" dirty="0">
                <a:solidFill>
                  <a:srgbClr val="404040"/>
                </a:solidFill>
                <a:latin typeface="Paperlogy 4 Regular" pitchFamily="2" charset="-127"/>
                <a:ea typeface="Paperlogy 4 Regular" pitchFamily="2" charset="-127"/>
                <a:cs typeface="Arial" pitchFamily="34" charset="-120"/>
              </a:rPr>
              <a:t> 보완점 도출</a:t>
            </a:r>
          </a:p>
          <a:p>
            <a:pPr>
              <a:lnSpc>
                <a:spcPct val="155000"/>
              </a:lnSpc>
            </a:pPr>
            <a:endParaRPr lang="en-US" sz="1000" dirty="0">
              <a:solidFill>
                <a:srgbClr val="404040"/>
              </a:solidFill>
              <a:latin typeface="Paperlogy 4 Regular" pitchFamily="2" charset="-127"/>
              <a:ea typeface="Paperlogy 4 Regular" pitchFamily="2" charset="-127"/>
              <a:cs typeface="Arial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1163</Words>
  <Application>Microsoft Macintosh PowerPoint</Application>
  <PresentationFormat>와이드스크린</PresentationFormat>
  <Paragraphs>225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Paperlogy 4 Regular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최인철</cp:lastModifiedBy>
  <cp:revision>21</cp:revision>
  <dcterms:created xsi:type="dcterms:W3CDTF">2026-07-02T05:22:21Z</dcterms:created>
  <dcterms:modified xsi:type="dcterms:W3CDTF">2026-07-06T01:27:37Z</dcterms:modified>
</cp:coreProperties>
</file>